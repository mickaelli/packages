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5" r:id="rId4"/>
    <p:sldId id="258" r:id="rId5"/>
    <p:sldId id="259" r:id="rId6"/>
    <p:sldId id="260" r:id="rId7"/>
    <p:sldId id="261" r:id="rId8"/>
    <p:sldId id="277" r:id="rId9"/>
    <p:sldId id="262" r:id="rId10"/>
    <p:sldId id="263" r:id="rId11"/>
    <p:sldId id="264" r:id="rId12"/>
    <p:sldId id="265" r:id="rId13"/>
    <p:sldId id="266" r:id="rId14"/>
    <p:sldId id="267" r:id="rId15"/>
    <p:sldId id="268" r:id="rId16"/>
    <p:sldId id="269" r:id="rId17"/>
    <p:sldId id="281" r:id="rId18"/>
    <p:sldId id="270" r:id="rId19"/>
    <p:sldId id="276" r:id="rId20"/>
    <p:sldId id="271" r:id="rId21"/>
    <p:sldId id="272" r:id="rId22"/>
    <p:sldId id="273" r:id="rId23"/>
    <p:sldId id="278" r:id="rId24"/>
    <p:sldId id="279" r:id="rId25"/>
    <p:sldId id="280" r:id="rId26"/>
    <p:sldId id="282" r:id="rId27"/>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72"/>
  </p:normalViewPr>
  <p:slideViewPr>
    <p:cSldViewPr snapToGrid="0">
      <p:cViewPr varScale="1">
        <p:scale>
          <a:sx n="99" d="100"/>
          <a:sy n="99" d="100"/>
        </p:scale>
        <p:origin x="52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77F1-9747-B6E3-B6B1-B6C1EAD8B8A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fr-FR"/>
          </a:p>
        </p:txBody>
      </p:sp>
      <p:sp>
        <p:nvSpPr>
          <p:cNvPr id="3" name="Subtitle 2">
            <a:extLst>
              <a:ext uri="{FF2B5EF4-FFF2-40B4-BE49-F238E27FC236}">
                <a16:creationId xmlns:a16="http://schemas.microsoft.com/office/drawing/2014/main" id="{2656498D-64B5-40D3-B2CE-FEB91558DD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r-FR"/>
          </a:p>
        </p:txBody>
      </p:sp>
      <p:sp>
        <p:nvSpPr>
          <p:cNvPr id="4" name="Date Placeholder 3">
            <a:extLst>
              <a:ext uri="{FF2B5EF4-FFF2-40B4-BE49-F238E27FC236}">
                <a16:creationId xmlns:a16="http://schemas.microsoft.com/office/drawing/2014/main" id="{C58E8C40-7B3A-56AB-D8F1-69E50DD518E6}"/>
              </a:ext>
            </a:extLst>
          </p:cNvPr>
          <p:cNvSpPr>
            <a:spLocks noGrp="1"/>
          </p:cNvSpPr>
          <p:nvPr>
            <p:ph type="dt" sz="half" idx="10"/>
          </p:nvPr>
        </p:nvSpPr>
        <p:spPr/>
        <p:txBody>
          <a:bodyPr/>
          <a:lstStyle/>
          <a:p>
            <a:fld id="{9E3E0C2D-2800-1140-A127-E9486070AE8C}" type="datetimeFigureOut">
              <a:rPr lang="fr-FR" smtClean="0"/>
              <a:t>06/02/2026</a:t>
            </a:fld>
            <a:endParaRPr lang="fr-FR"/>
          </a:p>
        </p:txBody>
      </p:sp>
      <p:sp>
        <p:nvSpPr>
          <p:cNvPr id="5" name="Footer Placeholder 4">
            <a:extLst>
              <a:ext uri="{FF2B5EF4-FFF2-40B4-BE49-F238E27FC236}">
                <a16:creationId xmlns:a16="http://schemas.microsoft.com/office/drawing/2014/main" id="{4BDF39F7-4C47-69B2-3EDC-E0B406CA6C17}"/>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0EAED81A-9609-CA66-AEEC-4DBBD255DD49}"/>
              </a:ext>
            </a:extLst>
          </p:cNvPr>
          <p:cNvSpPr>
            <a:spLocks noGrp="1"/>
          </p:cNvSpPr>
          <p:nvPr>
            <p:ph type="sldNum" sz="quarter" idx="12"/>
          </p:nvPr>
        </p:nvSpPr>
        <p:spPr/>
        <p:txBody>
          <a:bodyPr/>
          <a:lstStyle/>
          <a:p>
            <a:fld id="{5DE8DCE0-7BCE-CE43-9F8C-4DC6B6EED012}" type="slidenum">
              <a:rPr lang="fr-FR" smtClean="0"/>
              <a:t>‹#›</a:t>
            </a:fld>
            <a:endParaRPr lang="fr-FR"/>
          </a:p>
        </p:txBody>
      </p:sp>
    </p:spTree>
    <p:extLst>
      <p:ext uri="{BB962C8B-B14F-4D97-AF65-F5344CB8AC3E}">
        <p14:creationId xmlns:p14="http://schemas.microsoft.com/office/powerpoint/2010/main" val="635266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D1127-9752-DDDE-8F88-DB02649C55FA}"/>
              </a:ext>
            </a:extLst>
          </p:cNvPr>
          <p:cNvSpPr>
            <a:spLocks noGrp="1"/>
          </p:cNvSpPr>
          <p:nvPr>
            <p:ph type="title"/>
          </p:nvPr>
        </p:nvSpPr>
        <p:spPr/>
        <p:txBody>
          <a:bodyPr/>
          <a:lstStyle/>
          <a:p>
            <a:r>
              <a:rPr lang="en-GB"/>
              <a:t>Click to edit Master title style</a:t>
            </a:r>
            <a:endParaRPr lang="fr-FR"/>
          </a:p>
        </p:txBody>
      </p:sp>
      <p:sp>
        <p:nvSpPr>
          <p:cNvPr id="3" name="Content Placeholder 2">
            <a:extLst>
              <a:ext uri="{FF2B5EF4-FFF2-40B4-BE49-F238E27FC236}">
                <a16:creationId xmlns:a16="http://schemas.microsoft.com/office/drawing/2014/main" id="{300706B2-0204-414C-C3A7-A5FF6BB0871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984BC8BC-9E85-6CA9-826C-29D613692F2C}"/>
              </a:ext>
            </a:extLst>
          </p:cNvPr>
          <p:cNvSpPr>
            <a:spLocks noGrp="1"/>
          </p:cNvSpPr>
          <p:nvPr>
            <p:ph type="dt" sz="half" idx="10"/>
          </p:nvPr>
        </p:nvSpPr>
        <p:spPr/>
        <p:txBody>
          <a:bodyPr/>
          <a:lstStyle/>
          <a:p>
            <a:fld id="{9E3E0C2D-2800-1140-A127-E9486070AE8C}" type="datetimeFigureOut">
              <a:rPr lang="fr-FR" smtClean="0"/>
              <a:t>06/02/2026</a:t>
            </a:fld>
            <a:endParaRPr lang="fr-FR"/>
          </a:p>
        </p:txBody>
      </p:sp>
      <p:sp>
        <p:nvSpPr>
          <p:cNvPr id="5" name="Footer Placeholder 4">
            <a:extLst>
              <a:ext uri="{FF2B5EF4-FFF2-40B4-BE49-F238E27FC236}">
                <a16:creationId xmlns:a16="http://schemas.microsoft.com/office/drawing/2014/main" id="{417B01A2-6FBC-B9E4-6EF4-1B761DF80A01}"/>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23870C54-4759-9317-346F-A246590B3509}"/>
              </a:ext>
            </a:extLst>
          </p:cNvPr>
          <p:cNvSpPr>
            <a:spLocks noGrp="1"/>
          </p:cNvSpPr>
          <p:nvPr>
            <p:ph type="sldNum" sz="quarter" idx="12"/>
          </p:nvPr>
        </p:nvSpPr>
        <p:spPr/>
        <p:txBody>
          <a:bodyPr/>
          <a:lstStyle/>
          <a:p>
            <a:fld id="{5DE8DCE0-7BCE-CE43-9F8C-4DC6B6EED012}" type="slidenum">
              <a:rPr lang="fr-FR" smtClean="0"/>
              <a:t>‹#›</a:t>
            </a:fld>
            <a:endParaRPr lang="fr-FR"/>
          </a:p>
        </p:txBody>
      </p:sp>
    </p:spTree>
    <p:extLst>
      <p:ext uri="{BB962C8B-B14F-4D97-AF65-F5344CB8AC3E}">
        <p14:creationId xmlns:p14="http://schemas.microsoft.com/office/powerpoint/2010/main" val="2910208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34DAB-BAFA-E92C-41B3-010752D8E67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fr-FR"/>
          </a:p>
        </p:txBody>
      </p:sp>
      <p:sp>
        <p:nvSpPr>
          <p:cNvPr id="3" name="Text Placeholder 2">
            <a:extLst>
              <a:ext uri="{FF2B5EF4-FFF2-40B4-BE49-F238E27FC236}">
                <a16:creationId xmlns:a16="http://schemas.microsoft.com/office/drawing/2014/main" id="{A4638F48-9007-70C5-9354-8A211B91F7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41F57A8-5E08-B180-F545-15D22551D247}"/>
              </a:ext>
            </a:extLst>
          </p:cNvPr>
          <p:cNvSpPr>
            <a:spLocks noGrp="1"/>
          </p:cNvSpPr>
          <p:nvPr>
            <p:ph type="dt" sz="half" idx="10"/>
          </p:nvPr>
        </p:nvSpPr>
        <p:spPr/>
        <p:txBody>
          <a:bodyPr/>
          <a:lstStyle/>
          <a:p>
            <a:fld id="{9E3E0C2D-2800-1140-A127-E9486070AE8C}" type="datetimeFigureOut">
              <a:rPr lang="fr-FR" smtClean="0"/>
              <a:t>06/02/2026</a:t>
            </a:fld>
            <a:endParaRPr lang="fr-FR"/>
          </a:p>
        </p:txBody>
      </p:sp>
      <p:sp>
        <p:nvSpPr>
          <p:cNvPr id="5" name="Footer Placeholder 4">
            <a:extLst>
              <a:ext uri="{FF2B5EF4-FFF2-40B4-BE49-F238E27FC236}">
                <a16:creationId xmlns:a16="http://schemas.microsoft.com/office/drawing/2014/main" id="{3C05F013-7CCA-FACE-0354-1214B452D597}"/>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A5443A80-7494-441F-54BA-0B37D1125ED1}"/>
              </a:ext>
            </a:extLst>
          </p:cNvPr>
          <p:cNvSpPr>
            <a:spLocks noGrp="1"/>
          </p:cNvSpPr>
          <p:nvPr>
            <p:ph type="sldNum" sz="quarter" idx="12"/>
          </p:nvPr>
        </p:nvSpPr>
        <p:spPr/>
        <p:txBody>
          <a:bodyPr/>
          <a:lstStyle/>
          <a:p>
            <a:fld id="{5DE8DCE0-7BCE-CE43-9F8C-4DC6B6EED012}" type="slidenum">
              <a:rPr lang="fr-FR" smtClean="0"/>
              <a:t>‹#›</a:t>
            </a:fld>
            <a:endParaRPr lang="fr-FR"/>
          </a:p>
        </p:txBody>
      </p:sp>
    </p:spTree>
    <p:extLst>
      <p:ext uri="{BB962C8B-B14F-4D97-AF65-F5344CB8AC3E}">
        <p14:creationId xmlns:p14="http://schemas.microsoft.com/office/powerpoint/2010/main" val="1646446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35601-74C9-009A-95EC-E94A91E49C3F}"/>
              </a:ext>
            </a:extLst>
          </p:cNvPr>
          <p:cNvSpPr>
            <a:spLocks noGrp="1"/>
          </p:cNvSpPr>
          <p:nvPr>
            <p:ph type="title"/>
          </p:nvPr>
        </p:nvSpPr>
        <p:spPr/>
        <p:txBody>
          <a:bodyPr/>
          <a:lstStyle/>
          <a:p>
            <a:r>
              <a:rPr lang="en-GB"/>
              <a:t>Click to edit Master title style</a:t>
            </a:r>
            <a:endParaRPr lang="fr-FR"/>
          </a:p>
        </p:txBody>
      </p:sp>
      <p:sp>
        <p:nvSpPr>
          <p:cNvPr id="3" name="Content Placeholder 2">
            <a:extLst>
              <a:ext uri="{FF2B5EF4-FFF2-40B4-BE49-F238E27FC236}">
                <a16:creationId xmlns:a16="http://schemas.microsoft.com/office/drawing/2014/main" id="{58AF49B0-E37E-91A3-3B17-1F9DEB77172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Content Placeholder 3">
            <a:extLst>
              <a:ext uri="{FF2B5EF4-FFF2-40B4-BE49-F238E27FC236}">
                <a16:creationId xmlns:a16="http://schemas.microsoft.com/office/drawing/2014/main" id="{B9E2B1CB-74F1-ABDD-4701-B027726BFD0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5" name="Date Placeholder 4">
            <a:extLst>
              <a:ext uri="{FF2B5EF4-FFF2-40B4-BE49-F238E27FC236}">
                <a16:creationId xmlns:a16="http://schemas.microsoft.com/office/drawing/2014/main" id="{86803B15-EE44-52B6-9517-4B227F430945}"/>
              </a:ext>
            </a:extLst>
          </p:cNvPr>
          <p:cNvSpPr>
            <a:spLocks noGrp="1"/>
          </p:cNvSpPr>
          <p:nvPr>
            <p:ph type="dt" sz="half" idx="10"/>
          </p:nvPr>
        </p:nvSpPr>
        <p:spPr/>
        <p:txBody>
          <a:bodyPr/>
          <a:lstStyle/>
          <a:p>
            <a:fld id="{9E3E0C2D-2800-1140-A127-E9486070AE8C}" type="datetimeFigureOut">
              <a:rPr lang="fr-FR" smtClean="0"/>
              <a:t>06/02/2026</a:t>
            </a:fld>
            <a:endParaRPr lang="fr-FR"/>
          </a:p>
        </p:txBody>
      </p:sp>
      <p:sp>
        <p:nvSpPr>
          <p:cNvPr id="6" name="Footer Placeholder 5">
            <a:extLst>
              <a:ext uri="{FF2B5EF4-FFF2-40B4-BE49-F238E27FC236}">
                <a16:creationId xmlns:a16="http://schemas.microsoft.com/office/drawing/2014/main" id="{7B21AA18-6740-339C-CC62-BDEEE5A96C0E}"/>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47D601ED-F13E-6782-A3F3-D48338603BB2}"/>
              </a:ext>
            </a:extLst>
          </p:cNvPr>
          <p:cNvSpPr>
            <a:spLocks noGrp="1"/>
          </p:cNvSpPr>
          <p:nvPr>
            <p:ph type="sldNum" sz="quarter" idx="12"/>
          </p:nvPr>
        </p:nvSpPr>
        <p:spPr/>
        <p:txBody>
          <a:bodyPr/>
          <a:lstStyle/>
          <a:p>
            <a:fld id="{5DE8DCE0-7BCE-CE43-9F8C-4DC6B6EED012}" type="slidenum">
              <a:rPr lang="fr-FR" smtClean="0"/>
              <a:t>‹#›</a:t>
            </a:fld>
            <a:endParaRPr lang="fr-FR"/>
          </a:p>
        </p:txBody>
      </p:sp>
    </p:spTree>
    <p:extLst>
      <p:ext uri="{BB962C8B-B14F-4D97-AF65-F5344CB8AC3E}">
        <p14:creationId xmlns:p14="http://schemas.microsoft.com/office/powerpoint/2010/main" val="2617025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F8740-2805-733D-9F35-5A5F955F2A55}"/>
              </a:ext>
            </a:extLst>
          </p:cNvPr>
          <p:cNvSpPr>
            <a:spLocks noGrp="1"/>
          </p:cNvSpPr>
          <p:nvPr>
            <p:ph type="title"/>
          </p:nvPr>
        </p:nvSpPr>
        <p:spPr>
          <a:xfrm>
            <a:off x="839788" y="365125"/>
            <a:ext cx="10515600" cy="1325563"/>
          </a:xfrm>
        </p:spPr>
        <p:txBody>
          <a:bodyPr/>
          <a:lstStyle/>
          <a:p>
            <a:r>
              <a:rPr lang="en-GB"/>
              <a:t>Click to edit Master title style</a:t>
            </a:r>
            <a:endParaRPr lang="fr-FR"/>
          </a:p>
        </p:txBody>
      </p:sp>
      <p:sp>
        <p:nvSpPr>
          <p:cNvPr id="3" name="Text Placeholder 2">
            <a:extLst>
              <a:ext uri="{FF2B5EF4-FFF2-40B4-BE49-F238E27FC236}">
                <a16:creationId xmlns:a16="http://schemas.microsoft.com/office/drawing/2014/main" id="{526CDA7C-BAF2-DFFA-5413-9A19EDB76D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5AF2E12-FFED-4E66-7854-419629C19AC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5" name="Text Placeholder 4">
            <a:extLst>
              <a:ext uri="{FF2B5EF4-FFF2-40B4-BE49-F238E27FC236}">
                <a16:creationId xmlns:a16="http://schemas.microsoft.com/office/drawing/2014/main" id="{63396E56-3FF5-1FB6-C5FC-E7A68D422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5C1AAC6-4F78-F37A-6317-EDAB9D5561B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7" name="Date Placeholder 6">
            <a:extLst>
              <a:ext uri="{FF2B5EF4-FFF2-40B4-BE49-F238E27FC236}">
                <a16:creationId xmlns:a16="http://schemas.microsoft.com/office/drawing/2014/main" id="{8B1593B5-63A4-AFED-736C-43D3A4347E5D}"/>
              </a:ext>
            </a:extLst>
          </p:cNvPr>
          <p:cNvSpPr>
            <a:spLocks noGrp="1"/>
          </p:cNvSpPr>
          <p:nvPr>
            <p:ph type="dt" sz="half" idx="10"/>
          </p:nvPr>
        </p:nvSpPr>
        <p:spPr/>
        <p:txBody>
          <a:bodyPr/>
          <a:lstStyle/>
          <a:p>
            <a:fld id="{9E3E0C2D-2800-1140-A127-E9486070AE8C}" type="datetimeFigureOut">
              <a:rPr lang="fr-FR" smtClean="0"/>
              <a:t>06/02/2026</a:t>
            </a:fld>
            <a:endParaRPr lang="fr-FR"/>
          </a:p>
        </p:txBody>
      </p:sp>
      <p:sp>
        <p:nvSpPr>
          <p:cNvPr id="8" name="Footer Placeholder 7">
            <a:extLst>
              <a:ext uri="{FF2B5EF4-FFF2-40B4-BE49-F238E27FC236}">
                <a16:creationId xmlns:a16="http://schemas.microsoft.com/office/drawing/2014/main" id="{46A8F3B2-A051-628A-4FB2-8C2E96973CCB}"/>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CE994DF6-56F5-3083-8AEB-F6C822606983}"/>
              </a:ext>
            </a:extLst>
          </p:cNvPr>
          <p:cNvSpPr>
            <a:spLocks noGrp="1"/>
          </p:cNvSpPr>
          <p:nvPr>
            <p:ph type="sldNum" sz="quarter" idx="12"/>
          </p:nvPr>
        </p:nvSpPr>
        <p:spPr/>
        <p:txBody>
          <a:bodyPr/>
          <a:lstStyle/>
          <a:p>
            <a:fld id="{5DE8DCE0-7BCE-CE43-9F8C-4DC6B6EED012}" type="slidenum">
              <a:rPr lang="fr-FR" smtClean="0"/>
              <a:t>‹#›</a:t>
            </a:fld>
            <a:endParaRPr lang="fr-FR"/>
          </a:p>
        </p:txBody>
      </p:sp>
    </p:spTree>
    <p:extLst>
      <p:ext uri="{BB962C8B-B14F-4D97-AF65-F5344CB8AC3E}">
        <p14:creationId xmlns:p14="http://schemas.microsoft.com/office/powerpoint/2010/main" val="2401966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8B041-A899-BD4D-A5BE-65F4B7839CA3}"/>
              </a:ext>
            </a:extLst>
          </p:cNvPr>
          <p:cNvSpPr>
            <a:spLocks noGrp="1"/>
          </p:cNvSpPr>
          <p:nvPr>
            <p:ph type="title"/>
          </p:nvPr>
        </p:nvSpPr>
        <p:spPr/>
        <p:txBody>
          <a:bodyPr/>
          <a:lstStyle/>
          <a:p>
            <a:r>
              <a:rPr lang="en-GB"/>
              <a:t>Click to edit Master title style</a:t>
            </a:r>
            <a:endParaRPr lang="fr-FR"/>
          </a:p>
        </p:txBody>
      </p:sp>
      <p:sp>
        <p:nvSpPr>
          <p:cNvPr id="3" name="Date Placeholder 2">
            <a:extLst>
              <a:ext uri="{FF2B5EF4-FFF2-40B4-BE49-F238E27FC236}">
                <a16:creationId xmlns:a16="http://schemas.microsoft.com/office/drawing/2014/main" id="{3C34AD27-1E38-865F-DE7E-E6EFA6871F9C}"/>
              </a:ext>
            </a:extLst>
          </p:cNvPr>
          <p:cNvSpPr>
            <a:spLocks noGrp="1"/>
          </p:cNvSpPr>
          <p:nvPr>
            <p:ph type="dt" sz="half" idx="10"/>
          </p:nvPr>
        </p:nvSpPr>
        <p:spPr/>
        <p:txBody>
          <a:bodyPr/>
          <a:lstStyle/>
          <a:p>
            <a:fld id="{9E3E0C2D-2800-1140-A127-E9486070AE8C}" type="datetimeFigureOut">
              <a:rPr lang="fr-FR" smtClean="0"/>
              <a:t>06/02/2026</a:t>
            </a:fld>
            <a:endParaRPr lang="fr-FR"/>
          </a:p>
        </p:txBody>
      </p:sp>
      <p:sp>
        <p:nvSpPr>
          <p:cNvPr id="4" name="Footer Placeholder 3">
            <a:extLst>
              <a:ext uri="{FF2B5EF4-FFF2-40B4-BE49-F238E27FC236}">
                <a16:creationId xmlns:a16="http://schemas.microsoft.com/office/drawing/2014/main" id="{A129AAA8-1BF8-453B-4F44-A0E713B36DF9}"/>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F0755F52-F06B-64C8-708D-3D484309142C}"/>
              </a:ext>
            </a:extLst>
          </p:cNvPr>
          <p:cNvSpPr>
            <a:spLocks noGrp="1"/>
          </p:cNvSpPr>
          <p:nvPr>
            <p:ph type="sldNum" sz="quarter" idx="12"/>
          </p:nvPr>
        </p:nvSpPr>
        <p:spPr/>
        <p:txBody>
          <a:bodyPr/>
          <a:lstStyle/>
          <a:p>
            <a:fld id="{5DE8DCE0-7BCE-CE43-9F8C-4DC6B6EED012}" type="slidenum">
              <a:rPr lang="fr-FR" smtClean="0"/>
              <a:t>‹#›</a:t>
            </a:fld>
            <a:endParaRPr lang="fr-FR"/>
          </a:p>
        </p:txBody>
      </p:sp>
    </p:spTree>
    <p:extLst>
      <p:ext uri="{BB962C8B-B14F-4D97-AF65-F5344CB8AC3E}">
        <p14:creationId xmlns:p14="http://schemas.microsoft.com/office/powerpoint/2010/main" val="2077011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BEC31B-4A00-4CA2-5066-07AFE9B84D69}"/>
              </a:ext>
            </a:extLst>
          </p:cNvPr>
          <p:cNvSpPr>
            <a:spLocks noGrp="1"/>
          </p:cNvSpPr>
          <p:nvPr>
            <p:ph type="dt" sz="half" idx="10"/>
          </p:nvPr>
        </p:nvSpPr>
        <p:spPr/>
        <p:txBody>
          <a:bodyPr/>
          <a:lstStyle/>
          <a:p>
            <a:fld id="{9E3E0C2D-2800-1140-A127-E9486070AE8C}" type="datetimeFigureOut">
              <a:rPr lang="fr-FR" smtClean="0"/>
              <a:t>06/02/2026</a:t>
            </a:fld>
            <a:endParaRPr lang="fr-FR"/>
          </a:p>
        </p:txBody>
      </p:sp>
      <p:sp>
        <p:nvSpPr>
          <p:cNvPr id="3" name="Footer Placeholder 2">
            <a:extLst>
              <a:ext uri="{FF2B5EF4-FFF2-40B4-BE49-F238E27FC236}">
                <a16:creationId xmlns:a16="http://schemas.microsoft.com/office/drawing/2014/main" id="{5B832A09-8070-C7C5-1FC1-4739B103B6E9}"/>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9D63A7F9-526B-1AB0-F6E7-A20F9B3E0F65}"/>
              </a:ext>
            </a:extLst>
          </p:cNvPr>
          <p:cNvSpPr>
            <a:spLocks noGrp="1"/>
          </p:cNvSpPr>
          <p:nvPr>
            <p:ph type="sldNum" sz="quarter" idx="12"/>
          </p:nvPr>
        </p:nvSpPr>
        <p:spPr/>
        <p:txBody>
          <a:bodyPr/>
          <a:lstStyle/>
          <a:p>
            <a:fld id="{5DE8DCE0-7BCE-CE43-9F8C-4DC6B6EED012}" type="slidenum">
              <a:rPr lang="fr-FR" smtClean="0"/>
              <a:t>‹#›</a:t>
            </a:fld>
            <a:endParaRPr lang="fr-FR"/>
          </a:p>
        </p:txBody>
      </p:sp>
    </p:spTree>
    <p:extLst>
      <p:ext uri="{BB962C8B-B14F-4D97-AF65-F5344CB8AC3E}">
        <p14:creationId xmlns:p14="http://schemas.microsoft.com/office/powerpoint/2010/main" val="197415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67D58-D52D-F27D-92D4-29EA77532F8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fr-FR"/>
          </a:p>
        </p:txBody>
      </p:sp>
      <p:sp>
        <p:nvSpPr>
          <p:cNvPr id="3" name="Content Placeholder 2">
            <a:extLst>
              <a:ext uri="{FF2B5EF4-FFF2-40B4-BE49-F238E27FC236}">
                <a16:creationId xmlns:a16="http://schemas.microsoft.com/office/drawing/2014/main" id="{1D18F910-3D61-925E-8B55-7DF6D670CF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Text Placeholder 3">
            <a:extLst>
              <a:ext uri="{FF2B5EF4-FFF2-40B4-BE49-F238E27FC236}">
                <a16:creationId xmlns:a16="http://schemas.microsoft.com/office/drawing/2014/main" id="{7155FB3C-621F-B60E-7FA6-130DECF9C6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1CA4DDA-053F-6661-FEFC-4C90087CE819}"/>
              </a:ext>
            </a:extLst>
          </p:cNvPr>
          <p:cNvSpPr>
            <a:spLocks noGrp="1"/>
          </p:cNvSpPr>
          <p:nvPr>
            <p:ph type="dt" sz="half" idx="10"/>
          </p:nvPr>
        </p:nvSpPr>
        <p:spPr/>
        <p:txBody>
          <a:bodyPr/>
          <a:lstStyle/>
          <a:p>
            <a:fld id="{9E3E0C2D-2800-1140-A127-E9486070AE8C}" type="datetimeFigureOut">
              <a:rPr lang="fr-FR" smtClean="0"/>
              <a:t>06/02/2026</a:t>
            </a:fld>
            <a:endParaRPr lang="fr-FR"/>
          </a:p>
        </p:txBody>
      </p:sp>
      <p:sp>
        <p:nvSpPr>
          <p:cNvPr id="6" name="Footer Placeholder 5">
            <a:extLst>
              <a:ext uri="{FF2B5EF4-FFF2-40B4-BE49-F238E27FC236}">
                <a16:creationId xmlns:a16="http://schemas.microsoft.com/office/drawing/2014/main" id="{29C95F17-D32D-ECF2-8D30-247EE609E834}"/>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52D00B3C-49E7-F5EB-1459-D538BA2C4253}"/>
              </a:ext>
            </a:extLst>
          </p:cNvPr>
          <p:cNvSpPr>
            <a:spLocks noGrp="1"/>
          </p:cNvSpPr>
          <p:nvPr>
            <p:ph type="sldNum" sz="quarter" idx="12"/>
          </p:nvPr>
        </p:nvSpPr>
        <p:spPr/>
        <p:txBody>
          <a:bodyPr/>
          <a:lstStyle/>
          <a:p>
            <a:fld id="{5DE8DCE0-7BCE-CE43-9F8C-4DC6B6EED012}" type="slidenum">
              <a:rPr lang="fr-FR" smtClean="0"/>
              <a:t>‹#›</a:t>
            </a:fld>
            <a:endParaRPr lang="fr-FR"/>
          </a:p>
        </p:txBody>
      </p:sp>
    </p:spTree>
    <p:extLst>
      <p:ext uri="{BB962C8B-B14F-4D97-AF65-F5344CB8AC3E}">
        <p14:creationId xmlns:p14="http://schemas.microsoft.com/office/powerpoint/2010/main" val="3694537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9DE50-CB04-DABE-4A82-2679F40357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fr-FR"/>
          </a:p>
        </p:txBody>
      </p:sp>
      <p:sp>
        <p:nvSpPr>
          <p:cNvPr id="3" name="Picture Placeholder 2">
            <a:extLst>
              <a:ext uri="{FF2B5EF4-FFF2-40B4-BE49-F238E27FC236}">
                <a16:creationId xmlns:a16="http://schemas.microsoft.com/office/drawing/2014/main" id="{CC1C27EC-546D-2866-C62C-E1F43CD36D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A92F58A3-ACF6-9566-C49D-9D40104D8C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9DEB063-CDCB-0E48-AB15-942A72A4B543}"/>
              </a:ext>
            </a:extLst>
          </p:cNvPr>
          <p:cNvSpPr>
            <a:spLocks noGrp="1"/>
          </p:cNvSpPr>
          <p:nvPr>
            <p:ph type="dt" sz="half" idx="10"/>
          </p:nvPr>
        </p:nvSpPr>
        <p:spPr/>
        <p:txBody>
          <a:bodyPr/>
          <a:lstStyle/>
          <a:p>
            <a:fld id="{9E3E0C2D-2800-1140-A127-E9486070AE8C}" type="datetimeFigureOut">
              <a:rPr lang="fr-FR" smtClean="0"/>
              <a:t>06/02/2026</a:t>
            </a:fld>
            <a:endParaRPr lang="fr-FR"/>
          </a:p>
        </p:txBody>
      </p:sp>
      <p:sp>
        <p:nvSpPr>
          <p:cNvPr id="6" name="Footer Placeholder 5">
            <a:extLst>
              <a:ext uri="{FF2B5EF4-FFF2-40B4-BE49-F238E27FC236}">
                <a16:creationId xmlns:a16="http://schemas.microsoft.com/office/drawing/2014/main" id="{CB4D9859-36B0-1521-57C6-11779B62123C}"/>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DC139774-E40C-0039-3451-7BA89373C4E7}"/>
              </a:ext>
            </a:extLst>
          </p:cNvPr>
          <p:cNvSpPr>
            <a:spLocks noGrp="1"/>
          </p:cNvSpPr>
          <p:nvPr>
            <p:ph type="sldNum" sz="quarter" idx="12"/>
          </p:nvPr>
        </p:nvSpPr>
        <p:spPr/>
        <p:txBody>
          <a:bodyPr/>
          <a:lstStyle/>
          <a:p>
            <a:fld id="{5DE8DCE0-7BCE-CE43-9F8C-4DC6B6EED012}" type="slidenum">
              <a:rPr lang="fr-FR" smtClean="0"/>
              <a:t>‹#›</a:t>
            </a:fld>
            <a:endParaRPr lang="fr-FR"/>
          </a:p>
        </p:txBody>
      </p:sp>
    </p:spTree>
    <p:extLst>
      <p:ext uri="{BB962C8B-B14F-4D97-AF65-F5344CB8AC3E}">
        <p14:creationId xmlns:p14="http://schemas.microsoft.com/office/powerpoint/2010/main" val="89967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4DC5B-1066-D13C-98D1-354BE7143572}"/>
              </a:ext>
            </a:extLst>
          </p:cNvPr>
          <p:cNvSpPr>
            <a:spLocks noGrp="1"/>
          </p:cNvSpPr>
          <p:nvPr>
            <p:ph type="title"/>
          </p:nvPr>
        </p:nvSpPr>
        <p:spPr/>
        <p:txBody>
          <a:bodyPr/>
          <a:lstStyle/>
          <a:p>
            <a:r>
              <a:rPr lang="en-GB"/>
              <a:t>Click to edit Master title style</a:t>
            </a:r>
            <a:endParaRPr lang="fr-FR"/>
          </a:p>
        </p:txBody>
      </p:sp>
      <p:sp>
        <p:nvSpPr>
          <p:cNvPr id="3" name="Vertical Text Placeholder 2">
            <a:extLst>
              <a:ext uri="{FF2B5EF4-FFF2-40B4-BE49-F238E27FC236}">
                <a16:creationId xmlns:a16="http://schemas.microsoft.com/office/drawing/2014/main" id="{E4D8CE18-0C2D-97CB-ADF1-4355102B577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B03D184D-40D8-4A8A-146B-BF7E85139A9B}"/>
              </a:ext>
            </a:extLst>
          </p:cNvPr>
          <p:cNvSpPr>
            <a:spLocks noGrp="1"/>
          </p:cNvSpPr>
          <p:nvPr>
            <p:ph type="dt" sz="half" idx="10"/>
          </p:nvPr>
        </p:nvSpPr>
        <p:spPr/>
        <p:txBody>
          <a:bodyPr/>
          <a:lstStyle/>
          <a:p>
            <a:fld id="{9E3E0C2D-2800-1140-A127-E9486070AE8C}" type="datetimeFigureOut">
              <a:rPr lang="fr-FR" smtClean="0"/>
              <a:t>06/02/2026</a:t>
            </a:fld>
            <a:endParaRPr lang="fr-FR"/>
          </a:p>
        </p:txBody>
      </p:sp>
      <p:sp>
        <p:nvSpPr>
          <p:cNvPr id="5" name="Footer Placeholder 4">
            <a:extLst>
              <a:ext uri="{FF2B5EF4-FFF2-40B4-BE49-F238E27FC236}">
                <a16:creationId xmlns:a16="http://schemas.microsoft.com/office/drawing/2014/main" id="{2A9ABA1C-6784-9B7B-4D60-F64F458D2469}"/>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17EE725B-1DB0-1027-4787-1DC6028AC232}"/>
              </a:ext>
            </a:extLst>
          </p:cNvPr>
          <p:cNvSpPr>
            <a:spLocks noGrp="1"/>
          </p:cNvSpPr>
          <p:nvPr>
            <p:ph type="sldNum" sz="quarter" idx="12"/>
          </p:nvPr>
        </p:nvSpPr>
        <p:spPr/>
        <p:txBody>
          <a:bodyPr/>
          <a:lstStyle/>
          <a:p>
            <a:fld id="{5DE8DCE0-7BCE-CE43-9F8C-4DC6B6EED012}" type="slidenum">
              <a:rPr lang="fr-FR" smtClean="0"/>
              <a:t>‹#›</a:t>
            </a:fld>
            <a:endParaRPr lang="fr-FR"/>
          </a:p>
        </p:txBody>
      </p:sp>
    </p:spTree>
    <p:extLst>
      <p:ext uri="{BB962C8B-B14F-4D97-AF65-F5344CB8AC3E}">
        <p14:creationId xmlns:p14="http://schemas.microsoft.com/office/powerpoint/2010/main" val="683373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719430-6F34-A4FC-7BD6-115ED61E372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fr-FR"/>
          </a:p>
        </p:txBody>
      </p:sp>
      <p:sp>
        <p:nvSpPr>
          <p:cNvPr id="3" name="Vertical Text Placeholder 2">
            <a:extLst>
              <a:ext uri="{FF2B5EF4-FFF2-40B4-BE49-F238E27FC236}">
                <a16:creationId xmlns:a16="http://schemas.microsoft.com/office/drawing/2014/main" id="{D4F8AC86-DFAB-2D95-2F71-6EE68AB7102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9989F0BF-A07F-ABBB-F963-9A79E9CBD24C}"/>
              </a:ext>
            </a:extLst>
          </p:cNvPr>
          <p:cNvSpPr>
            <a:spLocks noGrp="1"/>
          </p:cNvSpPr>
          <p:nvPr>
            <p:ph type="dt" sz="half" idx="10"/>
          </p:nvPr>
        </p:nvSpPr>
        <p:spPr/>
        <p:txBody>
          <a:bodyPr/>
          <a:lstStyle/>
          <a:p>
            <a:fld id="{9E3E0C2D-2800-1140-A127-E9486070AE8C}" type="datetimeFigureOut">
              <a:rPr lang="fr-FR" smtClean="0"/>
              <a:t>06/02/2026</a:t>
            </a:fld>
            <a:endParaRPr lang="fr-FR"/>
          </a:p>
        </p:txBody>
      </p:sp>
      <p:sp>
        <p:nvSpPr>
          <p:cNvPr id="5" name="Footer Placeholder 4">
            <a:extLst>
              <a:ext uri="{FF2B5EF4-FFF2-40B4-BE49-F238E27FC236}">
                <a16:creationId xmlns:a16="http://schemas.microsoft.com/office/drawing/2014/main" id="{9028C288-C4B2-E207-1340-FAE8C08D346A}"/>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628E5F76-12A7-C8A5-F657-52DC2F22B855}"/>
              </a:ext>
            </a:extLst>
          </p:cNvPr>
          <p:cNvSpPr>
            <a:spLocks noGrp="1"/>
          </p:cNvSpPr>
          <p:nvPr>
            <p:ph type="sldNum" sz="quarter" idx="12"/>
          </p:nvPr>
        </p:nvSpPr>
        <p:spPr/>
        <p:txBody>
          <a:bodyPr/>
          <a:lstStyle/>
          <a:p>
            <a:fld id="{5DE8DCE0-7BCE-CE43-9F8C-4DC6B6EED012}" type="slidenum">
              <a:rPr lang="fr-FR" smtClean="0"/>
              <a:t>‹#›</a:t>
            </a:fld>
            <a:endParaRPr lang="fr-FR"/>
          </a:p>
        </p:txBody>
      </p:sp>
    </p:spTree>
    <p:extLst>
      <p:ext uri="{BB962C8B-B14F-4D97-AF65-F5344CB8AC3E}">
        <p14:creationId xmlns:p14="http://schemas.microsoft.com/office/powerpoint/2010/main" val="2685738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9302C-F4C7-B632-CA9B-4F07D4A185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fr-FR"/>
          </a:p>
        </p:txBody>
      </p:sp>
      <p:sp>
        <p:nvSpPr>
          <p:cNvPr id="3" name="Text Placeholder 2">
            <a:extLst>
              <a:ext uri="{FF2B5EF4-FFF2-40B4-BE49-F238E27FC236}">
                <a16:creationId xmlns:a16="http://schemas.microsoft.com/office/drawing/2014/main" id="{03AF2FDE-F600-100C-EBBC-629011FC66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5E95546A-9B1A-6070-17A9-6DAEBBC432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3E0C2D-2800-1140-A127-E9486070AE8C}" type="datetimeFigureOut">
              <a:rPr lang="fr-FR" smtClean="0"/>
              <a:t>06/02/2026</a:t>
            </a:fld>
            <a:endParaRPr lang="fr-FR"/>
          </a:p>
        </p:txBody>
      </p:sp>
      <p:sp>
        <p:nvSpPr>
          <p:cNvPr id="5" name="Footer Placeholder 4">
            <a:extLst>
              <a:ext uri="{FF2B5EF4-FFF2-40B4-BE49-F238E27FC236}">
                <a16:creationId xmlns:a16="http://schemas.microsoft.com/office/drawing/2014/main" id="{B4670C48-3F6E-BA18-9551-8A60066310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a:extLst>
              <a:ext uri="{FF2B5EF4-FFF2-40B4-BE49-F238E27FC236}">
                <a16:creationId xmlns:a16="http://schemas.microsoft.com/office/drawing/2014/main" id="{BD73819C-DBBE-7BDA-74CD-0D583F8FB8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E8DCE0-7BCE-CE43-9F8C-4DC6B6EED012}" type="slidenum">
              <a:rPr lang="fr-FR" smtClean="0"/>
              <a:t>‹#›</a:t>
            </a:fld>
            <a:endParaRPr lang="fr-FR"/>
          </a:p>
        </p:txBody>
      </p:sp>
    </p:spTree>
    <p:extLst>
      <p:ext uri="{BB962C8B-B14F-4D97-AF65-F5344CB8AC3E}">
        <p14:creationId xmlns:p14="http://schemas.microsoft.com/office/powerpoint/2010/main" val="2087890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vscode-file://vscode-app/Applications/Visual%20Studio%20Code.app/Contents/Resources/app/out/vs/code/electron-browser/workbench/workbench.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vscode-file://vscode-app/Applications/Visual%20Studio%20Code.app/Contents/Resources/app/out/vs/code/electron-browser/workbench/workbench.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vscode-file://vscode-app/Applications/Visual%20Studio%20Code.app/Contents/Resources/app/out/vs/code/electron-browser/workbench/workbench.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B491D-D666-556B-BA49-63C3265EC38C}"/>
              </a:ext>
            </a:extLst>
          </p:cNvPr>
          <p:cNvSpPr>
            <a:spLocks noGrp="1"/>
          </p:cNvSpPr>
          <p:nvPr>
            <p:ph type="ctrTitle"/>
          </p:nvPr>
        </p:nvSpPr>
        <p:spPr/>
        <p:txBody>
          <a:bodyPr>
            <a:noAutofit/>
          </a:bodyPr>
          <a:lstStyle/>
          <a:p>
            <a:r>
              <a:rPr lang="fr-FR" sz="4000" dirty="0"/>
              <a:t>﻿</a:t>
            </a:r>
            <a:r>
              <a:rPr lang="fr-FR" sz="4000" dirty="0" err="1"/>
              <a:t>SurRoL</a:t>
            </a:r>
            <a:r>
              <a:rPr lang="fr-FR" sz="4000" dirty="0"/>
              <a:t>: An Open-source </a:t>
            </a:r>
            <a:r>
              <a:rPr lang="fr-FR" sz="4000" dirty="0" err="1"/>
              <a:t>Reinforcement</a:t>
            </a:r>
            <a:r>
              <a:rPr lang="fr-FR" sz="4000" dirty="0"/>
              <a:t> Learning </a:t>
            </a:r>
            <a:r>
              <a:rPr lang="fr-FR" sz="4000" dirty="0" err="1"/>
              <a:t>Centered</a:t>
            </a:r>
            <a:r>
              <a:rPr lang="fr-FR" sz="4000" dirty="0"/>
              <a:t> and</a:t>
            </a:r>
            <a:r>
              <a:rPr lang="zh-CN" altLang="en-US" sz="4000" dirty="0"/>
              <a:t> </a:t>
            </a:r>
            <a:r>
              <a:rPr lang="fr-FR" sz="4000" dirty="0" err="1"/>
              <a:t>dVRK</a:t>
            </a:r>
            <a:r>
              <a:rPr lang="fr-FR" sz="4000" dirty="0"/>
              <a:t> Compatible Platform for </a:t>
            </a:r>
            <a:r>
              <a:rPr lang="fr-FR" sz="4000" dirty="0" err="1"/>
              <a:t>Surgical</a:t>
            </a:r>
            <a:r>
              <a:rPr lang="fr-FR" sz="4000" dirty="0"/>
              <a:t> Robot Learning</a:t>
            </a:r>
          </a:p>
        </p:txBody>
      </p:sp>
      <p:sp>
        <p:nvSpPr>
          <p:cNvPr id="3" name="Subtitle 2">
            <a:extLst>
              <a:ext uri="{FF2B5EF4-FFF2-40B4-BE49-F238E27FC236}">
                <a16:creationId xmlns:a16="http://schemas.microsoft.com/office/drawing/2014/main" id="{C06F185E-4335-D148-364D-779DD80F44E9}"/>
              </a:ext>
            </a:extLst>
          </p:cNvPr>
          <p:cNvSpPr>
            <a:spLocks noGrp="1"/>
          </p:cNvSpPr>
          <p:nvPr>
            <p:ph type="subTitle" idx="1"/>
          </p:nvPr>
        </p:nvSpPr>
        <p:spPr>
          <a:xfrm>
            <a:off x="1524000" y="3952767"/>
            <a:ext cx="9144000" cy="1655762"/>
          </a:xfrm>
        </p:spPr>
        <p:txBody>
          <a:bodyPr/>
          <a:lstStyle/>
          <a:p>
            <a:r>
              <a:rPr lang="zh-CN" altLang="en-US" b="0" i="0" dirty="0">
                <a:effectLst/>
                <a:latin typeface="Google Sans Flex"/>
              </a:rPr>
              <a:t>当前临床应用的手术机器人主要依赖于遥操作，即机器人仅作为外科医生手部动作的延伸，尚未具备真正的自主决策与操作能力。</a:t>
            </a:r>
            <a:endParaRPr lang="en-US" altLang="zh-CN" b="0" i="0" dirty="0">
              <a:effectLst/>
              <a:latin typeface="Google Sans Flex"/>
            </a:endParaRPr>
          </a:p>
          <a:p>
            <a:r>
              <a:rPr lang="zh-CN" altLang="en-US" b="0" i="0" dirty="0">
                <a:effectLst/>
                <a:latin typeface="Google Sans Flex"/>
              </a:rPr>
              <a:t>赋予手术机器人自动化甚至自主化能力</a:t>
            </a:r>
            <a:endParaRPr lang="fr-FR" dirty="0"/>
          </a:p>
        </p:txBody>
      </p:sp>
    </p:spTree>
    <p:extLst>
      <p:ext uri="{BB962C8B-B14F-4D97-AF65-F5344CB8AC3E}">
        <p14:creationId xmlns:p14="http://schemas.microsoft.com/office/powerpoint/2010/main" val="2548353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49D05A-65E0-8D04-6769-8C314EDE5CB2}"/>
              </a:ext>
            </a:extLst>
          </p:cNvPr>
          <p:cNvSpPr>
            <a:spLocks noGrp="1"/>
          </p:cNvSpPr>
          <p:nvPr>
            <p:ph idx="1"/>
          </p:nvPr>
        </p:nvSpPr>
        <p:spPr>
          <a:xfrm>
            <a:off x="154547" y="1591122"/>
            <a:ext cx="10928797" cy="5545898"/>
          </a:xfrm>
        </p:spPr>
        <p:txBody>
          <a:bodyPr>
            <a:normAutofit fontScale="62500" lnSpcReduction="20000"/>
          </a:bodyPr>
          <a:lstStyle/>
          <a:p>
            <a:pPr>
              <a:lnSpc>
                <a:spcPct val="220000"/>
              </a:lnSpc>
            </a:pPr>
            <a:r>
              <a:rPr lang="en-FR" kern="100" dirty="0">
                <a:effectLst/>
                <a:latin typeface="DengXian" panose="02010600030101010101" pitchFamily="2" charset="-122"/>
                <a:ea typeface="DengXian" panose="02010600030101010101" pitchFamily="2" charset="-122"/>
                <a:cs typeface="Times New Roman" panose="02020603050405020304" pitchFamily="18" charset="0"/>
              </a:rPr>
              <a:t>SurRoL (Surgical Robot Learning) </a:t>
            </a:r>
            <a:r>
              <a:rPr lang="zh-CN" kern="100" dirty="0">
                <a:effectLst/>
                <a:latin typeface="DengXian" panose="02010600030101010101" pitchFamily="2" charset="-122"/>
                <a:ea typeface="DengXian" panose="02010600030101010101" pitchFamily="2" charset="-122"/>
                <a:cs typeface="Times New Roman" panose="02020603050405020304" pitchFamily="18" charset="0"/>
              </a:rPr>
              <a:t>是香港中文大学（</a:t>
            </a:r>
            <a:r>
              <a:rPr lang="en-FR" kern="100" dirty="0">
                <a:effectLst/>
                <a:latin typeface="DengXian" panose="02010600030101010101" pitchFamily="2" charset="-122"/>
                <a:ea typeface="DengXian" panose="02010600030101010101" pitchFamily="2" charset="-122"/>
                <a:cs typeface="Times New Roman" panose="02020603050405020304" pitchFamily="18" charset="0"/>
              </a:rPr>
              <a:t>CUHK</a:t>
            </a:r>
            <a:r>
              <a:rPr lang="zh-CN" kern="100" dirty="0">
                <a:effectLst/>
                <a:latin typeface="DengXian" panose="02010600030101010101" pitchFamily="2" charset="-122"/>
                <a:ea typeface="DengXian" panose="02010600030101010101" pitchFamily="2" charset="-122"/>
                <a:cs typeface="Times New Roman" panose="02020603050405020304" pitchFamily="18" charset="0"/>
              </a:rPr>
              <a:t>）团队发布的一个工作。</a:t>
            </a:r>
            <a:endParaRPr lang="en-FR"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220000"/>
              </a:lnSpc>
              <a:buFont typeface="Wingdings" pitchFamily="2" charset="2"/>
              <a:buChar char=""/>
            </a:pPr>
            <a:r>
              <a:rPr lang="zh-CN" b="1" kern="100" dirty="0">
                <a:effectLst/>
                <a:latin typeface="Calibri" panose="020F0502020204030204" pitchFamily="34" charset="0"/>
                <a:ea typeface="DengXian" panose="02010600030101010101" pitchFamily="2" charset="-122"/>
                <a:cs typeface="Times New Roman" panose="02020603050405020304" pitchFamily="18" charset="0"/>
              </a:rPr>
              <a:t>背景</a:t>
            </a:r>
            <a:r>
              <a:rPr lang="zh-CN" kern="100" dirty="0">
                <a:effectLst/>
                <a:latin typeface="Calibri" panose="020F0502020204030204" pitchFamily="34" charset="0"/>
                <a:ea typeface="DengXian" panose="02010600030101010101" pitchFamily="2" charset="-122"/>
                <a:cs typeface="Times New Roman" panose="02020603050405020304" pitchFamily="18" charset="0"/>
              </a:rPr>
              <a:t>：强化学习</a:t>
            </a:r>
            <a:r>
              <a:rPr lang="en-FR" kern="100" dirty="0">
                <a:effectLst/>
                <a:latin typeface="DengXian" panose="02010600030101010101" pitchFamily="2" charset="-122"/>
                <a:ea typeface="DengXian" panose="02010600030101010101" pitchFamily="2" charset="-122"/>
                <a:cs typeface="Times New Roman" panose="02020603050405020304" pitchFamily="18" charset="0"/>
              </a:rPr>
              <a:t> (Reinforcement Learning, RL) </a:t>
            </a:r>
            <a:r>
              <a:rPr lang="zh-CN" kern="100" dirty="0">
                <a:effectLst/>
                <a:latin typeface="DengXian" panose="02010600030101010101" pitchFamily="2" charset="-122"/>
                <a:ea typeface="DengXian" panose="02010600030101010101" pitchFamily="2" charset="-122"/>
                <a:cs typeface="Times New Roman" panose="02020603050405020304" pitchFamily="18" charset="0"/>
              </a:rPr>
              <a:t>在手术机器人领域缺乏一个</a:t>
            </a:r>
            <a:r>
              <a:rPr lang="zh-CN" b="1" kern="100" dirty="0">
                <a:effectLst/>
                <a:latin typeface="DengXian" panose="02010600030101010101" pitchFamily="2" charset="-122"/>
                <a:ea typeface="DengXian" panose="02010600030101010101" pitchFamily="2" charset="-122"/>
                <a:cs typeface="Times New Roman" panose="02020603050405020304" pitchFamily="18" charset="0"/>
              </a:rPr>
              <a:t>统一的、标准</a:t>
            </a:r>
            <a:r>
              <a:rPr lang="zh-CN" kern="100" dirty="0">
                <a:effectLst/>
                <a:latin typeface="DengXian" panose="02010600030101010101" pitchFamily="2" charset="-122"/>
                <a:ea typeface="DengXian" panose="02010600030101010101" pitchFamily="2" charset="-122"/>
                <a:cs typeface="Times New Roman" panose="02020603050405020304" pitchFamily="18" charset="0"/>
              </a:rPr>
              <a:t>的训练环境。</a:t>
            </a:r>
            <a:endParaRPr lang="en-FR"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220000"/>
              </a:lnSpc>
              <a:buFont typeface="Wingdings" pitchFamily="2" charset="2"/>
              <a:buChar char=""/>
            </a:pPr>
            <a:r>
              <a:rPr lang="zh-CN" b="1" kern="100" dirty="0">
                <a:effectLst/>
                <a:latin typeface="Calibri" panose="020F0502020204030204" pitchFamily="34" charset="0"/>
                <a:ea typeface="DengXian" panose="02010600030101010101" pitchFamily="2" charset="-122"/>
                <a:cs typeface="Times New Roman" panose="02020603050405020304" pitchFamily="18" charset="0"/>
              </a:rPr>
              <a:t>意图与贡献</a:t>
            </a:r>
            <a:r>
              <a:rPr lang="zh-CN" kern="100" dirty="0">
                <a:effectLst/>
                <a:latin typeface="Calibri" panose="020F0502020204030204" pitchFamily="34" charset="0"/>
                <a:ea typeface="DengXian" panose="02010600030101010101" pitchFamily="2" charset="-122"/>
                <a:cs typeface="Times New Roman" panose="02020603050405020304" pitchFamily="18" charset="0"/>
              </a:rPr>
              <a:t>：</a:t>
            </a:r>
            <a:endParaRPr lang="en-FR" altLang="zh-CN" kern="100" dirty="0">
              <a:latin typeface="Calibri" panose="020F0502020204030204" pitchFamily="34" charset="0"/>
              <a:ea typeface="DengXian" panose="02010600030101010101" pitchFamily="2" charset="-122"/>
              <a:cs typeface="Times New Roman" panose="02020603050405020304" pitchFamily="18" charset="0"/>
            </a:endParaRPr>
          </a:p>
          <a:p>
            <a:pPr marL="800100" lvl="1" indent="-342900">
              <a:lnSpc>
                <a:spcPct val="220000"/>
              </a:lnSpc>
              <a:buFont typeface="Wingdings" pitchFamily="2" charset="2"/>
              <a:buChar char=""/>
            </a:pPr>
            <a:r>
              <a:rPr lang="en-FR" sz="2800" kern="100" dirty="0">
                <a:effectLst/>
                <a:latin typeface="DengXian" panose="02010600030101010101" pitchFamily="2" charset="-122"/>
                <a:ea typeface="DengXian" panose="02010600030101010101" pitchFamily="2" charset="-122"/>
                <a:cs typeface="Times New Roman" panose="02020603050405020304" pitchFamily="18" charset="0"/>
              </a:rPr>
              <a:t>1. </a:t>
            </a:r>
            <a:r>
              <a:rPr lang="zh-CN" sz="2800" b="1" kern="100" dirty="0">
                <a:effectLst/>
                <a:latin typeface="DengXian" panose="02010600030101010101" pitchFamily="2" charset="-122"/>
                <a:ea typeface="DengXian" panose="02010600030101010101" pitchFamily="2" charset="-122"/>
                <a:cs typeface="Times New Roman" panose="02020603050405020304" pitchFamily="18" charset="0"/>
              </a:rPr>
              <a:t>打造“手术界的</a:t>
            </a:r>
            <a:r>
              <a:rPr lang="en-FR" sz="2800" b="1" kern="100" dirty="0">
                <a:effectLst/>
                <a:latin typeface="DengXian" panose="02010600030101010101" pitchFamily="2" charset="-122"/>
                <a:ea typeface="DengXian" panose="02010600030101010101" pitchFamily="2" charset="-122"/>
                <a:cs typeface="Times New Roman" panose="02020603050405020304" pitchFamily="18" charset="0"/>
              </a:rPr>
              <a:t> OpenAI Gym</a:t>
            </a:r>
            <a:r>
              <a:rPr lang="zh-CN" sz="2800" b="1"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sz="2800" kern="100" dirty="0">
                <a:effectLst/>
                <a:latin typeface="DengXian" panose="02010600030101010101" pitchFamily="2" charset="-122"/>
                <a:ea typeface="DengXian" panose="02010600030101010101" pitchFamily="2" charset="-122"/>
                <a:cs typeface="Times New Roman" panose="02020603050405020304" pitchFamily="18" charset="0"/>
              </a:rPr>
              <a:t>：提供了一套基于</a:t>
            </a:r>
            <a:r>
              <a:rPr lang="en-FR" sz="2800" kern="100" dirty="0">
                <a:effectLst/>
                <a:latin typeface="DengXian" panose="02010600030101010101" pitchFamily="2" charset="-122"/>
                <a:ea typeface="DengXian" panose="02010600030101010101" pitchFamily="2" charset="-122"/>
                <a:cs typeface="Times New Roman" panose="02020603050405020304" pitchFamily="18" charset="0"/>
              </a:rPr>
              <a:t> PyBullet </a:t>
            </a:r>
            <a:r>
              <a:rPr lang="zh-CN" sz="2800" kern="100" dirty="0">
                <a:effectLst/>
                <a:latin typeface="DengXian" panose="02010600030101010101" pitchFamily="2" charset="-122"/>
                <a:ea typeface="DengXian" panose="02010600030101010101" pitchFamily="2" charset="-122"/>
                <a:cs typeface="Times New Roman" panose="02020603050405020304" pitchFamily="18" charset="0"/>
              </a:rPr>
              <a:t>的、兼容</a:t>
            </a:r>
            <a:r>
              <a:rPr lang="en-FR" sz="2800" kern="100" dirty="0">
                <a:effectLst/>
                <a:latin typeface="DengXian" panose="02010600030101010101" pitchFamily="2" charset="-122"/>
                <a:ea typeface="DengXian" panose="02010600030101010101" pitchFamily="2" charset="-122"/>
                <a:cs typeface="Times New Roman" panose="02020603050405020304" pitchFamily="18" charset="0"/>
              </a:rPr>
              <a:t> dVRK </a:t>
            </a:r>
            <a:r>
              <a:rPr lang="zh-CN" sz="2800" kern="100" dirty="0">
                <a:effectLst/>
                <a:latin typeface="DengXian" panose="02010600030101010101" pitchFamily="2" charset="-122"/>
                <a:ea typeface="DengXian" panose="02010600030101010101" pitchFamily="2" charset="-122"/>
                <a:cs typeface="Times New Roman" panose="02020603050405020304" pitchFamily="18" charset="0"/>
              </a:rPr>
              <a:t>运动学的仿真环境。</a:t>
            </a:r>
            <a:endPar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800100" lvl="1" indent="-342900">
              <a:lnSpc>
                <a:spcPct val="220000"/>
              </a:lnSpc>
              <a:buFont typeface="Wingdings" pitchFamily="2" charset="2"/>
              <a:buChar char=""/>
            </a:pPr>
            <a:r>
              <a:rPr lang="en-FR" sz="2800" kern="100" dirty="0">
                <a:effectLst/>
                <a:latin typeface="DengXian" panose="02010600030101010101" pitchFamily="2" charset="-122"/>
                <a:ea typeface="DengXian" panose="02010600030101010101" pitchFamily="2" charset="-122"/>
                <a:cs typeface="Times New Roman" panose="02020603050405020304" pitchFamily="18" charset="0"/>
              </a:rPr>
              <a:t>2. </a:t>
            </a:r>
            <a:r>
              <a:rPr lang="zh-CN" sz="2800" b="1" kern="100" dirty="0">
                <a:effectLst/>
                <a:latin typeface="DengXian" panose="02010600030101010101" pitchFamily="2" charset="-122"/>
                <a:ea typeface="DengXian" panose="02010600030101010101" pitchFamily="2" charset="-122"/>
                <a:cs typeface="Times New Roman" panose="02020603050405020304" pitchFamily="18" charset="0"/>
              </a:rPr>
              <a:t>定义标准任务</a:t>
            </a:r>
            <a:r>
              <a:rPr lang="zh-CN" sz="2800" kern="100" dirty="0">
                <a:effectLst/>
                <a:latin typeface="DengXian" panose="02010600030101010101" pitchFamily="2" charset="-122"/>
                <a:ea typeface="DengXian" panose="02010600030101010101" pitchFamily="2" charset="-122"/>
                <a:cs typeface="Times New Roman" panose="02020603050405020304" pitchFamily="18" charset="0"/>
              </a:rPr>
              <a:t>：标准化了</a:t>
            </a:r>
            <a:r>
              <a:rPr lang="en-FR" sz="2800" kern="100" dirty="0">
                <a:effectLst/>
                <a:latin typeface="DengXian" panose="02010600030101010101" pitchFamily="2" charset="-122"/>
                <a:ea typeface="DengXian" panose="02010600030101010101" pitchFamily="2" charset="-122"/>
                <a:cs typeface="Times New Roman" panose="02020603050405020304" pitchFamily="18" charset="0"/>
              </a:rPr>
              <a:t> 10 </a:t>
            </a:r>
            <a:r>
              <a:rPr lang="zh-CN" sz="2800" kern="100" dirty="0">
                <a:effectLst/>
                <a:latin typeface="DengXian" panose="02010600030101010101" pitchFamily="2" charset="-122"/>
                <a:ea typeface="DengXian" panose="02010600030101010101" pitchFamily="2" charset="-122"/>
                <a:cs typeface="Times New Roman" panose="02020603050405020304" pitchFamily="18" charset="0"/>
              </a:rPr>
              <a:t>个手术子任务（如</a:t>
            </a:r>
            <a:r>
              <a:rPr lang="en-FR" sz="2800" kern="100" dirty="0">
                <a:effectLst/>
                <a:latin typeface="DengXian" panose="02010600030101010101" pitchFamily="2" charset="-122"/>
                <a:ea typeface="DengXian" panose="02010600030101010101" pitchFamily="2" charset="-122"/>
                <a:cs typeface="Times New Roman" panose="02020603050405020304" pitchFamily="18" charset="0"/>
              </a:rPr>
              <a:t> Needle Pick, Suturing, Peg Transfer</a:t>
            </a:r>
            <a:r>
              <a:rPr lang="zh-CN" sz="2800" kern="100" dirty="0">
                <a:effectLst/>
                <a:latin typeface="DengXian" panose="02010600030101010101" pitchFamily="2" charset="-122"/>
                <a:ea typeface="DengXian" panose="02010600030101010101" pitchFamily="2" charset="-122"/>
                <a:cs typeface="Times New Roman" panose="02020603050405020304" pitchFamily="18" charset="0"/>
              </a:rPr>
              <a:t>）。</a:t>
            </a:r>
            <a:endPar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800100" lvl="1" indent="-342900">
              <a:lnSpc>
                <a:spcPct val="220000"/>
              </a:lnSpc>
              <a:buFont typeface="Wingdings" pitchFamily="2" charset="2"/>
              <a:buChar char=""/>
            </a:pPr>
            <a:r>
              <a:rPr lang="en-FR" sz="2800" b="1" kern="100" dirty="0">
                <a:latin typeface="DengXian" panose="02010600030101010101" pitchFamily="2" charset="-122"/>
                <a:ea typeface="DengXian" panose="02010600030101010101" pitchFamily="2" charset="-122"/>
                <a:cs typeface="Times New Roman" panose="02020603050405020304" pitchFamily="18" charset="0"/>
              </a:rPr>
              <a:t>Sim-to-Real (</a:t>
            </a:r>
            <a:r>
              <a:rPr lang="zh-CN" altLang="en-US" sz="2800" b="1" kern="100" dirty="0">
                <a:latin typeface="DengXian" panose="02010600030101010101" pitchFamily="2" charset="-122"/>
                <a:ea typeface="DengXian" panose="02010600030101010101" pitchFamily="2" charset="-122"/>
                <a:cs typeface="Times New Roman" panose="02020603050405020304" pitchFamily="18" charset="0"/>
              </a:rPr>
              <a:t>虚实迁移</a:t>
            </a:r>
            <a:r>
              <a:rPr lang="en-FR" sz="2800" b="1" kern="100" dirty="0">
                <a:latin typeface="DengXian" panose="02010600030101010101" pitchFamily="2" charset="-122"/>
                <a:ea typeface="DengXian" panose="02010600030101010101" pitchFamily="2" charset="-122"/>
                <a:cs typeface="Times New Roman" panose="02020603050405020304" pitchFamily="18" charset="0"/>
              </a:rPr>
              <a:t>)</a:t>
            </a:r>
            <a:r>
              <a:rPr lang="zh-CN" altLang="en-US" sz="2800" kern="100" dirty="0">
                <a:latin typeface="DengXian" panose="02010600030101010101" pitchFamily="2" charset="-122"/>
                <a:ea typeface="DengXian" panose="02010600030101010101" pitchFamily="2" charset="-122"/>
                <a:cs typeface="Times New Roman" panose="02020603050405020304" pitchFamily="18" charset="0"/>
              </a:rPr>
              <a:t>：它的核心意图不仅仅是仿真，而是为了解决</a:t>
            </a:r>
            <a:r>
              <a:rPr lang="en-FR" sz="2800" kern="100" dirty="0">
                <a:latin typeface="DengXian" panose="02010600030101010101" pitchFamily="2" charset="-122"/>
                <a:ea typeface="DengXian" panose="02010600030101010101" pitchFamily="2" charset="-122"/>
                <a:cs typeface="Times New Roman" panose="02020603050405020304" pitchFamily="18" charset="0"/>
              </a:rPr>
              <a:t> RL </a:t>
            </a:r>
            <a:r>
              <a:rPr lang="zh-CN" altLang="en-US" sz="2800" kern="100" dirty="0">
                <a:latin typeface="DengXian" panose="02010600030101010101" pitchFamily="2" charset="-122"/>
                <a:ea typeface="DengXian" panose="02010600030101010101" pitchFamily="2" charset="-122"/>
                <a:cs typeface="Times New Roman" panose="02020603050405020304" pitchFamily="18" charset="0"/>
              </a:rPr>
              <a:t>算法如何从仿真环境迁移到真实的</a:t>
            </a:r>
            <a:r>
              <a:rPr lang="en-FR" sz="2800" kern="100" dirty="0">
                <a:latin typeface="DengXian" panose="02010600030101010101" pitchFamily="2" charset="-122"/>
                <a:ea typeface="DengXian" panose="02010600030101010101" pitchFamily="2" charset="-122"/>
                <a:cs typeface="Times New Roman" panose="02020603050405020304" pitchFamily="18" charset="0"/>
              </a:rPr>
              <a:t> dVRK </a:t>
            </a:r>
            <a:r>
              <a:rPr lang="zh-CN" altLang="en-US" sz="2800" kern="100" dirty="0">
                <a:latin typeface="DengXian" panose="02010600030101010101" pitchFamily="2" charset="-122"/>
                <a:ea typeface="DengXian" panose="02010600030101010101" pitchFamily="2" charset="-122"/>
                <a:cs typeface="Times New Roman" panose="02020603050405020304" pitchFamily="18" charset="0"/>
              </a:rPr>
              <a:t>硬件上。手术场景涉及极其复杂的软体组织形变，仿真难以做到</a:t>
            </a:r>
            <a:r>
              <a:rPr lang="en-FR" sz="2800" kern="100" dirty="0">
                <a:latin typeface="DengXian" panose="02010600030101010101" pitchFamily="2" charset="-122"/>
                <a:ea typeface="DengXian" panose="02010600030101010101" pitchFamily="2" charset="-122"/>
                <a:cs typeface="Times New Roman" panose="02020603050405020304" pitchFamily="18" charset="0"/>
              </a:rPr>
              <a:t> 100% </a:t>
            </a:r>
            <a:r>
              <a:rPr lang="zh-CN" altLang="en-US" sz="2800" kern="100" dirty="0">
                <a:latin typeface="DengXian" panose="02010600030101010101" pitchFamily="2" charset="-122"/>
                <a:ea typeface="DengXian" panose="02010600030101010101" pitchFamily="2" charset="-122"/>
                <a:cs typeface="Times New Roman" panose="02020603050405020304" pitchFamily="18" charset="0"/>
              </a:rPr>
              <a:t>真实。</a:t>
            </a:r>
            <a:r>
              <a:rPr lang="en-FR" sz="2800" kern="100" dirty="0">
                <a:latin typeface="DengXian" panose="02010600030101010101" pitchFamily="2" charset="-122"/>
                <a:ea typeface="DengXian" panose="02010600030101010101" pitchFamily="2" charset="-122"/>
                <a:cs typeface="Times New Roman" panose="02020603050405020304" pitchFamily="18" charset="0"/>
              </a:rPr>
              <a:t>SurRoL </a:t>
            </a:r>
            <a:r>
              <a:rPr lang="zh-CN" altLang="en-US" sz="2800" kern="100" dirty="0">
                <a:latin typeface="DengXian" panose="02010600030101010101" pitchFamily="2" charset="-122"/>
                <a:ea typeface="DengXian" panose="02010600030101010101" pitchFamily="2" charset="-122"/>
                <a:cs typeface="Times New Roman" panose="02020603050405020304" pitchFamily="18" charset="0"/>
              </a:rPr>
              <a:t>的核心价值在于提供了一套经过验证的参数和资产，旨在缩小仿真训练策略直接部署到</a:t>
            </a:r>
            <a:r>
              <a:rPr lang="en-FR" sz="2800" kern="100" dirty="0">
                <a:latin typeface="DengXian" panose="02010600030101010101" pitchFamily="2" charset="-122"/>
                <a:ea typeface="DengXian" panose="02010600030101010101" pitchFamily="2" charset="-122"/>
                <a:cs typeface="Times New Roman" panose="02020603050405020304" pitchFamily="18" charset="0"/>
              </a:rPr>
              <a:t> dVRK </a:t>
            </a:r>
            <a:r>
              <a:rPr lang="zh-CN" altLang="en-US" sz="2800" kern="100" dirty="0">
                <a:latin typeface="DengXian" panose="02010600030101010101" pitchFamily="2" charset="-122"/>
                <a:ea typeface="DengXian" panose="02010600030101010101" pitchFamily="2" charset="-122"/>
                <a:cs typeface="Times New Roman" panose="02020603050405020304" pitchFamily="18" charset="0"/>
              </a:rPr>
              <a:t>物理样机上的性能损失。</a:t>
            </a:r>
            <a:endParaRPr lang="en-FR" sz="2800" kern="100" dirty="0">
              <a:latin typeface="DengXian" panose="02010600030101010101" pitchFamily="2" charset="-122"/>
              <a:ea typeface="DengXian" panose="02010600030101010101" pitchFamily="2" charset="-122"/>
              <a:cs typeface="Times New Roman" panose="02020603050405020304" pitchFamily="18" charset="0"/>
            </a:endParaRPr>
          </a:p>
          <a:p>
            <a:endParaRPr lang="fr-FR" dirty="0"/>
          </a:p>
        </p:txBody>
      </p:sp>
      <p:pic>
        <p:nvPicPr>
          <p:cNvPr id="5" name="Picture 4">
            <a:extLst>
              <a:ext uri="{FF2B5EF4-FFF2-40B4-BE49-F238E27FC236}">
                <a16:creationId xmlns:a16="http://schemas.microsoft.com/office/drawing/2014/main" id="{FB958835-9F30-5444-60F0-11246C7EB1A2}"/>
              </a:ext>
            </a:extLst>
          </p:cNvPr>
          <p:cNvPicPr>
            <a:picLocks noChangeAspect="1"/>
          </p:cNvPicPr>
          <p:nvPr/>
        </p:nvPicPr>
        <p:blipFill>
          <a:blip r:embed="rId2"/>
          <a:stretch>
            <a:fillRect/>
          </a:stretch>
        </p:blipFill>
        <p:spPr>
          <a:xfrm>
            <a:off x="442265" y="247335"/>
            <a:ext cx="7772400" cy="1343787"/>
          </a:xfrm>
          <a:prstGeom prst="rect">
            <a:avLst/>
          </a:prstGeom>
        </p:spPr>
      </p:pic>
    </p:spTree>
    <p:extLst>
      <p:ext uri="{BB962C8B-B14F-4D97-AF65-F5344CB8AC3E}">
        <p14:creationId xmlns:p14="http://schemas.microsoft.com/office/powerpoint/2010/main" val="3303620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997BE-3C6D-68E1-22CB-17E02A692A20}"/>
              </a:ext>
            </a:extLst>
          </p:cNvPr>
          <p:cNvSpPr>
            <a:spLocks noGrp="1"/>
          </p:cNvSpPr>
          <p:nvPr>
            <p:ph type="title"/>
          </p:nvPr>
        </p:nvSpPr>
        <p:spPr/>
        <p:txBody>
          <a:bodyPr/>
          <a:lstStyle/>
          <a:p>
            <a:endParaRPr lang="fr-FR"/>
          </a:p>
        </p:txBody>
      </p:sp>
      <p:pic>
        <p:nvPicPr>
          <p:cNvPr id="5" name="Content Placeholder 4">
            <a:extLst>
              <a:ext uri="{FF2B5EF4-FFF2-40B4-BE49-F238E27FC236}">
                <a16:creationId xmlns:a16="http://schemas.microsoft.com/office/drawing/2014/main" id="{58758B1C-BC43-DAEA-EDBF-128F4B4DFDE7}"/>
              </a:ext>
            </a:extLst>
          </p:cNvPr>
          <p:cNvPicPr>
            <a:picLocks noGrp="1" noChangeAspect="1"/>
          </p:cNvPicPr>
          <p:nvPr>
            <p:ph idx="1"/>
          </p:nvPr>
        </p:nvPicPr>
        <p:blipFill>
          <a:blip r:embed="rId2"/>
          <a:stretch>
            <a:fillRect/>
          </a:stretch>
        </p:blipFill>
        <p:spPr>
          <a:xfrm>
            <a:off x="750518" y="1555151"/>
            <a:ext cx="10515600" cy="1873849"/>
          </a:xfrm>
        </p:spPr>
      </p:pic>
      <p:sp>
        <p:nvSpPr>
          <p:cNvPr id="6" name="TextBox 5">
            <a:extLst>
              <a:ext uri="{FF2B5EF4-FFF2-40B4-BE49-F238E27FC236}">
                <a16:creationId xmlns:a16="http://schemas.microsoft.com/office/drawing/2014/main" id="{0660D6FB-6C1C-5F32-D4E8-7DFAB8EF4BBF}"/>
              </a:ext>
            </a:extLst>
          </p:cNvPr>
          <p:cNvSpPr txBox="1"/>
          <p:nvPr/>
        </p:nvSpPr>
        <p:spPr>
          <a:xfrm>
            <a:off x="1365337" y="3745282"/>
            <a:ext cx="9900781" cy="2308324"/>
          </a:xfrm>
          <a:prstGeom prst="rect">
            <a:avLst/>
          </a:prstGeom>
          <a:noFill/>
        </p:spPr>
        <p:txBody>
          <a:bodyPr wrap="square" rtlCol="0">
            <a:spAutoFit/>
          </a:bodyPr>
          <a:lstStyle/>
          <a:p>
            <a:pPr marL="285750" indent="-285750">
              <a:buFont typeface="Wingdings" pitchFamily="2" charset="2"/>
              <a:buChar char="Ø"/>
            </a:pPr>
            <a:r>
              <a:rPr lang="zh-CN" altLang="en-US" dirty="0"/>
              <a:t>抓取机制基于物理接触的判定</a:t>
            </a:r>
            <a:endParaRPr lang="en-US" altLang="zh-CN" dirty="0"/>
          </a:p>
          <a:p>
            <a:pPr marL="285750" indent="-285750">
              <a:buFont typeface="Wingdings" pitchFamily="2" charset="2"/>
              <a:buChar char="Ø"/>
            </a:pPr>
            <a:r>
              <a:rPr lang="zh-CN" altLang="en-US" dirty="0"/>
              <a:t>代码强制要求</a:t>
            </a:r>
            <a:r>
              <a:rPr lang="zh-CN" altLang="en-US" b="1" dirty="0"/>
              <a:t>两个机械爪指都必须与物体发生物理碰撞</a:t>
            </a:r>
            <a:r>
              <a:rPr lang="zh-CN" altLang="en-US" dirty="0"/>
              <a:t>才能触发抓取状态</a:t>
            </a:r>
            <a:endParaRPr lang="en-US" altLang="zh-CN" dirty="0"/>
          </a:p>
          <a:p>
            <a:pPr marL="285750" indent="-285750">
              <a:buFont typeface="Wingdings" pitchFamily="2" charset="2"/>
              <a:buChar char="Ø"/>
            </a:pPr>
            <a:r>
              <a:rPr lang="zh-CN" altLang="en-US" dirty="0"/>
              <a:t>为了克服 </a:t>
            </a:r>
            <a:r>
              <a:rPr lang="en-GB" dirty="0" err="1"/>
              <a:t>PyBullet</a:t>
            </a:r>
            <a:r>
              <a:rPr lang="en-GB" dirty="0"/>
              <a:t> </a:t>
            </a:r>
            <a:r>
              <a:rPr lang="zh-CN" altLang="en-US" dirty="0"/>
              <a:t>物理引擎在处理细小物体（如缝合针）时可能出现的穿模或剧烈抖动，团队引入了一个事后的约束机制，在物体已经被物理抓起后施加，用于防止仿真</a:t>
            </a:r>
            <a:r>
              <a:rPr lang="en-GB" dirty="0"/>
              <a:t>Bug</a:t>
            </a:r>
            <a:r>
              <a:rPr lang="zh-CN" altLang="en-US" dirty="0"/>
              <a:t>。系统测量了那一瞬间针依然保持的姿态（比如针是歪着被抓住的，那就记录下这个歪的角度）</a:t>
            </a:r>
            <a:r>
              <a:rPr lang="en-US" altLang="zh-CN" dirty="0"/>
              <a:t>c</a:t>
            </a:r>
            <a:r>
              <a:rPr lang="en-GB" dirty="0" err="1"/>
              <a:t>reateConstraint</a:t>
            </a:r>
            <a:r>
              <a:rPr lang="en-GB" dirty="0"/>
              <a:t> </a:t>
            </a:r>
            <a:r>
              <a:rPr lang="zh-CN" altLang="en-US" dirty="0"/>
              <a:t>创建了一个刚性连接。从这一刻起，物理引擎不再需要费力计算“摩擦力够不够让针不掉下来”，而是直接把针视为抓手的一部分。</a:t>
            </a:r>
          </a:p>
          <a:p>
            <a:endParaRPr lang="fr-FR" dirty="0"/>
          </a:p>
        </p:txBody>
      </p:sp>
    </p:spTree>
    <p:extLst>
      <p:ext uri="{BB962C8B-B14F-4D97-AF65-F5344CB8AC3E}">
        <p14:creationId xmlns:p14="http://schemas.microsoft.com/office/powerpoint/2010/main" val="387555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FACF4-1182-746F-32AA-1DCFC765F7A3}"/>
              </a:ext>
            </a:extLst>
          </p:cNvPr>
          <p:cNvSpPr>
            <a:spLocks noGrp="1"/>
          </p:cNvSpPr>
          <p:nvPr>
            <p:ph type="title"/>
          </p:nvPr>
        </p:nvSpPr>
        <p:spPr/>
        <p:txBody>
          <a:bodyPr>
            <a:normAutofit/>
          </a:bodyPr>
          <a:lstStyle/>
          <a:p>
            <a:r>
              <a:rPr lang="zh-CN" sz="3200" dirty="0">
                <a:effectLst/>
                <a:ea typeface="DengXian" panose="02010600030101010101" pitchFamily="2" charset="-122"/>
                <a:cs typeface="Times New Roman" panose="02020603050405020304" pitchFamily="18" charset="0"/>
              </a:rPr>
              <a:t>为什么需要强化学习</a:t>
            </a:r>
            <a:r>
              <a:rPr lang="en-FR" sz="3200" dirty="0">
                <a:effectLst/>
              </a:rPr>
              <a:t> </a:t>
            </a:r>
            <a:endParaRPr lang="fr-FR" sz="3200" dirty="0"/>
          </a:p>
        </p:txBody>
      </p:sp>
      <p:sp>
        <p:nvSpPr>
          <p:cNvPr id="3" name="Content Placeholder 2">
            <a:extLst>
              <a:ext uri="{FF2B5EF4-FFF2-40B4-BE49-F238E27FC236}">
                <a16:creationId xmlns:a16="http://schemas.microsoft.com/office/drawing/2014/main" id="{5F9FA87C-CEFF-5B92-F77C-BB47ABDC4EBD}"/>
              </a:ext>
            </a:extLst>
          </p:cNvPr>
          <p:cNvSpPr>
            <a:spLocks noGrp="1"/>
          </p:cNvSpPr>
          <p:nvPr>
            <p:ph idx="1"/>
          </p:nvPr>
        </p:nvSpPr>
        <p:spPr/>
        <p:txBody>
          <a:bodyPr>
            <a:normAutofit/>
          </a:bodyPr>
          <a:lstStyle/>
          <a:p>
            <a:pPr>
              <a:lnSpc>
                <a:spcPct val="200000"/>
              </a:lnSpc>
              <a:buFont typeface="Wingdings" pitchFamily="2" charset="2"/>
              <a:buChar char="Ø"/>
            </a:pPr>
            <a:r>
              <a:rPr lang="zh-CN" sz="1800" dirty="0">
                <a:effectLst/>
                <a:latin typeface="Times New Roman" panose="02020603050405020304" pitchFamily="18" charset="0"/>
                <a:ea typeface="DengXian" panose="02010600030101010101" pitchFamily="2" charset="-122"/>
                <a:cs typeface="SimSun" panose="02010600030101010101" pitchFamily="2" charset="-122"/>
              </a:rPr>
              <a:t>传统的机器人控制（基于数学模型的控制）在固定环境效果良好。</a:t>
            </a:r>
            <a:endParaRPr lang="en-FR" sz="1800" dirty="0">
              <a:effectLst/>
              <a:latin typeface="Times New Roman" panose="02020603050405020304" pitchFamily="18" charset="0"/>
              <a:ea typeface="Times New Roman" panose="02020603050405020304" pitchFamily="18" charset="0"/>
            </a:endParaRPr>
          </a:p>
          <a:p>
            <a:pPr lvl="0">
              <a:lnSpc>
                <a:spcPct val="200000"/>
              </a:lnSpc>
              <a:buSzPts val="1000"/>
              <a:buFont typeface="Wingdings" pitchFamily="2" charset="2"/>
              <a:buChar char="Ø"/>
            </a:pPr>
            <a:r>
              <a:rPr lang="zh-CN" sz="1800" b="1" dirty="0">
                <a:effectLst/>
                <a:latin typeface="Times New Roman" panose="02020603050405020304" pitchFamily="18" charset="0"/>
                <a:ea typeface="DengXian" panose="02010600030101010101" pitchFamily="2" charset="-122"/>
                <a:cs typeface="SimSun" panose="02010600030101010101" pitchFamily="2" charset="-122"/>
              </a:rPr>
              <a:t>柔性组织变形</a:t>
            </a:r>
            <a:r>
              <a:rPr lang="zh-CN" sz="1800" b="1" dirty="0">
                <a:effectLst/>
                <a:latin typeface="Times New Roman" panose="02020603050405020304" pitchFamily="18" charset="0"/>
                <a:ea typeface="DengXian" panose="02010600030101010101" pitchFamily="2" charset="-122"/>
              </a:rPr>
              <a:t> </a:t>
            </a:r>
            <a:r>
              <a:rPr lang="zh-CN" sz="1800" b="1" dirty="0">
                <a:effectLst/>
                <a:latin typeface="Times New Roman" panose="02020603050405020304" pitchFamily="18" charset="0"/>
                <a:ea typeface="DengXian" panose="02010600030101010101" pitchFamily="2" charset="-122"/>
                <a:cs typeface="SimSun" panose="02010600030101010101" pitchFamily="2" charset="-122"/>
              </a:rPr>
              <a:t>：</a:t>
            </a:r>
            <a:r>
              <a:rPr lang="zh-CN" sz="1800" dirty="0">
                <a:effectLst/>
                <a:latin typeface="Times New Roman" panose="02020603050405020304" pitchFamily="18" charset="0"/>
                <a:ea typeface="DengXian" panose="02010600030101010101" pitchFamily="2" charset="-122"/>
                <a:cs typeface="SimSun" panose="02010600030101010101" pitchFamily="2" charset="-122"/>
              </a:rPr>
              <a:t>当机械臂在抓取软组织，组织会变形、滑动。这种物理变化过于复杂，很难用传统的数学公式精确计算。</a:t>
            </a:r>
            <a:r>
              <a:rPr lang="en-FR" sz="1800" dirty="0">
                <a:effectLst/>
                <a:latin typeface="DengXian" panose="02010600030101010101" pitchFamily="2" charset="-122"/>
                <a:ea typeface="Times New Roman" panose="02020603050405020304" pitchFamily="18" charset="0"/>
              </a:rPr>
              <a:t>RL </a:t>
            </a:r>
            <a:r>
              <a:rPr lang="zh-CN" sz="1800" dirty="0">
                <a:effectLst/>
                <a:latin typeface="Times New Roman" panose="02020603050405020304" pitchFamily="18" charset="0"/>
                <a:ea typeface="DengXian" panose="02010600030101010101" pitchFamily="2" charset="-122"/>
                <a:cs typeface="SimSun" panose="02010600030101010101" pitchFamily="2" charset="-122"/>
              </a:rPr>
              <a:t>可以通过</a:t>
            </a:r>
            <a:r>
              <a:rPr lang="en-FR" sz="1800" dirty="0">
                <a:effectLst/>
                <a:latin typeface="DengXian" panose="02010600030101010101" pitchFamily="2" charset="-122"/>
                <a:ea typeface="Times New Roman" panose="02020603050405020304" pitchFamily="18" charset="0"/>
              </a:rPr>
              <a:t>“</a:t>
            </a:r>
            <a:r>
              <a:rPr lang="zh-CN" sz="1800" dirty="0">
                <a:effectLst/>
                <a:latin typeface="Times New Roman" panose="02020603050405020304" pitchFamily="18" charset="0"/>
                <a:ea typeface="DengXian" panose="02010600030101010101" pitchFamily="2" charset="-122"/>
                <a:cs typeface="SimSun" panose="02010600030101010101" pitchFamily="2" charset="-122"/>
              </a:rPr>
              <a:t>试错</a:t>
            </a:r>
            <a:r>
              <a:rPr lang="en-FR" sz="1800" dirty="0">
                <a:effectLst/>
                <a:latin typeface="DengXian" panose="02010600030101010101" pitchFamily="2" charset="-122"/>
                <a:ea typeface="Times New Roman" panose="02020603050405020304" pitchFamily="18" charset="0"/>
              </a:rPr>
              <a:t>”</a:t>
            </a:r>
            <a:r>
              <a:rPr lang="zh-CN" sz="1800" dirty="0">
                <a:effectLst/>
                <a:latin typeface="Times New Roman" panose="02020603050405020304" pitchFamily="18" charset="0"/>
                <a:ea typeface="DengXian" panose="02010600030101010101" pitchFamily="2" charset="-122"/>
                <a:cs typeface="SimSun" panose="02010600030101010101" pitchFamily="2" charset="-122"/>
              </a:rPr>
              <a:t>来适应这种动态变化。</a:t>
            </a:r>
            <a:endParaRPr lang="en-FR" sz="1800" dirty="0">
              <a:effectLst/>
              <a:latin typeface="Times New Roman" panose="02020603050405020304" pitchFamily="18" charset="0"/>
              <a:ea typeface="Times New Roman" panose="02020603050405020304" pitchFamily="18" charset="0"/>
            </a:endParaRPr>
          </a:p>
          <a:p>
            <a:pPr lvl="0">
              <a:lnSpc>
                <a:spcPct val="200000"/>
              </a:lnSpc>
              <a:buSzPts val="1000"/>
              <a:buFont typeface="Wingdings" pitchFamily="2" charset="2"/>
              <a:buChar char="Ø"/>
            </a:pPr>
            <a:r>
              <a:rPr lang="zh-CN" sz="1800" b="1" dirty="0">
                <a:effectLst/>
                <a:latin typeface="Times New Roman" panose="02020603050405020304" pitchFamily="18" charset="0"/>
                <a:ea typeface="DengXian" panose="02010600030101010101" pitchFamily="2" charset="-122"/>
                <a:cs typeface="SimSun" panose="02010600030101010101" pitchFamily="2" charset="-122"/>
              </a:rPr>
              <a:t>接触丰富</a:t>
            </a:r>
            <a:r>
              <a:rPr lang="en-FR" sz="1800" b="1" dirty="0">
                <a:effectLst/>
                <a:latin typeface="DengXian" panose="02010600030101010101" pitchFamily="2" charset="-122"/>
                <a:ea typeface="Times New Roman" panose="02020603050405020304" pitchFamily="18" charset="0"/>
              </a:rPr>
              <a:t> (Contact-Rich)</a:t>
            </a:r>
            <a:r>
              <a:rPr lang="zh-CN" sz="1800" b="1" dirty="0">
                <a:effectLst/>
                <a:latin typeface="Times New Roman" panose="02020603050405020304" pitchFamily="18" charset="0"/>
                <a:ea typeface="DengXian" panose="02010600030101010101" pitchFamily="2" charset="-122"/>
                <a:cs typeface="SimSun" panose="02010600030101010101" pitchFamily="2" charset="-122"/>
              </a:rPr>
              <a:t>：</a:t>
            </a:r>
            <a:r>
              <a:rPr lang="zh-CN" sz="1800" dirty="0">
                <a:effectLst/>
                <a:latin typeface="Times New Roman" panose="02020603050405020304" pitchFamily="18" charset="0"/>
                <a:ea typeface="DengXian" panose="02010600030101010101" pitchFamily="2" charset="-122"/>
              </a:rPr>
              <a:t> </a:t>
            </a:r>
            <a:r>
              <a:rPr lang="zh-CN" sz="1800" dirty="0">
                <a:effectLst/>
                <a:latin typeface="Times New Roman" panose="02020603050405020304" pitchFamily="18" charset="0"/>
                <a:ea typeface="DengXian" panose="02010600030101010101" pitchFamily="2" charset="-122"/>
                <a:cs typeface="SimSun" panose="02010600030101010101" pitchFamily="2" charset="-122"/>
              </a:rPr>
              <a:t>手术全是接触</a:t>
            </a:r>
            <a:r>
              <a:rPr lang="en-FR" sz="1800" dirty="0">
                <a:effectLst/>
                <a:latin typeface="DengXian" panose="02010600030101010101" pitchFamily="2" charset="-122"/>
                <a:ea typeface="Times New Roman" panose="02020603050405020304" pitchFamily="18" charset="0"/>
              </a:rPr>
              <a:t>——</a:t>
            </a:r>
            <a:r>
              <a:rPr lang="zh-CN" sz="1800" dirty="0">
                <a:effectLst/>
                <a:latin typeface="Times New Roman" panose="02020603050405020304" pitchFamily="18" charset="0"/>
                <a:ea typeface="DengXian" panose="02010600030101010101" pitchFamily="2" charset="-122"/>
                <a:cs typeface="SimSun" panose="02010600030101010101" pitchFamily="2" charset="-122"/>
              </a:rPr>
              <a:t>缝合、打结、拨开组织。传统控制很难处理这种复杂的力反馈和接触状态，</a:t>
            </a:r>
            <a:r>
              <a:rPr lang="en-FR" sz="1800" dirty="0">
                <a:effectLst/>
                <a:latin typeface="DengXian" panose="02010600030101010101" pitchFamily="2" charset="-122"/>
                <a:ea typeface="Times New Roman" panose="02020603050405020304" pitchFamily="18" charset="0"/>
              </a:rPr>
              <a:t>RL </a:t>
            </a:r>
            <a:r>
              <a:rPr lang="zh-CN" sz="1800" dirty="0">
                <a:effectLst/>
                <a:latin typeface="Times New Roman" panose="02020603050405020304" pitchFamily="18" charset="0"/>
                <a:ea typeface="DengXian" panose="02010600030101010101" pitchFamily="2" charset="-122"/>
                <a:cs typeface="SimSun" panose="02010600030101010101" pitchFamily="2" charset="-122"/>
              </a:rPr>
              <a:t>擅长从接触中学习策略。</a:t>
            </a:r>
            <a:endParaRPr lang="en-FR" sz="1800" dirty="0">
              <a:effectLst/>
              <a:latin typeface="Times New Roman" panose="02020603050405020304" pitchFamily="18" charset="0"/>
              <a:ea typeface="Times New Roman" panose="02020603050405020304" pitchFamily="18" charset="0"/>
            </a:endParaRPr>
          </a:p>
          <a:p>
            <a:pPr lvl="0">
              <a:lnSpc>
                <a:spcPct val="200000"/>
              </a:lnSpc>
              <a:buSzPts val="1000"/>
              <a:buFont typeface="Wingdings" pitchFamily="2" charset="2"/>
              <a:buChar char="Ø"/>
            </a:pPr>
            <a:r>
              <a:rPr lang="zh-CN" sz="1800" b="1" dirty="0">
                <a:effectLst/>
                <a:latin typeface="Times New Roman" panose="02020603050405020304" pitchFamily="18" charset="0"/>
                <a:ea typeface="DengXian" panose="02010600030101010101" pitchFamily="2" charset="-122"/>
                <a:cs typeface="SimSun" panose="02010600030101010101" pitchFamily="2" charset="-122"/>
              </a:rPr>
              <a:t>任务的泛化性：</a:t>
            </a:r>
            <a:r>
              <a:rPr lang="zh-CN" sz="1800" dirty="0">
                <a:effectLst/>
                <a:latin typeface="Times New Roman" panose="02020603050405020304" pitchFamily="18" charset="0"/>
                <a:ea typeface="DengXian" panose="02010600030101010101" pitchFamily="2" charset="-122"/>
              </a:rPr>
              <a:t> </a:t>
            </a:r>
            <a:r>
              <a:rPr lang="zh-CN" sz="1800" dirty="0">
                <a:effectLst/>
                <a:latin typeface="Times New Roman" panose="02020603050405020304" pitchFamily="18" charset="0"/>
                <a:ea typeface="DengXian" panose="02010600030101010101" pitchFamily="2" charset="-122"/>
                <a:cs typeface="SimSun" panose="02010600030101010101" pitchFamily="2" charset="-122"/>
              </a:rPr>
              <a:t>传统写代码是写死的（例如：只能在坐标</a:t>
            </a:r>
            <a:r>
              <a:rPr lang="en-FR" sz="1800" dirty="0">
                <a:effectLst/>
                <a:latin typeface="DengXian" panose="02010600030101010101" pitchFamily="2" charset="-122"/>
                <a:ea typeface="Times New Roman" panose="02020603050405020304" pitchFamily="18" charset="0"/>
              </a:rPr>
              <a:t>A</a:t>
            </a:r>
            <a:r>
              <a:rPr lang="zh-CN" sz="1800" dirty="0">
                <a:effectLst/>
                <a:latin typeface="Times New Roman" panose="02020603050405020304" pitchFamily="18" charset="0"/>
                <a:ea typeface="DengXian" panose="02010600030101010101" pitchFamily="2" charset="-122"/>
                <a:cs typeface="SimSun" panose="02010600030101010101" pitchFamily="2" charset="-122"/>
              </a:rPr>
              <a:t>抓针）。</a:t>
            </a:r>
            <a:r>
              <a:rPr lang="en-FR" sz="1800" dirty="0">
                <a:effectLst/>
                <a:latin typeface="DengXian" panose="02010600030101010101" pitchFamily="2" charset="-122"/>
                <a:ea typeface="Times New Roman" panose="02020603050405020304" pitchFamily="18" charset="0"/>
              </a:rPr>
              <a:t>RL </a:t>
            </a:r>
            <a:r>
              <a:rPr lang="zh-CN" sz="1800" dirty="0">
                <a:effectLst/>
                <a:latin typeface="Times New Roman" panose="02020603050405020304" pitchFamily="18" charset="0"/>
                <a:ea typeface="DengXian" panose="02010600030101010101" pitchFamily="2" charset="-122"/>
                <a:cs typeface="SimSun" panose="02010600030101010101" pitchFamily="2" charset="-122"/>
              </a:rPr>
              <a:t>训练出的模型，</a:t>
            </a:r>
            <a:r>
              <a:rPr lang="zh-CN" sz="1800" dirty="0">
                <a:effectLst/>
                <a:latin typeface="Times New Roman" panose="02020603050405020304" pitchFamily="18" charset="0"/>
                <a:ea typeface="DengXian" panose="02010600030101010101" pitchFamily="2" charset="-122"/>
              </a:rPr>
              <a:t>如果训练得好，即使针稍微偏了一点，或者光线变了一点，机器人也能像人一样做出调整。</a:t>
            </a:r>
            <a:endParaRPr lang="en-FR" sz="1800" dirty="0">
              <a:effectLst/>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264626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3A05E-5432-E165-912A-404A94B92E5D}"/>
              </a:ext>
            </a:extLst>
          </p:cNvPr>
          <p:cNvSpPr>
            <a:spLocks noGrp="1"/>
          </p:cNvSpPr>
          <p:nvPr>
            <p:ph type="title"/>
          </p:nvPr>
        </p:nvSpPr>
        <p:spPr>
          <a:xfrm>
            <a:off x="838200" y="365125"/>
            <a:ext cx="10515600" cy="611905"/>
          </a:xfrm>
        </p:spPr>
        <p:txBody>
          <a:bodyPr>
            <a:normAutofit fontScale="90000"/>
          </a:bodyPr>
          <a:lstStyle/>
          <a:p>
            <a:r>
              <a:rPr lang="zh-CN" b="1" dirty="0">
                <a:effectLst/>
                <a:ea typeface="DengXian" panose="02010600030101010101" pitchFamily="2" charset="-122"/>
                <a:cs typeface="Times New Roman" panose="02020603050405020304" pitchFamily="18" charset="0"/>
              </a:rPr>
              <a:t>强化学习是什么？</a:t>
            </a:r>
            <a:r>
              <a:rPr lang="en-FR" dirty="0">
                <a:effectLst/>
              </a:rPr>
              <a:t> </a:t>
            </a:r>
            <a:endParaRPr lang="fr-FR" dirty="0"/>
          </a:p>
        </p:txBody>
      </p:sp>
      <p:sp>
        <p:nvSpPr>
          <p:cNvPr id="3" name="Content Placeholder 2">
            <a:extLst>
              <a:ext uri="{FF2B5EF4-FFF2-40B4-BE49-F238E27FC236}">
                <a16:creationId xmlns:a16="http://schemas.microsoft.com/office/drawing/2014/main" id="{0FD7856A-BC3D-003B-30AD-45F9A8EAAC13}"/>
              </a:ext>
            </a:extLst>
          </p:cNvPr>
          <p:cNvSpPr>
            <a:spLocks noGrp="1"/>
          </p:cNvSpPr>
          <p:nvPr>
            <p:ph idx="1"/>
          </p:nvPr>
        </p:nvSpPr>
        <p:spPr>
          <a:xfrm>
            <a:off x="838200" y="1064712"/>
            <a:ext cx="10515600" cy="5112251"/>
          </a:xfrm>
        </p:spPr>
        <p:txBody>
          <a:bodyPr>
            <a:normAutofit/>
          </a:bodyPr>
          <a:lstStyle/>
          <a:p>
            <a:pPr>
              <a:lnSpc>
                <a:spcPct val="150000"/>
              </a:lnSpc>
            </a:pPr>
            <a:r>
              <a:rPr lang="zh-CN" sz="1600" kern="100" dirty="0">
                <a:effectLst/>
                <a:latin typeface="Calibri" panose="020F0502020204030204" pitchFamily="34" charset="0"/>
                <a:ea typeface="DengXian" panose="02010600030101010101" pitchFamily="2" charset="-122"/>
                <a:cs typeface="Times New Roman" panose="02020603050405020304" pitchFamily="18" charset="0"/>
              </a:rPr>
              <a:t>强化学习的是一个策略，策略就是一个函数（或者神经网络），它的功能是：</a:t>
            </a:r>
            <a:endParaRPr lang="en-FR" sz="24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50000"/>
              </a:lnSpc>
              <a:buFont typeface="Calibri" panose="020F0502020204030204" pitchFamily="34" charset="0"/>
              <a:buChar char="-"/>
            </a:pPr>
            <a:r>
              <a:rPr lang="zh-CN" sz="1600" kern="100" dirty="0">
                <a:effectLst/>
                <a:latin typeface="Calibri" panose="020F0502020204030204" pitchFamily="34" charset="0"/>
                <a:ea typeface="DengXian" panose="02010600030101010101" pitchFamily="2" charset="-122"/>
                <a:cs typeface="Times New Roman" panose="02020603050405020304" pitchFamily="18" charset="0"/>
              </a:rPr>
              <a:t>输入</a:t>
            </a: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 (Input)</a:t>
            </a:r>
            <a:r>
              <a:rPr lang="zh-CN" sz="1600" kern="100" dirty="0">
                <a:effectLst/>
                <a:latin typeface="DengXian" panose="02010600030101010101" pitchFamily="2" charset="-122"/>
                <a:ea typeface="DengXian" panose="02010600030101010101" pitchFamily="2" charset="-122"/>
                <a:cs typeface="Times New Roman" panose="02020603050405020304" pitchFamily="18" charset="0"/>
              </a:rPr>
              <a:t>： 现在的环境是什么样的？（比如：针在哪里？机械臂在哪里？组织有没有被拉扯？）</a:t>
            </a:r>
            <a:endParaRPr lang="en-FR" sz="24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50000"/>
              </a:lnSpc>
              <a:buFont typeface="Calibri" panose="020F0502020204030204" pitchFamily="34" charset="0"/>
              <a:buChar char="-"/>
            </a:pPr>
            <a:r>
              <a:rPr lang="zh-CN" sz="1600" kern="100" dirty="0">
                <a:effectLst/>
                <a:latin typeface="Calibri" panose="020F0502020204030204" pitchFamily="34" charset="0"/>
                <a:ea typeface="DengXian" panose="02010600030101010101" pitchFamily="2" charset="-122"/>
                <a:cs typeface="Times New Roman" panose="02020603050405020304" pitchFamily="18" charset="0"/>
              </a:rPr>
              <a:t>输出</a:t>
            </a: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 (Output)</a:t>
            </a:r>
            <a:r>
              <a:rPr lang="zh-CN" sz="1600" kern="100" dirty="0">
                <a:effectLst/>
                <a:latin typeface="DengXian" panose="02010600030101010101" pitchFamily="2" charset="-122"/>
                <a:ea typeface="DengXian" panose="02010600030101010101" pitchFamily="2" charset="-122"/>
                <a:cs typeface="Times New Roman" panose="02020603050405020304" pitchFamily="18" charset="0"/>
              </a:rPr>
              <a:t>： 我现在该怎么动？（比如：手腕旋转</a:t>
            </a: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3</a:t>
            </a:r>
            <a:r>
              <a:rPr lang="zh-CN" sz="1600" kern="100" dirty="0">
                <a:effectLst/>
                <a:latin typeface="DengXian" panose="02010600030101010101" pitchFamily="2" charset="-122"/>
                <a:ea typeface="DengXian" panose="02010600030101010101" pitchFamily="2" charset="-122"/>
                <a:cs typeface="Times New Roman" panose="02020603050405020304" pitchFamily="18" charset="0"/>
              </a:rPr>
              <a:t>度，向前进</a:t>
            </a: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1</a:t>
            </a:r>
            <a:r>
              <a:rPr lang="zh-CN" sz="1600" kern="100" dirty="0">
                <a:effectLst/>
                <a:latin typeface="DengXian" panose="02010600030101010101" pitchFamily="2" charset="-122"/>
                <a:ea typeface="DengXian" panose="02010600030101010101" pitchFamily="2" charset="-122"/>
                <a:cs typeface="Times New Roman" panose="02020603050405020304" pitchFamily="18" charset="0"/>
              </a:rPr>
              <a:t>毫米，夹爪闭合）。</a:t>
            </a:r>
            <a:endParaRPr lang="en-FR" sz="24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50000"/>
              </a:lnSpc>
              <a:buFont typeface="Calibri" panose="020F0502020204030204" pitchFamily="34" charset="0"/>
              <a:buChar char="-"/>
            </a:pP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RL</a:t>
            </a:r>
            <a:r>
              <a:rPr lang="zh-CN" sz="1600" kern="100" dirty="0">
                <a:effectLst/>
                <a:latin typeface="DengXian" panose="02010600030101010101" pitchFamily="2" charset="-122"/>
                <a:ea typeface="DengXian" panose="02010600030101010101" pitchFamily="2" charset="-122"/>
                <a:cs typeface="Times New Roman" panose="02020603050405020304" pitchFamily="18" charset="0"/>
              </a:rPr>
              <a:t>最大的特点在于最大化奖励。模型在学</a:t>
            </a: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sz="1600" kern="100" dirty="0">
                <a:effectLst/>
                <a:latin typeface="DengXian" panose="02010600030101010101" pitchFamily="2" charset="-122"/>
                <a:ea typeface="DengXian" panose="02010600030101010101" pitchFamily="2" charset="-122"/>
                <a:cs typeface="Times New Roman" panose="02020603050405020304" pitchFamily="18" charset="0"/>
              </a:rPr>
              <a:t>怎么做才能得分最高</a:t>
            </a: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sz="1600" kern="100" dirty="0">
                <a:effectLst/>
                <a:latin typeface="DengXian" panose="02010600030101010101" pitchFamily="2" charset="-122"/>
                <a:ea typeface="DengXian" panose="02010600030101010101" pitchFamily="2" charset="-122"/>
                <a:cs typeface="Times New Roman" panose="02020603050405020304" pitchFamily="18" charset="0"/>
              </a:rPr>
              <a:t>，而不是在纯粹的拟合数据。</a:t>
            </a:r>
            <a:endParaRPr lang="en-FR" sz="2400" kern="1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50000"/>
              </a:lnSpc>
            </a:pPr>
            <a:endParaRPr lang="en-US" altLang="zh-CN" sz="1600" kern="1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50000"/>
              </a:lnSpc>
            </a:pPr>
            <a:r>
              <a:rPr lang="zh-CN" sz="1600" kern="100" dirty="0">
                <a:effectLst/>
                <a:latin typeface="Calibri" panose="020F0502020204030204" pitchFamily="34" charset="0"/>
                <a:ea typeface="DengXian" panose="02010600030101010101" pitchFamily="2" charset="-122"/>
                <a:cs typeface="Times New Roman" panose="02020603050405020304" pitchFamily="18" charset="0"/>
              </a:rPr>
              <a:t>两种技术路线：</a:t>
            </a:r>
            <a:endParaRPr lang="en-FR" sz="24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50000"/>
              </a:lnSpc>
              <a:buFont typeface="Calibri" panose="020F0502020204030204" pitchFamily="34" charset="0"/>
              <a:buChar char="-"/>
            </a:pP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End</a:t>
            </a:r>
            <a:r>
              <a:rPr lang="fr-FR" sz="1600" kern="100" dirty="0">
                <a:effectLst/>
                <a:latin typeface="DengXian" panose="02010600030101010101" pitchFamily="2" charset="-122"/>
                <a:ea typeface="DengXian" panose="02010600030101010101" pitchFamily="2" charset="-122"/>
                <a:cs typeface="Times New Roman" panose="02020603050405020304" pitchFamily="18" charset="0"/>
              </a:rPr>
              <a:t>-to-End</a:t>
            </a:r>
            <a:r>
              <a:rPr lang="zh-CN" sz="1600" kern="100" dirty="0">
                <a:effectLst/>
                <a:latin typeface="Calibri" panose="020F0502020204030204" pitchFamily="34" charset="0"/>
                <a:ea typeface="DengXian" panose="02010600030101010101" pitchFamily="2" charset="-122"/>
                <a:cs typeface="Times New Roman" panose="02020603050405020304" pitchFamily="18" charset="0"/>
              </a:rPr>
              <a:t>端到端</a:t>
            </a:r>
            <a:endParaRPr lang="en-FR" sz="2400" kern="100" dirty="0">
              <a:effectLst/>
              <a:latin typeface="Calibri" panose="020F0502020204030204" pitchFamily="34" charset="0"/>
              <a:ea typeface="DengXian" panose="02010600030101010101" pitchFamily="2" charset="-122"/>
              <a:cs typeface="Times New Roman" panose="02020603050405020304" pitchFamily="18" charset="0"/>
            </a:endParaRPr>
          </a:p>
          <a:p>
            <a:pPr marL="742950" lvl="1" indent="-285750">
              <a:lnSpc>
                <a:spcPct val="150000"/>
              </a:lnSpc>
              <a:buFont typeface="Courier New" panose="02070309020205020404" pitchFamily="49" charset="0"/>
              <a:buChar char="o"/>
            </a:pPr>
            <a:r>
              <a:rPr lang="zh-CN" sz="1600" kern="100" dirty="0">
                <a:effectLst/>
                <a:latin typeface="Calibri" panose="020F0502020204030204" pitchFamily="34" charset="0"/>
                <a:ea typeface="DengXian" panose="02010600030101010101" pitchFamily="2" charset="-122"/>
                <a:cs typeface="Times New Roman" panose="02020603050405020304" pitchFamily="18" charset="0"/>
              </a:rPr>
              <a:t>机制： 神经网络的输入直接是原始图像，输出直接是电机动作。</a:t>
            </a:r>
            <a:endParaRPr lang="en-FR"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50000"/>
              </a:lnSpc>
              <a:buFont typeface="Calibri" panose="020F0502020204030204" pitchFamily="34" charset="0"/>
              <a:buChar char="-"/>
            </a:pPr>
            <a:r>
              <a:rPr lang="fr-FR" sz="1600" kern="100" dirty="0">
                <a:effectLst/>
                <a:latin typeface="DengXian" panose="02010600030101010101" pitchFamily="2" charset="-122"/>
                <a:ea typeface="DengXian" panose="02010600030101010101" pitchFamily="2" charset="-122"/>
                <a:cs typeface="Times New Roman" panose="02020603050405020304" pitchFamily="18" charset="0"/>
              </a:rPr>
              <a:t>State-</a:t>
            </a:r>
            <a:r>
              <a:rPr lang="fr-FR" sz="1600" kern="100" dirty="0" err="1">
                <a:effectLst/>
                <a:latin typeface="DengXian" panose="02010600030101010101" pitchFamily="2" charset="-122"/>
                <a:ea typeface="DengXian" panose="02010600030101010101" pitchFamily="2" charset="-122"/>
                <a:cs typeface="Times New Roman" panose="02020603050405020304" pitchFamily="18" charset="0"/>
              </a:rPr>
              <a:t>Based</a:t>
            </a:r>
            <a:r>
              <a:rPr lang="fr-FR" sz="1600" kern="100" dirty="0">
                <a:effectLst/>
                <a:latin typeface="DengXian" panose="02010600030101010101" pitchFamily="2" charset="-122"/>
                <a:ea typeface="DengXian" panose="02010600030101010101" pitchFamily="2" charset="-122"/>
                <a:cs typeface="Times New Roman" panose="02020603050405020304" pitchFamily="18" charset="0"/>
              </a:rPr>
              <a:t> RL</a:t>
            </a:r>
            <a:r>
              <a:rPr lang="zh-CN" sz="1600" kern="100" dirty="0">
                <a:effectLst/>
                <a:latin typeface="Calibri" panose="020F0502020204030204" pitchFamily="34" charset="0"/>
                <a:ea typeface="DengXian" panose="02010600030101010101" pitchFamily="2" charset="-122"/>
                <a:cs typeface="Times New Roman" panose="02020603050405020304" pitchFamily="18" charset="0"/>
              </a:rPr>
              <a:t>，分工</a:t>
            </a:r>
            <a:endParaRPr lang="en-FR" sz="2400" kern="100" dirty="0">
              <a:effectLst/>
              <a:latin typeface="Calibri" panose="020F0502020204030204" pitchFamily="34" charset="0"/>
              <a:ea typeface="DengXian" panose="02010600030101010101" pitchFamily="2" charset="-122"/>
              <a:cs typeface="Times New Roman" panose="02020603050405020304" pitchFamily="18" charset="0"/>
            </a:endParaRPr>
          </a:p>
          <a:p>
            <a:pPr marL="742950" lvl="1" indent="-285750">
              <a:lnSpc>
                <a:spcPct val="150000"/>
              </a:lnSpc>
              <a:buFont typeface="Courier New" panose="02070309020205020404" pitchFamily="49" charset="0"/>
              <a:buChar char="o"/>
            </a:pPr>
            <a:r>
              <a:rPr lang="zh-CN" sz="1600" kern="100" dirty="0">
                <a:effectLst/>
                <a:latin typeface="Calibri" panose="020F0502020204030204" pitchFamily="34" charset="0"/>
                <a:ea typeface="DengXian" panose="02010600030101010101" pitchFamily="2" charset="-122"/>
                <a:cs typeface="Times New Roman" panose="02020603050405020304" pitchFamily="18" charset="0"/>
              </a:rPr>
              <a:t>视觉部分单独一个模块（比如用传统的</a:t>
            </a: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CV</a:t>
            </a:r>
            <a:r>
              <a:rPr lang="zh-CN" sz="1600" kern="100" dirty="0">
                <a:effectLst/>
                <a:latin typeface="DengXian" panose="02010600030101010101" pitchFamily="2" charset="-122"/>
                <a:ea typeface="DengXian" panose="02010600030101010101" pitchFamily="2" charset="-122"/>
                <a:cs typeface="Times New Roman" panose="02020603050405020304" pitchFamily="18" charset="0"/>
              </a:rPr>
              <a:t>算法或监督学习）。负责观察环境，告诉系统：</a:t>
            </a: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sz="1600" kern="100" dirty="0">
                <a:effectLst/>
                <a:latin typeface="DengXian" panose="02010600030101010101" pitchFamily="2" charset="-122"/>
                <a:ea typeface="DengXian" panose="02010600030101010101" pitchFamily="2" charset="-122"/>
                <a:cs typeface="Times New Roman" panose="02020603050405020304" pitchFamily="18" charset="0"/>
              </a:rPr>
              <a:t>针尖的坐标是</a:t>
            </a: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 (x, y, z)</a:t>
            </a:r>
            <a:r>
              <a:rPr lang="zh-CN" sz="1600" kern="100" dirty="0">
                <a:effectLst/>
                <a:latin typeface="DengXian" panose="02010600030101010101" pitchFamily="2" charset="-122"/>
                <a:ea typeface="DengXian" panose="02010600030101010101" pitchFamily="2" charset="-122"/>
                <a:cs typeface="Times New Roman" panose="02020603050405020304" pitchFamily="18" charset="0"/>
              </a:rPr>
              <a:t>，角度是</a:t>
            </a: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 \theta”</a:t>
            </a:r>
            <a:r>
              <a:rPr lang="zh-CN" sz="1600" kern="100" dirty="0">
                <a:effectLst/>
                <a:latin typeface="DengXian" panose="02010600030101010101" pitchFamily="2" charset="-122"/>
                <a:ea typeface="DengXian" panose="02010600030101010101" pitchFamily="2" charset="-122"/>
                <a:cs typeface="Times New Roman" panose="02020603050405020304" pitchFamily="18" charset="0"/>
              </a:rPr>
              <a:t>。</a:t>
            </a:r>
            <a:endParaRPr lang="en-FR"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41026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AE9E0-EC25-0485-A8A3-F0BA638CE2A7}"/>
              </a:ext>
            </a:extLst>
          </p:cNvPr>
          <p:cNvSpPr>
            <a:spLocks noGrp="1"/>
          </p:cNvSpPr>
          <p:nvPr>
            <p:ph type="title"/>
          </p:nvPr>
        </p:nvSpPr>
        <p:spPr/>
        <p:txBody>
          <a:bodyPr/>
          <a:lstStyle/>
          <a:p>
            <a:r>
              <a:rPr lang="en-US" altLang="zh-CN" dirty="0"/>
              <a:t>1</a:t>
            </a:r>
            <a:r>
              <a:rPr lang="zh-CN" altLang="en-US" dirty="0"/>
              <a:t>）</a:t>
            </a:r>
            <a:r>
              <a:rPr lang="en-US" altLang="zh-CN" dirty="0"/>
              <a:t>Assets</a:t>
            </a:r>
            <a:endParaRPr lang="fr-FR" dirty="0"/>
          </a:p>
        </p:txBody>
      </p:sp>
      <p:sp>
        <p:nvSpPr>
          <p:cNvPr id="3" name="Content Placeholder 2">
            <a:extLst>
              <a:ext uri="{FF2B5EF4-FFF2-40B4-BE49-F238E27FC236}">
                <a16:creationId xmlns:a16="http://schemas.microsoft.com/office/drawing/2014/main" id="{3C33DDBF-9B17-9221-298B-9D4F4A927009}"/>
              </a:ext>
            </a:extLst>
          </p:cNvPr>
          <p:cNvSpPr>
            <a:spLocks noGrp="1"/>
          </p:cNvSpPr>
          <p:nvPr>
            <p:ph idx="1"/>
          </p:nvPr>
        </p:nvSpPr>
        <p:spPr/>
        <p:txBody>
          <a:bodyPr/>
          <a:lstStyle/>
          <a:p>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项目提供了一个兼容</a:t>
            </a:r>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 Gym </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风格</a:t>
            </a:r>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 API </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的环境，用于手术机器人的强化学习任务。它包含</a:t>
            </a:r>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 10 </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个与手术相关的任务（如缝合针拾取、纱布检索等），并提供了</a:t>
            </a:r>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 PSM </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和</a:t>
            </a:r>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 ECM </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等手术机器人模型</a:t>
            </a:r>
            <a:r>
              <a:rPr lang="zh-CN" sz="1800" kern="100" dirty="0">
                <a:effectLst/>
                <a:latin typeface="Calibri" panose="020F0502020204030204" pitchFamily="34" charset="0"/>
                <a:ea typeface="DengXian" panose="02010600030101010101" pitchFamily="2" charset="-122"/>
                <a:cs typeface="SimSun" panose="02010600030101010101" pitchFamily="2" charset="-122"/>
              </a:rPr>
              <a:t>。</a:t>
            </a:r>
            <a:r>
              <a:rPr lang="en-FR" sz="1800" kern="100" dirty="0">
                <a:effectLst/>
                <a:latin typeface="DengXian" panose="02010600030101010101" pitchFamily="2" charset="-122"/>
                <a:ea typeface="DengXian" panose="02010600030101010101" pitchFamily="2" charset="-122"/>
                <a:cs typeface="SimSun" panose="02010600030101010101" pitchFamily="2" charset="-122"/>
              </a:rPr>
              <a:t>README</a:t>
            </a:r>
            <a:r>
              <a:rPr lang="zh-CN" sz="1800" kern="100" dirty="0">
                <a:effectLst/>
                <a:latin typeface="DengXian" panose="02010600030101010101" pitchFamily="2" charset="-122"/>
                <a:ea typeface="DengXian" panose="02010600030101010101" pitchFamily="2" charset="-122"/>
                <a:cs typeface="SimSun" panose="02010600030101010101" pitchFamily="2" charset="-122"/>
              </a:rPr>
              <a:t>中提到是在</a:t>
            </a:r>
            <a:r>
              <a:rPr lang="en-FR" sz="1800" kern="100" dirty="0">
                <a:effectLst/>
                <a:latin typeface="DengXian" panose="02010600030101010101" pitchFamily="2" charset="-122"/>
                <a:ea typeface="DengXian" panose="02010600030101010101" pitchFamily="2" charset="-122"/>
                <a:cs typeface="SimSun" panose="02010600030101010101" pitchFamily="2" charset="-122"/>
              </a:rPr>
              <a:t>Ubuntu</a:t>
            </a:r>
            <a:r>
              <a:rPr lang="zh-CN" sz="1800" kern="100" dirty="0">
                <a:effectLst/>
                <a:latin typeface="DengXian" panose="02010600030101010101" pitchFamily="2" charset="-122"/>
                <a:ea typeface="DengXian" panose="02010600030101010101" pitchFamily="2" charset="-122"/>
                <a:cs typeface="SimSun" panose="02010600030101010101" pitchFamily="2" charset="-122"/>
              </a:rPr>
              <a:t>系统上构建的</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r>
              <a:rPr lang="fr-FR" dirty="0"/>
              <a:t>Assets</a:t>
            </a:r>
          </a:p>
          <a:p>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/Asset</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目录下存储了与</a:t>
            </a:r>
            <a:r>
              <a:rPr lang="zh-CN" sz="1800" b="1" kern="100" dirty="0">
                <a:effectLst/>
                <a:latin typeface="DengXian" panose="02010600030101010101" pitchFamily="2" charset="-122"/>
                <a:ea typeface="DengXian" panose="02010600030101010101" pitchFamily="2" charset="-122"/>
                <a:cs typeface="Times New Roman" panose="02020603050405020304" pitchFamily="18" charset="0"/>
              </a:rPr>
              <a:t>建模相关的内容</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。文件夹包含对象的网格文件和</a:t>
            </a:r>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URDF</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文件。</a:t>
            </a:r>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dVRK</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网格文件基于</a:t>
            </a:r>
            <a:r>
              <a:rPr lang="en-FR" sz="1800" b="1" kern="100" dirty="0">
                <a:effectLst/>
                <a:latin typeface="DengXian" panose="02010600030101010101" pitchFamily="2" charset="-122"/>
                <a:ea typeface="DengXian" panose="02010600030101010101" pitchFamily="2" charset="-122"/>
                <a:cs typeface="Times New Roman" panose="02020603050405020304" pitchFamily="18" charset="0"/>
              </a:rPr>
              <a:t>AMBF</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en-GB" sz="1800" b="1" dirty="0"/>
              <a:t>AMBF (Asynchronous Multi-Body Framework)</a:t>
            </a:r>
            <a:r>
              <a:rPr lang="en-GB" sz="1800" dirty="0"/>
              <a:t> </a:t>
            </a:r>
            <a:r>
              <a:rPr lang="zh-CN" altLang="en-US" sz="1800" dirty="0"/>
              <a:t>是 </a:t>
            </a:r>
            <a:r>
              <a:rPr lang="en-GB" sz="1800" dirty="0" err="1"/>
              <a:t>dVRK</a:t>
            </a:r>
            <a:r>
              <a:rPr lang="en-GB" sz="1800" dirty="0"/>
              <a:t> </a:t>
            </a:r>
            <a:r>
              <a:rPr lang="zh-CN" altLang="en-US" sz="1800" dirty="0"/>
              <a:t>社区公认的高保真仿真器。</a:t>
            </a:r>
            <a:endPar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需注意</a:t>
            </a:r>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PyBullet</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仅在连杆</a:t>
            </a: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是顺序排列</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时计算正向</a:t>
            </a:r>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逆向运动学，而原始</a:t>
            </a:r>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AMBF</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文件不具备此特性。因此</a:t>
            </a:r>
            <a:r>
              <a:rPr lang="zh-CN" sz="1800" b="1" kern="100" dirty="0">
                <a:effectLst/>
                <a:latin typeface="DengXian" panose="02010600030101010101" pitchFamily="2" charset="-122"/>
                <a:ea typeface="DengXian" panose="02010600030101010101" pitchFamily="2" charset="-122"/>
                <a:cs typeface="Times New Roman" panose="02020603050405020304" pitchFamily="18" charset="0"/>
              </a:rPr>
              <a:t>修改了连杆框架</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以启用该功能。</a:t>
            </a:r>
            <a:endPar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为提升</a:t>
            </a:r>
            <a:r>
              <a:rPr lang="zh-CN" sz="1800" b="1" kern="100" dirty="0">
                <a:effectLst/>
                <a:latin typeface="DengXian" panose="02010600030101010101" pitchFamily="2" charset="-122"/>
                <a:ea typeface="DengXian" panose="02010600030101010101" pitchFamily="2" charset="-122"/>
                <a:cs typeface="Times New Roman" panose="02020603050405020304" pitchFamily="18" charset="0"/>
              </a:rPr>
              <a:t>物理模拟稳定性</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（尤其存在物理接触时），采用</a:t>
            </a:r>
            <a:r>
              <a:rPr lang="en-FR" sz="1800" b="1" kern="100" dirty="0">
                <a:effectLst/>
                <a:latin typeface="DengXian" panose="02010600030101010101" pitchFamily="2" charset="-122"/>
                <a:ea typeface="DengXian" panose="02010600030101010101" pitchFamily="2" charset="-122"/>
                <a:cs typeface="Times New Roman" panose="02020603050405020304" pitchFamily="18" charset="0"/>
              </a:rPr>
              <a:t>V-HACD</a:t>
            </a:r>
            <a:r>
              <a:rPr lang="zh-CN" sz="1800" b="1" kern="100" dirty="0">
                <a:effectLst/>
                <a:latin typeface="DengXian" panose="02010600030101010101" pitchFamily="2" charset="-122"/>
                <a:ea typeface="DengXian" panose="02010600030101010101" pitchFamily="2" charset="-122"/>
                <a:cs typeface="Times New Roman" panose="02020603050405020304" pitchFamily="18" charset="0"/>
              </a:rPr>
              <a:t>将视觉网格分解为凸形部件进行碰撞计算</a:t>
            </a:r>
            <a:r>
              <a:rPr lang="zh-CN" altLang="en-US" sz="1800" kern="100" dirty="0">
                <a:latin typeface="DengXian" panose="02010600030101010101" pitchFamily="2" charset="-122"/>
                <a:ea typeface="DengXian" panose="02010600030101010101" pitchFamily="2" charset="-122"/>
                <a:cs typeface="Times New Roman" panose="02020603050405020304" pitchFamily="18" charset="0"/>
              </a:rPr>
              <a:t>。在物理引擎中，复杂的凹面碰撞极其不稳定（容易产生穿模或剧烈弹开）。对于手术场景（细针、薄钳子），如果不做 </a:t>
            </a:r>
            <a:r>
              <a:rPr lang="en-GB" sz="1800" kern="100" dirty="0">
                <a:latin typeface="DengXian" panose="02010600030101010101" pitchFamily="2" charset="-122"/>
                <a:ea typeface="DengXian" panose="02010600030101010101" pitchFamily="2" charset="-122"/>
                <a:cs typeface="Times New Roman" panose="02020603050405020304" pitchFamily="18" charset="0"/>
              </a:rPr>
              <a:t>V-HACD </a:t>
            </a:r>
            <a:r>
              <a:rPr lang="zh-CN" altLang="en-US" sz="1800" kern="100" dirty="0">
                <a:latin typeface="DengXian" panose="02010600030101010101" pitchFamily="2" charset="-122"/>
                <a:ea typeface="DengXian" panose="02010600030101010101" pitchFamily="2" charset="-122"/>
                <a:cs typeface="Times New Roman" panose="02020603050405020304" pitchFamily="18" charset="0"/>
              </a:rPr>
              <a:t>处理，仿真基本上不可用。</a:t>
            </a:r>
            <a:r>
              <a:rPr lang="en-GB" sz="1200" b="0" u="sng" dirty="0">
                <a:solidFill>
                  <a:srgbClr val="000000"/>
                </a:solidFill>
                <a:effectLst/>
                <a:latin typeface="Menlo" panose="020B0609030804020204" pitchFamily="49" charset="0"/>
              </a:rPr>
              <a:t> https://</a:t>
            </a:r>
            <a:r>
              <a:rPr lang="en-GB" sz="1200" b="0" u="sng" dirty="0" err="1">
                <a:solidFill>
                  <a:srgbClr val="000000"/>
                </a:solidFill>
                <a:effectLst/>
                <a:latin typeface="Menlo" panose="020B0609030804020204" pitchFamily="49" charset="0"/>
              </a:rPr>
              <a:t>github.com</a:t>
            </a:r>
            <a:r>
              <a:rPr lang="en-GB" sz="1200" b="0" u="sng" dirty="0">
                <a:solidFill>
                  <a:srgbClr val="000000"/>
                </a:solidFill>
                <a:effectLst/>
                <a:latin typeface="Menlo" panose="020B0609030804020204" pitchFamily="49" charset="0"/>
              </a:rPr>
              <a:t>/</a:t>
            </a:r>
            <a:r>
              <a:rPr lang="en-GB" sz="1200" b="0" u="sng" dirty="0" err="1">
                <a:solidFill>
                  <a:srgbClr val="000000"/>
                </a:solidFill>
                <a:effectLst/>
                <a:latin typeface="Menlo" panose="020B0609030804020204" pitchFamily="49" charset="0"/>
              </a:rPr>
              <a:t>kmammou</a:t>
            </a:r>
            <a:r>
              <a:rPr lang="en-GB" sz="1200" b="0" u="sng" dirty="0">
                <a:solidFill>
                  <a:srgbClr val="000000"/>
                </a:solidFill>
                <a:effectLst/>
                <a:latin typeface="Menlo" panose="020B0609030804020204" pitchFamily="49" charset="0"/>
              </a:rPr>
              <a:t>/v-</a:t>
            </a:r>
            <a:r>
              <a:rPr lang="en-GB" sz="1200" b="0" u="sng" dirty="0" err="1">
                <a:solidFill>
                  <a:srgbClr val="000000"/>
                </a:solidFill>
                <a:effectLst/>
                <a:latin typeface="Menlo" panose="020B0609030804020204" pitchFamily="49" charset="0"/>
              </a:rPr>
              <a:t>hacd</a:t>
            </a:r>
            <a:endParaRPr lang="en-GB" sz="1200" b="0" dirty="0">
              <a:solidFill>
                <a:srgbClr val="000000"/>
              </a:solidFill>
              <a:effectLst/>
              <a:latin typeface="Menlo" panose="020B0609030804020204" pitchFamily="49" charset="0"/>
            </a:endParaRPr>
          </a:p>
          <a:p>
            <a:endParaRPr lang="en-GB" sz="1800" kern="100" dirty="0">
              <a:latin typeface="DengXian" panose="02010600030101010101" pitchFamily="2" charset="-122"/>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73996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166C7-0CB3-5E59-0EB2-F1FEE8D9D4FD}"/>
              </a:ext>
            </a:extLst>
          </p:cNvPr>
          <p:cNvSpPr>
            <a:spLocks noGrp="1"/>
          </p:cNvSpPr>
          <p:nvPr>
            <p:ph type="title"/>
          </p:nvPr>
        </p:nvSpPr>
        <p:spPr/>
        <p:txBody>
          <a:bodyPr>
            <a:normAutofit/>
          </a:bodyPr>
          <a:lstStyle/>
          <a:p>
            <a:r>
              <a:rPr lang="en-FR" dirty="0">
                <a:effectLst/>
                <a:latin typeface="Calibri" panose="020F0502020204030204" pitchFamily="34" charset="0"/>
                <a:ea typeface="DengXian" panose="02010600030101010101" pitchFamily="2" charset="-122"/>
                <a:cs typeface="Times New Roman" panose="02020603050405020304" pitchFamily="18" charset="0"/>
              </a:rPr>
              <a:t>2)Robots</a:t>
            </a:r>
            <a:r>
              <a:rPr lang="en-FR" dirty="0">
                <a:effectLst/>
              </a:rPr>
              <a:t> </a:t>
            </a:r>
            <a:endParaRPr lang="fr-FR" dirty="0"/>
          </a:p>
        </p:txBody>
      </p:sp>
      <p:sp>
        <p:nvSpPr>
          <p:cNvPr id="3" name="Content Placeholder 2">
            <a:extLst>
              <a:ext uri="{FF2B5EF4-FFF2-40B4-BE49-F238E27FC236}">
                <a16:creationId xmlns:a16="http://schemas.microsoft.com/office/drawing/2014/main" id="{0F86AA60-B738-7866-2E4C-2178CEF50E3F}"/>
              </a:ext>
            </a:extLst>
          </p:cNvPr>
          <p:cNvSpPr>
            <a:spLocks noGrp="1"/>
          </p:cNvSpPr>
          <p:nvPr>
            <p:ph idx="1"/>
          </p:nvPr>
        </p:nvSpPr>
        <p:spPr/>
        <p:txBody>
          <a:bodyPr/>
          <a:lstStyle/>
          <a:p>
            <a:r>
              <a:rPr lang="fr-FR" sz="1800" kern="100" dirty="0" err="1">
                <a:effectLst/>
                <a:latin typeface="DengXian" panose="02010600030101010101" pitchFamily="2" charset="-122"/>
                <a:ea typeface="DengXian" panose="02010600030101010101" pitchFamily="2" charset="-122"/>
                <a:cs typeface="Times New Roman" panose="02020603050405020304" pitchFamily="18" charset="0"/>
              </a:rPr>
              <a:t>surrol</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/robots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文件夹是整个仿真的核心，定义了手术机器人的物理属性、运动学控制逻辑以及</a:t>
            </a:r>
            <a:r>
              <a:rPr lang="zh-CN" altLang="en-US" sz="1800" kern="100" dirty="0">
                <a:latin typeface="DengXian" panose="02010600030101010101" pitchFamily="2" charset="-122"/>
                <a:ea typeface="DengXian" panose="02010600030101010101" pitchFamily="2" charset="-122"/>
              </a:rPr>
              <a:t>相机渲染。两个核心机器人文件：</a:t>
            </a:r>
            <a:r>
              <a:rPr lang="fr-FR" sz="1800" kern="100" dirty="0" err="1">
                <a:latin typeface="DengXian" panose="02010600030101010101" pitchFamily="2" charset="-122"/>
                <a:ea typeface="DengXian" panose="02010600030101010101" pitchFamily="2" charset="-122"/>
              </a:rPr>
              <a:t>psm.py</a:t>
            </a:r>
            <a:r>
              <a:rPr lang="zh-CN" altLang="en-US" sz="1800" kern="100" dirty="0">
                <a:latin typeface="DengXian" panose="02010600030101010101" pitchFamily="2" charset="-122"/>
                <a:ea typeface="DengXian" panose="02010600030101010101" pitchFamily="2" charset="-122"/>
              </a:rPr>
              <a:t>（手术臂）和</a:t>
            </a:r>
            <a:r>
              <a:rPr lang="fr-FR" sz="1800" kern="100" dirty="0">
                <a:latin typeface="DengXian" panose="02010600030101010101" pitchFamily="2" charset="-122"/>
                <a:ea typeface="DengXian" panose="02010600030101010101" pitchFamily="2" charset="-122"/>
              </a:rPr>
              <a:t> </a:t>
            </a:r>
            <a:r>
              <a:rPr lang="fr-FR" sz="1800" kern="100" dirty="0" err="1">
                <a:latin typeface="DengXian" panose="02010600030101010101" pitchFamily="2" charset="-122"/>
                <a:ea typeface="DengXian" panose="02010600030101010101" pitchFamily="2" charset="-122"/>
              </a:rPr>
              <a:t>ecm.py</a:t>
            </a:r>
            <a:r>
              <a:rPr lang="zh-CN" altLang="en-US" sz="1800" kern="100" dirty="0">
                <a:latin typeface="DengXian" panose="02010600030101010101" pitchFamily="2" charset="-122"/>
                <a:ea typeface="DengXian" panose="02010600030101010101" pitchFamily="2" charset="-122"/>
              </a:rPr>
              <a:t>（内窥镜臂）。</a:t>
            </a:r>
            <a:endParaRPr lang="en-FR" sz="1800" kern="100" dirty="0">
              <a:latin typeface="DengXian" panose="02010600030101010101" pitchFamily="2" charset="-122"/>
              <a:ea typeface="DengXian" panose="02010600030101010101" pitchFamily="2" charset="-122"/>
            </a:endParaRPr>
          </a:p>
          <a:p>
            <a:r>
              <a:rPr lang="fr-FR" sz="1800" kern="100" dirty="0" err="1">
                <a:latin typeface="DengXian" panose="02010600030101010101" pitchFamily="2" charset="-122"/>
                <a:ea typeface="DengXian" panose="02010600030101010101" pitchFamily="2" charset="-122"/>
              </a:rPr>
              <a:t>surrol</a:t>
            </a:r>
            <a:r>
              <a:rPr lang="fr-FR" sz="1800" kern="100" dirty="0">
                <a:latin typeface="DengXian" panose="02010600030101010101" pitchFamily="2" charset="-122"/>
                <a:ea typeface="DengXian" panose="02010600030101010101" pitchFamily="2" charset="-122"/>
              </a:rPr>
              <a:t>/robots/</a:t>
            </a:r>
            <a:r>
              <a:rPr lang="fr-FR" sz="1800" kern="100" dirty="0" err="1">
                <a:latin typeface="DengXian" panose="02010600030101010101" pitchFamily="2" charset="-122"/>
                <a:ea typeface="DengXian" panose="02010600030101010101" pitchFamily="2" charset="-122"/>
              </a:rPr>
              <a:t>arm.py</a:t>
            </a:r>
            <a:r>
              <a:rPr lang="fr-FR" sz="1800" kern="100" dirty="0">
                <a:latin typeface="DengXian" panose="02010600030101010101" pitchFamily="2" charset="-122"/>
                <a:ea typeface="DengXian" panose="02010600030101010101" pitchFamily="2" charset="-122"/>
              </a:rPr>
              <a:t> </a:t>
            </a:r>
            <a:r>
              <a:rPr lang="zh-CN" altLang="en-US" sz="1800" kern="100" dirty="0">
                <a:latin typeface="DengXian" panose="02010600030101010101" pitchFamily="2" charset="-122"/>
                <a:ea typeface="DengXian" panose="02010600030101010101" pitchFamily="2" charset="-122"/>
              </a:rPr>
              <a:t>是手术机器人（</a:t>
            </a:r>
            <a:r>
              <a:rPr lang="fr-FR" sz="1800" kern="100" dirty="0">
                <a:latin typeface="DengXian" panose="02010600030101010101" pitchFamily="2" charset="-122"/>
                <a:ea typeface="DengXian" panose="02010600030101010101" pitchFamily="2" charset="-122"/>
              </a:rPr>
              <a:t>PSM </a:t>
            </a:r>
            <a:r>
              <a:rPr lang="zh-CN" altLang="en-US" sz="1800" kern="100" dirty="0">
                <a:latin typeface="DengXian" panose="02010600030101010101" pitchFamily="2" charset="-122"/>
                <a:ea typeface="DengXian" panose="02010600030101010101" pitchFamily="2" charset="-122"/>
              </a:rPr>
              <a:t>和 </a:t>
            </a:r>
            <a:r>
              <a:rPr lang="fr-FR" sz="1800" kern="100" dirty="0">
                <a:latin typeface="DengXian" panose="02010600030101010101" pitchFamily="2" charset="-122"/>
                <a:ea typeface="DengXian" panose="02010600030101010101" pitchFamily="2" charset="-122"/>
              </a:rPr>
              <a:t>ECM）</a:t>
            </a:r>
            <a:r>
              <a:rPr lang="zh-CN" altLang="en-US" sz="1800" kern="100" dirty="0">
                <a:latin typeface="DengXian" panose="02010600030101010101" pitchFamily="2" charset="-122"/>
                <a:ea typeface="DengXian" panose="02010600030101010101" pitchFamily="2" charset="-122"/>
              </a:rPr>
              <a:t>的基类。它封装了与 </a:t>
            </a:r>
            <a:r>
              <a:rPr lang="fr-FR" sz="1800" kern="100" dirty="0" err="1">
                <a:latin typeface="DengXian" panose="02010600030101010101" pitchFamily="2" charset="-122"/>
                <a:ea typeface="DengXian" panose="02010600030101010101" pitchFamily="2" charset="-122"/>
              </a:rPr>
              <a:t>PyBullet</a:t>
            </a:r>
            <a:r>
              <a:rPr lang="fr-FR" sz="1800" kern="100" dirty="0">
                <a:latin typeface="DengXian" panose="02010600030101010101" pitchFamily="2" charset="-122"/>
                <a:ea typeface="DengXian" panose="02010600030101010101" pitchFamily="2" charset="-122"/>
              </a:rPr>
              <a:t> </a:t>
            </a:r>
            <a:r>
              <a:rPr lang="zh-CN" altLang="en-US" sz="1800" kern="100" dirty="0">
                <a:latin typeface="DengXian" panose="02010600030101010101" pitchFamily="2" charset="-122"/>
                <a:ea typeface="DengXian" panose="02010600030101010101" pitchFamily="2" charset="-122"/>
              </a:rPr>
              <a:t>物理引擎交互的基础逻辑，为子类提供统一的接口。</a:t>
            </a:r>
            <a:endParaRPr lang="en-US" altLang="zh-CN" sz="1800" kern="100" dirty="0">
              <a:latin typeface="DengXian" panose="02010600030101010101" pitchFamily="2" charset="-122"/>
              <a:ea typeface="DengXian" panose="02010600030101010101" pitchFamily="2" charset="-122"/>
            </a:endParaRPr>
          </a:p>
          <a:p>
            <a:pPr marL="228600"/>
            <a:r>
              <a:rPr lang="zh-CN" sz="1800" kern="100" dirty="0">
                <a:effectLst/>
                <a:latin typeface="Calibri" panose="020F0502020204030204" pitchFamily="34" charset="0"/>
                <a:ea typeface="DengXian" panose="02010600030101010101" pitchFamily="2" charset="-122"/>
                <a:cs typeface="SimSun" panose="02010600030101010101" pitchFamily="2" charset="-122"/>
              </a:rPr>
              <a:t>代码维护了两套模型。</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28600"/>
            <a:r>
              <a:rPr lang="zh-CN" sz="1800" kern="100" dirty="0">
                <a:effectLst/>
                <a:latin typeface="Calibri" panose="020F0502020204030204" pitchFamily="34" charset="0"/>
                <a:ea typeface="DengXian" panose="02010600030101010101" pitchFamily="2" charset="-122"/>
                <a:cs typeface="SimSun" panose="02010600030101010101" pitchFamily="2" charset="-122"/>
              </a:rPr>
              <a:t>一套是</a:t>
            </a:r>
            <a:r>
              <a:rPr lang="en-FR" sz="1800" kern="100" dirty="0">
                <a:effectLst/>
                <a:latin typeface="DengXian" panose="02010600030101010101" pitchFamily="2" charset="-122"/>
                <a:ea typeface="DengXian" panose="02010600030101010101" pitchFamily="2" charset="-122"/>
                <a:cs typeface="SimSun" panose="02010600030101010101" pitchFamily="2" charset="-122"/>
              </a:rPr>
              <a:t> PyBullet (self.body)</a:t>
            </a:r>
            <a:r>
              <a:rPr lang="zh-CN" sz="1800" kern="100" dirty="0">
                <a:effectLst/>
                <a:latin typeface="DengXian" panose="02010600030101010101" pitchFamily="2" charset="-122"/>
                <a:ea typeface="DengXian" panose="02010600030101010101" pitchFamily="2" charset="-122"/>
                <a:cs typeface="SimSun" panose="02010600030101010101" pitchFamily="2" charset="-122"/>
              </a:rPr>
              <a:t>，负责物理碰撞、渲染和电机控制。</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r>
              <a:rPr lang="zh-CN" sz="1800" dirty="0">
                <a:effectLst/>
                <a:ea typeface="DengXian" panose="02010600030101010101" pitchFamily="2" charset="-122"/>
                <a:cs typeface="SimSun" panose="02010600030101010101" pitchFamily="2" charset="-122"/>
              </a:rPr>
              <a:t>一套是</a:t>
            </a:r>
            <a:r>
              <a:rPr lang="en-FR" sz="1800" dirty="0">
                <a:effectLst/>
                <a:latin typeface="DengXian" panose="02010600030101010101" pitchFamily="2" charset="-122"/>
                <a:cs typeface="SimSun" panose="02010600030101010101" pitchFamily="2" charset="-122"/>
              </a:rPr>
              <a:t> Robotics Toolbox (self.robot)</a:t>
            </a:r>
            <a:r>
              <a:rPr lang="zh-CN" sz="1800" dirty="0">
                <a:effectLst/>
                <a:latin typeface="DengXian" panose="02010600030101010101" pitchFamily="2" charset="-122"/>
                <a:cs typeface="SimSun" panose="02010600030101010101" pitchFamily="2" charset="-122"/>
              </a:rPr>
              <a:t>，利用</a:t>
            </a:r>
            <a:r>
              <a:rPr lang="en-FR" sz="1800" dirty="0">
                <a:effectLst/>
                <a:latin typeface="DengXian" panose="02010600030101010101" pitchFamily="2" charset="-122"/>
                <a:cs typeface="SimSun" panose="02010600030101010101" pitchFamily="2" charset="-122"/>
              </a:rPr>
              <a:t> D-H </a:t>
            </a:r>
            <a:r>
              <a:rPr lang="zh-CN" sz="1800" dirty="0">
                <a:effectLst/>
                <a:latin typeface="DengXian" panose="02010600030101010101" pitchFamily="2" charset="-122"/>
                <a:cs typeface="SimSun" panose="02010600030101010101" pitchFamily="2" charset="-122"/>
              </a:rPr>
              <a:t>参数构建，专门用于快速计算雅可比矩阵</a:t>
            </a:r>
            <a:r>
              <a:rPr lang="zh-CN" sz="1800" dirty="0">
                <a:effectLst/>
                <a:ea typeface="DengXian" panose="02010600030101010101" pitchFamily="2" charset="-122"/>
                <a:cs typeface="SimSun" panose="02010600030101010101" pitchFamily="2" charset="-122"/>
              </a:rPr>
              <a:t>和复杂的运动学分析，因为</a:t>
            </a:r>
            <a:r>
              <a:rPr lang="en-FR" sz="1800" dirty="0">
                <a:effectLst/>
                <a:latin typeface="DengXian" panose="02010600030101010101" pitchFamily="2" charset="-122"/>
                <a:cs typeface="SimSun" panose="02010600030101010101" pitchFamily="2" charset="-122"/>
              </a:rPr>
              <a:t> PyBullet </a:t>
            </a:r>
            <a:r>
              <a:rPr lang="zh-CN" sz="1800" dirty="0">
                <a:effectLst/>
                <a:latin typeface="DengXian" panose="02010600030101010101" pitchFamily="2" charset="-122"/>
                <a:cs typeface="SimSun" panose="02010600030101010101" pitchFamily="2" charset="-122"/>
              </a:rPr>
              <a:t>在这方面（尤其是雅可比计算）有时不如专用数学库方便。</a:t>
            </a:r>
            <a:r>
              <a:rPr lang="en-FR" sz="1200" dirty="0">
                <a:effectLst/>
              </a:rPr>
              <a:t> </a:t>
            </a:r>
            <a:endParaRPr lang="fr-FR" sz="1800" kern="100"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497194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C9DD2-39E2-4459-AC94-8D299EFA24DD}"/>
              </a:ext>
            </a:extLst>
          </p:cNvPr>
          <p:cNvSpPr>
            <a:spLocks noGrp="1"/>
          </p:cNvSpPr>
          <p:nvPr>
            <p:ph type="title"/>
          </p:nvPr>
        </p:nvSpPr>
        <p:spPr>
          <a:xfrm>
            <a:off x="725466" y="-35708"/>
            <a:ext cx="10515600" cy="1325563"/>
          </a:xfrm>
        </p:spPr>
        <p:txBody>
          <a:bodyPr/>
          <a:lstStyle/>
          <a:p>
            <a:r>
              <a:rPr lang="fr-FR" dirty="0"/>
              <a:t>Arm</a:t>
            </a:r>
          </a:p>
        </p:txBody>
      </p:sp>
      <p:sp>
        <p:nvSpPr>
          <p:cNvPr id="3" name="Content Placeholder 2">
            <a:extLst>
              <a:ext uri="{FF2B5EF4-FFF2-40B4-BE49-F238E27FC236}">
                <a16:creationId xmlns:a16="http://schemas.microsoft.com/office/drawing/2014/main" id="{0F80B7C4-B860-182B-AB6A-5DA65C6D1409}"/>
              </a:ext>
            </a:extLst>
          </p:cNvPr>
          <p:cNvSpPr>
            <a:spLocks noGrp="1"/>
          </p:cNvSpPr>
          <p:nvPr>
            <p:ph idx="1"/>
          </p:nvPr>
        </p:nvSpPr>
        <p:spPr>
          <a:xfrm>
            <a:off x="838200" y="814192"/>
            <a:ext cx="10515600" cy="6137753"/>
          </a:xfrm>
        </p:spPr>
        <p:txBody>
          <a:bodyPr>
            <a:normAutofit fontScale="70000" lnSpcReduction="20000"/>
          </a:bodyPr>
          <a:lstStyle/>
          <a:p>
            <a:pPr>
              <a:lnSpc>
                <a:spcPct val="120000"/>
              </a:lnSpc>
            </a:pPr>
            <a:r>
              <a:rPr lang="en-US" sz="1800" kern="100" dirty="0">
                <a:effectLst/>
                <a:latin typeface="DengXian" panose="02010600030101010101" pitchFamily="2" charset="-122"/>
                <a:ea typeface="DengXian" panose="02010600030101010101" pitchFamily="2" charset="-122"/>
                <a:cs typeface="Times New Roman" panose="02020603050405020304" pitchFamily="18" charset="0"/>
              </a:rPr>
              <a:t>def __</a:t>
            </a:r>
            <a:r>
              <a:rPr lang="en-US" sz="1800" kern="100" dirty="0" err="1">
                <a:effectLst/>
                <a:latin typeface="DengXian" panose="02010600030101010101" pitchFamily="2" charset="-122"/>
                <a:ea typeface="DengXian" panose="02010600030101010101" pitchFamily="2" charset="-122"/>
                <a:cs typeface="Times New Roman" panose="02020603050405020304" pitchFamily="18" charset="0"/>
              </a:rPr>
              <a:t>init</a:t>
            </a:r>
            <a:r>
              <a:rPr lang="en-US" sz="1800" kern="100" dirty="0">
                <a:effectLst/>
                <a:latin typeface="DengXian" panose="02010600030101010101" pitchFamily="2" charset="-122"/>
                <a:ea typeface="DengXian" panose="02010600030101010101" pitchFamily="2" charset="-122"/>
                <a:cs typeface="Times New Roman" panose="02020603050405020304" pitchFamily="18" charset="0"/>
              </a:rPr>
              <a:t>__(self, </a:t>
            </a:r>
            <a:r>
              <a:rPr lang="en-US" sz="1800" kern="100" dirty="0" err="1">
                <a:effectLst/>
                <a:latin typeface="DengXian" panose="02010600030101010101" pitchFamily="2" charset="-122"/>
                <a:ea typeface="DengXian" panose="02010600030101010101" pitchFamily="2" charset="-122"/>
                <a:cs typeface="Times New Roman" panose="02020603050405020304" pitchFamily="18" charset="0"/>
              </a:rPr>
              <a:t>urdf_path</a:t>
            </a:r>
            <a:r>
              <a:rPr lang="en-US"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en-US" sz="1800" kern="100" dirty="0" err="1">
                <a:effectLst/>
                <a:latin typeface="DengXian" panose="02010600030101010101" pitchFamily="2" charset="-122"/>
                <a:ea typeface="DengXian" panose="02010600030101010101" pitchFamily="2" charset="-122"/>
                <a:cs typeface="Times New Roman" panose="02020603050405020304" pitchFamily="18" charset="0"/>
              </a:rPr>
              <a:t>base_pos</a:t>
            </a:r>
            <a:r>
              <a:rPr lang="en-US" sz="1800" kern="100" dirty="0">
                <a:effectLst/>
                <a:latin typeface="DengXian" panose="02010600030101010101" pitchFamily="2" charset="-122"/>
                <a:ea typeface="DengXian" panose="02010600030101010101" pitchFamily="2" charset="-122"/>
                <a:cs typeface="Times New Roman" panose="02020603050405020304" pitchFamily="18" charset="0"/>
              </a:rPr>
              <a:t>=(0, 0, 0), </a:t>
            </a:r>
            <a:r>
              <a:rPr lang="en-US" sz="1800" kern="100" dirty="0" err="1">
                <a:effectLst/>
                <a:latin typeface="DengXian" panose="02010600030101010101" pitchFamily="2" charset="-122"/>
                <a:ea typeface="DengXian" panose="02010600030101010101" pitchFamily="2" charset="-122"/>
                <a:cs typeface="Times New Roman" panose="02020603050405020304" pitchFamily="18" charset="0"/>
              </a:rPr>
              <a:t>base_orn</a:t>
            </a:r>
            <a:r>
              <a:rPr lang="en-US" sz="1800" kern="100" dirty="0">
                <a:effectLst/>
                <a:latin typeface="DengXian" panose="02010600030101010101" pitchFamily="2" charset="-122"/>
                <a:ea typeface="DengXian" panose="02010600030101010101" pitchFamily="2" charset="-122"/>
                <a:cs typeface="Times New Roman" panose="02020603050405020304" pitchFamily="18" charset="0"/>
              </a:rPr>
              <a:t>=(0, 0, 0, 1), scaling=1.0):</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20000"/>
              </a:lnSpc>
              <a:buFont typeface="Wingdings" pitchFamily="2" charset="2"/>
              <a:buChar char=""/>
            </a:pP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class Arm::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定义机器人手臂的基类。</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20000"/>
              </a:lnSpc>
              <a:buFont typeface="Wingdings" pitchFamily="2" charset="2"/>
              <a:buChar char=""/>
            </a:pPr>
            <a:r>
              <a:rPr lang="fr-FR" sz="1800" kern="100" dirty="0" err="1">
                <a:effectLst/>
                <a:latin typeface="DengXian" panose="02010600030101010101" pitchFamily="2" charset="-122"/>
                <a:ea typeface="DengXian" panose="02010600030101010101" pitchFamily="2" charset="-122"/>
                <a:cs typeface="Times New Roman" panose="02020603050405020304" pitchFamily="18" charset="0"/>
              </a:rPr>
              <a:t>urdf_path</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机器人模型文件（</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URDF</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）的路径，定义了机器人的几何形状、质量和关节层级。</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20000"/>
              </a:lnSpc>
              <a:buFont typeface="Wingdings" pitchFamily="2" charset="2"/>
              <a:buChar char=""/>
            </a:pPr>
            <a:r>
              <a:rPr lang="fr-FR" sz="1800" kern="100" dirty="0" err="1">
                <a:effectLst/>
                <a:latin typeface="DengXian" panose="02010600030101010101" pitchFamily="2" charset="-122"/>
                <a:ea typeface="DengXian" panose="02010600030101010101" pitchFamily="2" charset="-122"/>
                <a:cs typeface="Times New Roman" panose="02020603050405020304" pitchFamily="18" charset="0"/>
              </a:rPr>
              <a:t>base_pos</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fr-FR" sz="1800" kern="100" dirty="0" err="1">
                <a:effectLst/>
                <a:latin typeface="DengXian" panose="02010600030101010101" pitchFamily="2" charset="-122"/>
                <a:ea typeface="DengXian" panose="02010600030101010101" pitchFamily="2" charset="-122"/>
                <a:cs typeface="Times New Roman" panose="02020603050405020304" pitchFamily="18" charset="0"/>
              </a:rPr>
              <a:t>base_orn</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机器人在仿真世界中的初始位置坐标和四元数姿态。</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20000"/>
              </a:lnSpc>
              <a:buFont typeface="Wingdings" pitchFamily="2" charset="2"/>
              <a:buChar char=""/>
            </a:pPr>
            <a:r>
              <a:rPr lang="fr-FR" sz="1800" kern="100" dirty="0" err="1">
                <a:effectLst/>
                <a:latin typeface="DengXian" panose="02010600030101010101" pitchFamily="2" charset="-122"/>
                <a:ea typeface="DengXian" panose="02010600030101010101" pitchFamily="2" charset="-122"/>
                <a:cs typeface="Times New Roman" panose="02020603050405020304" pitchFamily="18" charset="0"/>
              </a:rPr>
              <a:t>scaling</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缩放比例，用于调整机器人模型的大小，以获得更稳定的物理碰撞模拟。</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20000"/>
              </a:lnSpc>
              <a:buFont typeface="Calibri" panose="020F0502020204030204" pitchFamily="34" charset="0"/>
              <a:buChar char="-"/>
            </a:pP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模型加载：通过</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fr-FR" sz="1800" kern="100" dirty="0" err="1">
                <a:effectLst/>
                <a:latin typeface="DengXian" panose="02010600030101010101" pitchFamily="2" charset="-122"/>
                <a:ea typeface="DengXian" panose="02010600030101010101" pitchFamily="2" charset="-122"/>
                <a:cs typeface="Times New Roman" panose="02020603050405020304" pitchFamily="18" charset="0"/>
              </a:rPr>
              <a:t>p.loadURDF</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加载机器人的</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URDF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文件。</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URDF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包含了机器人的物理属性（质量、惯性、碰撞体）和视觉模型。</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20000"/>
              </a:lnSpc>
              <a:buFont typeface="Wingdings" pitchFamily="2" charset="2"/>
              <a:buChar char=""/>
            </a:pPr>
            <a:r>
              <a:rPr lang="fr-FR" sz="1800" kern="100" dirty="0" err="1">
                <a:effectLst/>
                <a:latin typeface="DengXian" panose="02010600030101010101" pitchFamily="2" charset="-122"/>
                <a:ea typeface="DengXian" panose="02010600030101010101" pitchFamily="2" charset="-122"/>
                <a:cs typeface="Times New Roman" panose="02020603050405020304" pitchFamily="18" charset="0"/>
              </a:rPr>
              <a:t>p.loadURDF</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调用</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fr-FR" sz="1800" kern="100" dirty="0" err="1">
                <a:effectLst/>
                <a:latin typeface="DengXian" panose="02010600030101010101" pitchFamily="2" charset="-122"/>
                <a:ea typeface="DengXian" panose="02010600030101010101" pitchFamily="2" charset="-122"/>
                <a:cs typeface="Times New Roman" panose="02020603050405020304" pitchFamily="18" charset="0"/>
              </a:rPr>
              <a:t>PyBullet</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接口加载模型。</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20000"/>
              </a:lnSpc>
              <a:buFont typeface="Wingdings" pitchFamily="2" charset="2"/>
              <a:buChar char=""/>
            </a:pPr>
            <a:r>
              <a:rPr lang="fr-FR" sz="1800" kern="100" dirty="0" err="1">
                <a:effectLst/>
                <a:latin typeface="DengXian" panose="02010600030101010101" pitchFamily="2" charset="-122"/>
                <a:ea typeface="DengXian" panose="02010600030101010101" pitchFamily="2" charset="-122"/>
                <a:cs typeface="Times New Roman" panose="02020603050405020304" pitchFamily="18" charset="0"/>
              </a:rPr>
              <a:t>useFixedBase</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fr-FR" sz="1800" kern="100" dirty="0" err="1">
                <a:effectLst/>
                <a:latin typeface="DengXian" panose="02010600030101010101" pitchFamily="2" charset="-122"/>
                <a:ea typeface="DengXian" panose="02010600030101010101" pitchFamily="2" charset="-122"/>
                <a:cs typeface="Times New Roman" panose="02020603050405020304" pitchFamily="18" charset="0"/>
              </a:rPr>
              <a:t>True</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将机器人的基座固定在空间中，防止它因重力或碰撞而位移。</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20000"/>
              </a:lnSpc>
              <a:buFont typeface="Wingdings" pitchFamily="2" charset="2"/>
              <a:buChar char=""/>
            </a:pPr>
            <a:r>
              <a:rPr lang="fr-FR" sz="1800" kern="100" dirty="0" err="1">
                <a:effectLst/>
                <a:latin typeface="DengXian" panose="02010600030101010101" pitchFamily="2" charset="-122"/>
                <a:ea typeface="DengXian" panose="02010600030101010101" pitchFamily="2" charset="-122"/>
                <a:cs typeface="Times New Roman" panose="02020603050405020304" pitchFamily="18" charset="0"/>
              </a:rPr>
              <a:t>globalScaling</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应用缩放参数。</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20000"/>
              </a:lnSpc>
              <a:buFont typeface="Calibri" panose="020F0502020204030204" pitchFamily="34" charset="0"/>
              <a:buChar char="-"/>
            </a:pP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坐标变换：设置</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self.pose_rcm2world</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（从远程运动中心</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RCM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到世界坐标系的变换矩阵）。这是手术机器人特有的属性，确保机械臂围绕切口（</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RCM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点）转动。</a:t>
            </a:r>
            <a:r>
              <a:rPr lang="zh-CN" sz="1800" kern="100" dirty="0">
                <a:solidFill>
                  <a:srgbClr val="1F1F1F"/>
                </a:solidFill>
                <a:effectLst/>
                <a:latin typeface="Calibri" panose="020F0502020204030204" pitchFamily="34" charset="0"/>
                <a:ea typeface="DengXian" panose="02010600030101010101" pitchFamily="2" charset="-122"/>
                <a:cs typeface="Times New Roman" panose="02020603050405020304" pitchFamily="18" charset="0"/>
              </a:rPr>
              <a:t>计算并缓存了关键的变换矩阵</a:t>
            </a:r>
            <a:r>
              <a:rPr lang="en-FR" sz="1800" kern="100" dirty="0">
                <a:solidFill>
                  <a:srgbClr val="1F1F1F"/>
                </a:solidFill>
                <a:effectLst/>
                <a:latin typeface="DengXian" panose="02010600030101010101" pitchFamily="2" charset="-122"/>
                <a:ea typeface="DengXian" panose="02010600030101010101" pitchFamily="2" charset="-122"/>
                <a:cs typeface="Times New Roman" panose="02020603050405020304" pitchFamily="18" charset="0"/>
              </a:rPr>
              <a:t> (wTr, eTt)</a:t>
            </a:r>
            <a:r>
              <a:rPr lang="zh-CN" sz="1800" kern="100" dirty="0">
                <a:solidFill>
                  <a:srgbClr val="1F1F1F"/>
                </a:solidFill>
                <a:effectLst/>
                <a:latin typeface="DengXian" panose="02010600030101010101" pitchFamily="2" charset="-122"/>
                <a:ea typeface="DengXian" panose="02010600030101010101" pitchFamily="2" charset="-122"/>
                <a:cs typeface="Times New Roman" panose="02020603050405020304" pitchFamily="18" charset="0"/>
              </a:rPr>
              <a:t>，用于后续在</a:t>
            </a:r>
            <a:r>
              <a:rPr lang="en-FR" sz="1800" kern="100" dirty="0">
                <a:solidFill>
                  <a:srgbClr val="1F1F1F"/>
                </a:solidFill>
                <a:effectLst/>
                <a:latin typeface="DengXian" panose="02010600030101010101" pitchFamily="2" charset="-122"/>
                <a:ea typeface="DengXian" panose="02010600030101010101" pitchFamily="2" charset="-122"/>
                <a:cs typeface="Times New Roman" panose="02020603050405020304" pitchFamily="18" charset="0"/>
              </a:rPr>
              <a:t>“</a:t>
            </a:r>
            <a:r>
              <a:rPr lang="zh-CN" sz="1800" kern="100" dirty="0">
                <a:solidFill>
                  <a:srgbClr val="1F1F1F"/>
                </a:solidFill>
                <a:effectLst/>
                <a:latin typeface="DengXian" panose="02010600030101010101" pitchFamily="2" charset="-122"/>
                <a:ea typeface="DengXian" panose="02010600030101010101" pitchFamily="2" charset="-122"/>
                <a:cs typeface="Times New Roman" panose="02020603050405020304" pitchFamily="18" charset="0"/>
              </a:rPr>
              <a:t>世界坐标</a:t>
            </a:r>
            <a:r>
              <a:rPr lang="en-FR" sz="1800" kern="100" dirty="0">
                <a:solidFill>
                  <a:srgbClr val="1F1F1F"/>
                </a:solidFill>
                <a:effectLst/>
                <a:latin typeface="DengXian" panose="02010600030101010101" pitchFamily="2" charset="-122"/>
                <a:ea typeface="DengXian" panose="02010600030101010101" pitchFamily="2" charset="-122"/>
                <a:cs typeface="Times New Roman" panose="02020603050405020304" pitchFamily="18" charset="0"/>
              </a:rPr>
              <a:t>”</a:t>
            </a:r>
            <a:r>
              <a:rPr lang="zh-CN" sz="1800" kern="100" dirty="0">
                <a:solidFill>
                  <a:srgbClr val="1F1F1F"/>
                </a:solidFill>
                <a:effectLst/>
                <a:latin typeface="DengXian" panose="02010600030101010101" pitchFamily="2" charset="-122"/>
                <a:ea typeface="DengXian" panose="02010600030101010101" pitchFamily="2" charset="-122"/>
                <a:cs typeface="Times New Roman" panose="02020603050405020304" pitchFamily="18" charset="0"/>
              </a:rPr>
              <a:t>和</a:t>
            </a:r>
            <a:r>
              <a:rPr lang="en-FR" sz="1800" kern="100" dirty="0">
                <a:solidFill>
                  <a:srgbClr val="1F1F1F"/>
                </a:solidFill>
                <a:effectLst/>
                <a:latin typeface="DengXian" panose="02010600030101010101" pitchFamily="2" charset="-122"/>
                <a:ea typeface="DengXian" panose="02010600030101010101" pitchFamily="2" charset="-122"/>
                <a:cs typeface="Times New Roman" panose="02020603050405020304" pitchFamily="18" charset="0"/>
              </a:rPr>
              <a:t>“</a:t>
            </a:r>
            <a:r>
              <a:rPr lang="zh-CN" sz="1800" kern="100" dirty="0">
                <a:solidFill>
                  <a:srgbClr val="1F1F1F"/>
                </a:solidFill>
                <a:effectLst/>
                <a:latin typeface="DengXian" panose="02010600030101010101" pitchFamily="2" charset="-122"/>
                <a:ea typeface="DengXian" panose="02010600030101010101" pitchFamily="2" charset="-122"/>
                <a:cs typeface="Times New Roman" panose="02020603050405020304" pitchFamily="18" charset="0"/>
              </a:rPr>
              <a:t>手术操作坐标</a:t>
            </a:r>
            <a:r>
              <a:rPr lang="en-FR" sz="1800" kern="100" dirty="0">
                <a:solidFill>
                  <a:srgbClr val="1F1F1F"/>
                </a:solidFill>
                <a:effectLst/>
                <a:latin typeface="DengXian" panose="02010600030101010101" pitchFamily="2" charset="-122"/>
                <a:ea typeface="DengXian" panose="02010600030101010101" pitchFamily="2" charset="-122"/>
                <a:cs typeface="Times New Roman" panose="02020603050405020304" pitchFamily="18" charset="0"/>
              </a:rPr>
              <a:t>(RCM)”</a:t>
            </a:r>
            <a:r>
              <a:rPr lang="zh-CN" sz="1800" kern="100" dirty="0">
                <a:solidFill>
                  <a:srgbClr val="1F1F1F"/>
                </a:solidFill>
                <a:effectLst/>
                <a:latin typeface="DengXian" panose="02010600030101010101" pitchFamily="2" charset="-122"/>
                <a:ea typeface="DengXian" panose="02010600030101010101" pitchFamily="2" charset="-122"/>
                <a:cs typeface="Times New Roman" panose="02020603050405020304" pitchFamily="18" charset="0"/>
              </a:rPr>
              <a:t>之间进行转换。</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20000"/>
              </a:lnSpc>
              <a:buFont typeface="Calibri" panose="020F0502020204030204" pitchFamily="34" charset="0"/>
              <a:buChar char="-"/>
            </a:pPr>
            <a:r>
              <a:rPr lang="fr-FR" sz="1800" kern="100" dirty="0" err="1">
                <a:effectLst/>
                <a:latin typeface="DengXian" panose="02010600030101010101" pitchFamily="2" charset="-122"/>
                <a:ea typeface="DengXian" panose="02010600030101010101" pitchFamily="2" charset="-122"/>
                <a:cs typeface="Times New Roman" panose="02020603050405020304" pitchFamily="18" charset="0"/>
              </a:rPr>
              <a:t>update_rcm_pose</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计算并保存界坐标系与远程运动中心</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(RCM)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之间的变换矩阵。</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20000"/>
              </a:lnSpc>
              <a:buFont typeface="Calibri" panose="020F0502020204030204" pitchFamily="34" charset="0"/>
              <a:buChar char="-"/>
            </a:pPr>
            <a:r>
              <a:rPr lang="fr-FR" sz="1800" u="none" strike="noStrike" kern="100" dirty="0">
                <a:effectLst/>
                <a:latin typeface="DengXian" panose="02010600030101010101" pitchFamily="2" charset="-122"/>
                <a:ea typeface="DengXian" panose="02010600030101010101" pitchFamily="2" charset="-122"/>
                <a:cs typeface="Times New Roman" panose="02020603050405020304" pitchFamily="18" charset="0"/>
                <a:hlinkClick r:id="rId2"/>
              </a:rPr>
              <a:t>update_tip_pose()</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：计算并保存机械手末端</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(EEF)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与工具尖端</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(Tip)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之间的变换矩阵。</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20000"/>
              </a:lnSpc>
              <a:buFont typeface="Calibri" panose="020F0502020204030204" pitchFamily="34" charset="0"/>
              <a:buChar char="-"/>
            </a:pP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关节识别：调用</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fr-FR" sz="1800" kern="100" dirty="0" err="1">
                <a:effectLst/>
                <a:latin typeface="DengXian" panose="02010600030101010101" pitchFamily="2" charset="-122"/>
                <a:ea typeface="DengXian" panose="02010600030101010101" pitchFamily="2" charset="-122"/>
                <a:cs typeface="Times New Roman" panose="02020603050405020304" pitchFamily="18" charset="0"/>
              </a:rPr>
              <a:t>get_joints</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fr-FR" sz="1800" kern="100" dirty="0" err="1">
                <a:effectLst/>
                <a:latin typeface="DengXian" panose="02010600030101010101" pitchFamily="2" charset="-122"/>
                <a:ea typeface="DengXian" panose="02010600030101010101" pitchFamily="2" charset="-122"/>
                <a:cs typeface="Times New Roman" panose="02020603050405020304" pitchFamily="18" charset="0"/>
              </a:rPr>
              <a:t>self.body</a:t>
            </a:r>
            <a:r>
              <a:rPr lang="fr-FR"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获取模型中所有可活动的关节。</a:t>
            </a:r>
            <a:endParaRPr lang="en-US" altLang="zh-CN"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20000"/>
              </a:lnSpc>
            </a:pPr>
            <a:r>
              <a:rPr lang="en-FR" sz="1800" kern="100" dirty="0">
                <a:effectLst/>
                <a:latin typeface="DengXian" panose="02010600030101010101" pitchFamily="2" charset="-122"/>
                <a:ea typeface="DengXian" panose="02010600030101010101" pitchFamily="2" charset="-122"/>
                <a:cs typeface="SimSun" panose="02010600030101010101" pitchFamily="2" charset="-122"/>
              </a:rPr>
              <a:t>get_current_position()</a:t>
            </a:r>
            <a:r>
              <a:rPr lang="zh-CN" sz="1800" kern="100" dirty="0">
                <a:effectLst/>
                <a:latin typeface="DengXian" panose="02010600030101010101" pitchFamily="2" charset="-122"/>
                <a:ea typeface="DengXian" panose="02010600030101010101" pitchFamily="2" charset="-122"/>
                <a:cs typeface="SimSun" panose="02010600030101010101" pitchFamily="2" charset="-122"/>
              </a:rPr>
              <a:t>：获取机器人末端执行器（</a:t>
            </a:r>
            <a:r>
              <a:rPr lang="en-FR" sz="1800" kern="100" dirty="0">
                <a:effectLst/>
                <a:latin typeface="DengXian" panose="02010600030101010101" pitchFamily="2" charset="-122"/>
                <a:ea typeface="DengXian" panose="02010600030101010101" pitchFamily="2" charset="-122"/>
                <a:cs typeface="SimSun" panose="02010600030101010101" pitchFamily="2" charset="-122"/>
              </a:rPr>
              <a:t>Tip/EEF</a:t>
            </a:r>
            <a:r>
              <a:rPr lang="zh-CN" sz="1800" kern="100" dirty="0">
                <a:effectLst/>
                <a:latin typeface="DengXian" panose="02010600030101010101" pitchFamily="2" charset="-122"/>
                <a:ea typeface="DengXian" panose="02010600030101010101" pitchFamily="2" charset="-122"/>
                <a:cs typeface="SimSun" panose="02010600030101010101" pitchFamily="2" charset="-122"/>
              </a:rPr>
              <a:t>）在</a:t>
            </a:r>
            <a:r>
              <a:rPr lang="en-FR" sz="1800" kern="100" dirty="0">
                <a:effectLst/>
                <a:latin typeface="DengXian" panose="02010600030101010101" pitchFamily="2" charset="-122"/>
                <a:ea typeface="DengXian" panose="02010600030101010101" pitchFamily="2" charset="-122"/>
                <a:cs typeface="SimSun" panose="02010600030101010101" pitchFamily="2" charset="-122"/>
              </a:rPr>
              <a:t> RCM </a:t>
            </a:r>
            <a:r>
              <a:rPr lang="zh-CN" sz="1800" kern="100" dirty="0">
                <a:effectLst/>
                <a:latin typeface="DengXian" panose="02010600030101010101" pitchFamily="2" charset="-122"/>
                <a:ea typeface="DengXian" panose="02010600030101010101" pitchFamily="2" charset="-122"/>
                <a:cs typeface="SimSun" panose="02010600030101010101" pitchFamily="2" charset="-122"/>
              </a:rPr>
              <a:t>坐标系下的当前位姿（矩阵形式）。</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20000"/>
              </a:lnSpc>
            </a:pPr>
            <a:r>
              <a:rPr lang="zh-CN" sz="1800" kern="100" dirty="0">
                <a:effectLst/>
                <a:latin typeface="Calibri" panose="020F0502020204030204" pitchFamily="34" charset="0"/>
                <a:ea typeface="DengXian" panose="02010600030101010101" pitchFamily="2" charset="-122"/>
                <a:cs typeface="SimSun" panose="02010600030101010101" pitchFamily="2" charset="-122"/>
              </a:rPr>
              <a:t>通过</a:t>
            </a:r>
            <a:r>
              <a:rPr lang="en-FR" sz="1800" kern="100" dirty="0">
                <a:effectLst/>
                <a:latin typeface="DengXian" panose="02010600030101010101" pitchFamily="2" charset="-122"/>
                <a:ea typeface="DengXian" panose="02010600030101010101" pitchFamily="2" charset="-122"/>
                <a:cs typeface="SimSun" panose="02010600030101010101" pitchFamily="2" charset="-122"/>
              </a:rPr>
              <a:t> p.getLinkState </a:t>
            </a:r>
            <a:r>
              <a:rPr lang="zh-CN" sz="1800" kern="100" dirty="0">
                <a:effectLst/>
                <a:latin typeface="DengXian" panose="02010600030101010101" pitchFamily="2" charset="-122"/>
                <a:ea typeface="DengXian" panose="02010600030101010101" pitchFamily="2" charset="-122"/>
                <a:cs typeface="SimSun" panose="02010600030101010101" pitchFamily="2" charset="-122"/>
              </a:rPr>
              <a:t>获取末端连杆的世界坐标，再利用</a:t>
            </a:r>
            <a:r>
              <a:rPr lang="en-FR" sz="1800" kern="100" dirty="0">
                <a:effectLst/>
                <a:latin typeface="DengXian" panose="02010600030101010101" pitchFamily="2" charset="-122"/>
                <a:ea typeface="DengXian" panose="02010600030101010101" pitchFamily="2" charset="-122"/>
                <a:cs typeface="SimSun" panose="02010600030101010101" pitchFamily="2" charset="-122"/>
              </a:rPr>
              <a:t> pose_world2rcm </a:t>
            </a:r>
            <a:r>
              <a:rPr lang="zh-CN" sz="1800" kern="100" dirty="0">
                <a:effectLst/>
                <a:latin typeface="DengXian" panose="02010600030101010101" pitchFamily="2" charset="-122"/>
                <a:ea typeface="DengXian" panose="02010600030101010101" pitchFamily="2" charset="-122"/>
                <a:cs typeface="SimSun" panose="02010600030101010101" pitchFamily="2" charset="-122"/>
              </a:rPr>
              <a:t>转换回机器人局部坐标系。</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20000"/>
              </a:lnSpc>
            </a:pPr>
            <a:r>
              <a:rPr lang="en-FR" sz="1800" kern="100" dirty="0">
                <a:effectLst/>
                <a:latin typeface="DengXian" panose="02010600030101010101" pitchFamily="2" charset="-122"/>
                <a:ea typeface="DengXian" panose="02010600030101010101" pitchFamily="2" charset="-122"/>
                <a:cs typeface="SimSun" panose="02010600030101010101" pitchFamily="2" charset="-122"/>
              </a:rPr>
              <a:t>inverse_kinematics(target_pose, ...)</a:t>
            </a:r>
            <a:r>
              <a:rPr lang="zh-CN" sz="1800" kern="100" dirty="0">
                <a:effectLst/>
                <a:latin typeface="DengXian" panose="02010600030101010101" pitchFamily="2" charset="-122"/>
                <a:ea typeface="DengXian" panose="02010600030101010101" pitchFamily="2" charset="-122"/>
                <a:cs typeface="SimSun" panose="02010600030101010101" pitchFamily="2" charset="-122"/>
              </a:rPr>
              <a:t>：封装了</a:t>
            </a:r>
            <a:r>
              <a:rPr lang="en-FR" sz="1800" kern="100" dirty="0">
                <a:effectLst/>
                <a:latin typeface="DengXian" panose="02010600030101010101" pitchFamily="2" charset="-122"/>
                <a:ea typeface="DengXian" panose="02010600030101010101" pitchFamily="2" charset="-122"/>
                <a:cs typeface="SimSun" panose="02010600030101010101" pitchFamily="2" charset="-122"/>
              </a:rPr>
              <a:t> PyBullet </a:t>
            </a:r>
            <a:r>
              <a:rPr lang="zh-CN" sz="1800" kern="100" dirty="0">
                <a:effectLst/>
                <a:latin typeface="DengXian" panose="02010600030101010101" pitchFamily="2" charset="-122"/>
                <a:ea typeface="DengXian" panose="02010600030101010101" pitchFamily="2" charset="-122"/>
                <a:cs typeface="SimSun" panose="02010600030101010101" pitchFamily="2" charset="-122"/>
              </a:rPr>
              <a:t>的</a:t>
            </a:r>
            <a:r>
              <a:rPr lang="en-FR" sz="1800" kern="100" dirty="0">
                <a:effectLst/>
                <a:latin typeface="DengXian" panose="02010600030101010101" pitchFamily="2" charset="-122"/>
                <a:ea typeface="DengXian" panose="02010600030101010101" pitchFamily="2" charset="-122"/>
                <a:cs typeface="SimSun" panose="02010600030101010101" pitchFamily="2" charset="-122"/>
              </a:rPr>
              <a:t> p.calculateInverseKinematics</a:t>
            </a:r>
            <a:r>
              <a:rPr lang="zh-CN" sz="1800" kern="100" dirty="0">
                <a:effectLst/>
                <a:latin typeface="DengXian" panose="02010600030101010101" pitchFamily="2" charset="-122"/>
                <a:ea typeface="DengXian" panose="02010600030101010101" pitchFamily="2" charset="-122"/>
                <a:cs typeface="SimSun" panose="02010600030101010101" pitchFamily="2" charset="-122"/>
              </a:rPr>
              <a:t>。</a:t>
            </a:r>
            <a:r>
              <a:rPr lang="zh-CN" sz="1800" kern="100" dirty="0">
                <a:effectLst/>
                <a:latin typeface="Calibri" panose="020F0502020204030204" pitchFamily="34" charset="0"/>
                <a:ea typeface="DengXian" panose="02010600030101010101" pitchFamily="2" charset="-122"/>
                <a:cs typeface="SimSun" panose="02010600030101010101" pitchFamily="2" charset="-122"/>
              </a:rPr>
              <a:t>给一个空间目标坐标时，它会自动计算出</a:t>
            </a:r>
            <a:r>
              <a:rPr lang="en-FR" sz="1800" kern="100" dirty="0">
                <a:effectLst/>
                <a:latin typeface="DengXian" panose="02010600030101010101" pitchFamily="2" charset="-122"/>
                <a:ea typeface="DengXian" panose="02010600030101010101" pitchFamily="2" charset="-122"/>
                <a:cs typeface="SimSun" panose="02010600030101010101" pitchFamily="2" charset="-122"/>
              </a:rPr>
              <a:t> 6 </a:t>
            </a:r>
            <a:r>
              <a:rPr lang="zh-CN" sz="1800" kern="100" dirty="0">
                <a:effectLst/>
                <a:latin typeface="DengXian" panose="02010600030101010101" pitchFamily="2" charset="-122"/>
                <a:ea typeface="DengXian" panose="02010600030101010101" pitchFamily="2" charset="-122"/>
                <a:cs typeface="SimSun" panose="02010600030101010101" pitchFamily="2" charset="-122"/>
              </a:rPr>
              <a:t>个（或更多）关节各自需要旋转到什么角度，才能让末端达到该位置。</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20000"/>
              </a:lnSpc>
            </a:pPr>
            <a:r>
              <a:rPr lang="zh-CN" sz="1800" kern="100" dirty="0">
                <a:effectLst/>
                <a:latin typeface="Calibri" panose="020F0502020204030204" pitchFamily="34" charset="0"/>
                <a:ea typeface="DengXian" panose="02010600030101010101" pitchFamily="2" charset="-122"/>
                <a:cs typeface="SimSun" panose="02010600030101010101" pitchFamily="2" charset="-122"/>
              </a:rPr>
              <a:t>坐标系转换工具：</a:t>
            </a:r>
            <a:r>
              <a:rPr lang="en-FR" sz="1800" kern="100" dirty="0">
                <a:effectLst/>
                <a:latin typeface="DengXian" panose="02010600030101010101" pitchFamily="2" charset="-122"/>
                <a:ea typeface="DengXian" panose="02010600030101010101" pitchFamily="2" charset="-122"/>
                <a:cs typeface="SimSun" panose="02010600030101010101" pitchFamily="2" charset="-122"/>
              </a:rPr>
              <a:t>pose_rcm2world </a:t>
            </a:r>
            <a:r>
              <a:rPr lang="zh-CN" sz="1800" kern="100" dirty="0">
                <a:effectLst/>
                <a:latin typeface="DengXian" panose="02010600030101010101" pitchFamily="2" charset="-122"/>
                <a:ea typeface="DengXian" panose="02010600030101010101" pitchFamily="2" charset="-122"/>
                <a:cs typeface="SimSun" panose="02010600030101010101" pitchFamily="2" charset="-122"/>
              </a:rPr>
              <a:t>和</a:t>
            </a:r>
            <a:r>
              <a:rPr lang="en-FR" sz="1800" kern="100" dirty="0">
                <a:effectLst/>
                <a:latin typeface="DengXian" panose="02010600030101010101" pitchFamily="2" charset="-122"/>
                <a:ea typeface="DengXian" panose="02010600030101010101" pitchFamily="2" charset="-122"/>
                <a:cs typeface="SimSun" panose="02010600030101010101" pitchFamily="2" charset="-122"/>
              </a:rPr>
              <a:t> pose_world2rcm</a:t>
            </a:r>
            <a:r>
              <a:rPr lang="zh-CN" sz="1800" kern="100" dirty="0">
                <a:effectLst/>
                <a:latin typeface="DengXian" panose="02010600030101010101" pitchFamily="2" charset="-122"/>
                <a:ea typeface="DengXian" panose="02010600030101010101" pitchFamily="2" charset="-122"/>
                <a:cs typeface="SimSun" panose="02010600030101010101" pitchFamily="2" charset="-122"/>
              </a:rPr>
              <a:t>：提供矩阵运算，在全局仿真环境和机械臂局部空间之间转换位姿。</a:t>
            </a: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20000"/>
              </a:lnSpc>
              <a:buFont typeface="Calibri" panose="020F0502020204030204" pitchFamily="34" charset="0"/>
              <a:buChar char="-"/>
            </a:pPr>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1223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F9628-0C87-C62B-305C-BA56F9AB45A7}"/>
              </a:ext>
            </a:extLst>
          </p:cNvPr>
          <p:cNvSpPr>
            <a:spLocks noGrp="1"/>
          </p:cNvSpPr>
          <p:nvPr>
            <p:ph type="title"/>
          </p:nvPr>
        </p:nvSpPr>
        <p:spPr/>
        <p:txBody>
          <a:bodyPr>
            <a:normAutofit/>
          </a:bodyPr>
          <a:lstStyle/>
          <a:p>
            <a:r>
              <a:rPr lang="fr-FR" b="1" kern="100" dirty="0">
                <a:solidFill>
                  <a:srgbClr val="2F5496"/>
                </a:solidFill>
                <a:effectLst/>
                <a:latin typeface="Calibri Light" panose="020F0302020204030204" pitchFamily="34" charset="0"/>
                <a:ea typeface="DengXian Light" panose="02010600030101010101" pitchFamily="2" charset="-122"/>
                <a:cs typeface="Times New Roman" panose="02020603050405020304" pitchFamily="18" charset="0"/>
              </a:rPr>
              <a:t>3) Gym </a:t>
            </a:r>
            <a:r>
              <a:rPr lang="zh-CN" b="1" kern="100" dirty="0">
                <a:solidFill>
                  <a:srgbClr val="2F5496"/>
                </a:solidFill>
                <a:effectLst/>
                <a:latin typeface="Calibri Light" panose="020F0302020204030204" pitchFamily="34" charset="0"/>
                <a:ea typeface="DengXian Light" panose="02010600030101010101" pitchFamily="2" charset="-122"/>
                <a:cs typeface="Times New Roman" panose="02020603050405020304" pitchFamily="18" charset="0"/>
              </a:rPr>
              <a:t>仿真环境搭建</a:t>
            </a:r>
            <a:endParaRPr lang="fr-FR" dirty="0"/>
          </a:p>
        </p:txBody>
      </p:sp>
      <p:sp>
        <p:nvSpPr>
          <p:cNvPr id="3" name="Content Placeholder 2">
            <a:extLst>
              <a:ext uri="{FF2B5EF4-FFF2-40B4-BE49-F238E27FC236}">
                <a16:creationId xmlns:a16="http://schemas.microsoft.com/office/drawing/2014/main" id="{5DB0538F-7F64-B8BC-41F6-CB5C2E7EC21F}"/>
              </a:ext>
            </a:extLst>
          </p:cNvPr>
          <p:cNvSpPr>
            <a:spLocks noGrp="1"/>
          </p:cNvSpPr>
          <p:nvPr>
            <p:ph idx="1"/>
          </p:nvPr>
        </p:nvSpPr>
        <p:spPr>
          <a:xfrm>
            <a:off x="168498" y="1460500"/>
            <a:ext cx="11353800" cy="5032375"/>
          </a:xfrm>
        </p:spPr>
        <p:txBody>
          <a:bodyPr>
            <a:normAutofit lnSpcReduction="10000"/>
          </a:bodyPr>
          <a:lstStyle/>
          <a:p>
            <a:pPr marL="0" indent="0">
              <a:lnSpc>
                <a:spcPct val="100000"/>
              </a:lnSpc>
              <a:buNone/>
            </a:pP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Gym</a:t>
            </a:r>
            <a:r>
              <a:rPr lang="zh-CN" sz="1600" kern="100" dirty="0">
                <a:effectLst/>
                <a:latin typeface="DengXian" panose="02010600030101010101" pitchFamily="2" charset="-122"/>
                <a:ea typeface="DengXian" panose="02010600030101010101" pitchFamily="2" charset="-122"/>
                <a:cs typeface="Times New Roman" panose="02020603050405020304" pitchFamily="18" charset="0"/>
              </a:rPr>
              <a:t>目录定义了 </a:t>
            </a:r>
            <a:r>
              <a:rPr lang="en-FR" sz="1600" b="1" kern="100" dirty="0">
                <a:effectLst/>
                <a:latin typeface="DengXian" panose="02010600030101010101" pitchFamily="2" charset="-122"/>
                <a:ea typeface="DengXian" panose="02010600030101010101" pitchFamily="2" charset="-122"/>
                <a:cs typeface="Times New Roman" panose="02020603050405020304" pitchFamily="18" charset="0"/>
              </a:rPr>
              <a:t>SurRoL</a:t>
            </a: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zh-CN" sz="1600" kern="100" dirty="0">
                <a:effectLst/>
                <a:latin typeface="DengXian" panose="02010600030101010101" pitchFamily="2" charset="-122"/>
                <a:ea typeface="DengXian" panose="02010600030101010101" pitchFamily="2" charset="-122"/>
                <a:cs typeface="Times New Roman" panose="02020603050405020304" pitchFamily="18" charset="0"/>
              </a:rPr>
              <a:t>仿真库与</a:t>
            </a:r>
            <a:r>
              <a:rPr lang="en-FR" sz="1600" kern="100" dirty="0">
                <a:effectLst/>
                <a:latin typeface="DengXian" panose="02010600030101010101" pitchFamily="2" charset="-122"/>
                <a:ea typeface="DengXian" panose="02010600030101010101" pitchFamily="2" charset="-122"/>
                <a:cs typeface="Times New Roman" panose="02020603050405020304" pitchFamily="18" charset="0"/>
              </a:rPr>
              <a:t> OpenAI Gym </a:t>
            </a:r>
            <a:r>
              <a:rPr lang="zh-CN" sz="1600" kern="100" dirty="0">
                <a:effectLst/>
                <a:latin typeface="DengXian" panose="02010600030101010101" pitchFamily="2" charset="-122"/>
                <a:ea typeface="DengXian" panose="02010600030101010101" pitchFamily="2" charset="-122"/>
                <a:cs typeface="Times New Roman" panose="02020603050405020304" pitchFamily="18" charset="0"/>
              </a:rPr>
              <a:t>强化学习框架的接口，涵盖了从基础环境基类到具体任务注册的整个逻辑结构</a:t>
            </a:r>
            <a:r>
              <a:rPr lang="zh-CN" sz="1600" kern="100" dirty="0">
                <a:effectLst/>
                <a:latin typeface="Calibri" panose="020F0502020204030204" pitchFamily="34" charset="0"/>
                <a:ea typeface="DengXian" panose="02010600030101010101" pitchFamily="2" charset="-122"/>
                <a:cs typeface="SimSun" panose="02010600030101010101" pitchFamily="2" charset="-122"/>
              </a:rPr>
              <a:t>。</a:t>
            </a:r>
            <a:endParaRPr lang="fr-FR" altLang="zh-CN" sz="1600" kern="100" dirty="0">
              <a:effectLst/>
              <a:latin typeface="Calibri" panose="020F0502020204030204" pitchFamily="34" charset="0"/>
              <a:ea typeface="DengXian" panose="02010600030101010101" pitchFamily="2" charset="-122"/>
              <a:cs typeface="SimSun" panose="02010600030101010101" pitchFamily="2" charset="-122"/>
            </a:endParaRPr>
          </a:p>
          <a:p>
            <a:pPr marL="0" indent="0">
              <a:lnSpc>
                <a:spcPct val="100000"/>
              </a:lnSpc>
              <a:buNone/>
            </a:pP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这是整个 </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SurRoL</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仿真的核心抽象类 </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SurRoLEnv</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继承自 </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gym.Env</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并且规定了机械臂仿真环境的标准行为：</a:t>
            </a:r>
          </a:p>
          <a:p>
            <a:pPr marL="0" indent="0">
              <a:lnSpc>
                <a:spcPct val="100000"/>
              </a:lnSpc>
              <a:buNone/>
            </a:pPr>
            <a:r>
              <a:rPr lang="en-US" altLang="zh-CN" sz="1600" kern="100" dirty="0">
                <a:effectLst/>
                <a:latin typeface="Calibri" panose="020F0502020204030204" pitchFamily="34" charset="0"/>
                <a:ea typeface="DengXian" panose="02010600030101010101" pitchFamily="2" charset="-122"/>
                <a:cs typeface="Times New Roman" panose="02020603050405020304" pitchFamily="18" charset="0"/>
              </a:rPr>
              <a:t>•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初始化 </a:t>
            </a:r>
            <a:r>
              <a:rPr lang="en-US" altLang="zh-CN" sz="1600" kern="100" dirty="0">
                <a:effectLst/>
                <a:latin typeface="Calibri" panose="020F0502020204030204" pitchFamily="34" charset="0"/>
                <a:ea typeface="DengXian" panose="02010600030101010101" pitchFamily="2" charset="-122"/>
                <a:cs typeface="Times New Roman" panose="02020603050405020304" pitchFamily="18" charset="0"/>
              </a:rPr>
              <a:t>(__</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init</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__)：</a:t>
            </a:r>
          </a:p>
          <a:p>
            <a:pPr marL="0" indent="0">
              <a:lnSpc>
                <a:spcPct val="100000"/>
              </a:lnSpc>
              <a:buNone/>
            </a:pP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o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渲染模式：支持 </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human（</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显示 </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PyBullet</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 GUI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窗口）和 </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rgb_array</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后台直接渲染，适合服务器训练）。集成了 </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EGL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渲染器插件，允许在服务器端进行硬件加速的离屏渲染。</a:t>
            </a:r>
          </a:p>
          <a:p>
            <a:pPr marL="0" indent="0">
              <a:lnSpc>
                <a:spcPct val="100000"/>
              </a:lnSpc>
              <a:buNone/>
            </a:pP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o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物理设置：设置重力（</a:t>
            </a:r>
            <a:r>
              <a:rPr lang="en-US" altLang="zh-CN" sz="1600" kern="100" dirty="0">
                <a:effectLst/>
                <a:latin typeface="Calibri" panose="020F0502020204030204" pitchFamily="34" charset="0"/>
                <a:ea typeface="DengXian" panose="02010600030101010101" pitchFamily="2" charset="-122"/>
                <a:cs typeface="Times New Roman" panose="02020603050405020304" pitchFamily="18" charset="0"/>
              </a:rPr>
              <a:t>-9.81</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）、加载地面（</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plane.urdf</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以及配置摄像机视角（</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View Matrix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和 </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Projection Matrix）。</a:t>
            </a:r>
          </a:p>
          <a:p>
            <a:pPr marL="0" indent="0">
              <a:lnSpc>
                <a:spcPct val="100000"/>
              </a:lnSpc>
              <a:buNone/>
            </a:pP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交互逻辑 </a:t>
            </a:r>
            <a:r>
              <a:rPr lang="en-US" altLang="zh-CN" sz="1600" kern="100" dirty="0">
                <a:effectLst/>
                <a:latin typeface="Calibri" panose="020F0502020204030204" pitchFamily="34" charset="0"/>
                <a:ea typeface="DengXian" panose="02010600030101010101" pitchFamily="2" charset="-122"/>
                <a:cs typeface="Times New Roman" panose="02020603050405020304" pitchFamily="18" charset="0"/>
              </a:rPr>
              <a:t>(</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step)：</a:t>
            </a:r>
          </a:p>
          <a:p>
            <a:pPr marL="0" indent="0">
              <a:lnSpc>
                <a:spcPct val="100000"/>
              </a:lnSpc>
              <a:buNone/>
            </a:pP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o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接收动作（</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Action），</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执行仿真步进（</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step(</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self._duration</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并返回观测值（</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Obs</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奖励（</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Reward）、</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是否结束（</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Done）</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和信息（</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Info）。（</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执行 </a:t>
            </a:r>
            <a:r>
              <a:rPr lang="en-US" altLang="zh-CN" sz="1600" kern="100" dirty="0">
                <a:effectLst/>
                <a:latin typeface="Calibri" panose="020F0502020204030204" pitchFamily="34" charset="0"/>
                <a:ea typeface="DengXian" panose="02010600030101010101" pitchFamily="2" charset="-122"/>
                <a:cs typeface="Times New Roman" panose="02020603050405020304" pitchFamily="18" charset="0"/>
              </a:rPr>
              <a:t>_</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duration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时长的仿真（默认 </a:t>
            </a:r>
            <a:r>
              <a:rPr lang="en-US" altLang="zh-CN" sz="1600" kern="100" dirty="0">
                <a:effectLst/>
                <a:latin typeface="Calibri" panose="020F0502020204030204" pitchFamily="34" charset="0"/>
                <a:ea typeface="DengXian" panose="02010600030101010101" pitchFamily="2" charset="-122"/>
                <a:cs typeface="Times New Roman" panose="02020603050405020304" pitchFamily="18" charset="0"/>
              </a:rPr>
              <a:t>0.2</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s），</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并返回状态映射）</a:t>
            </a:r>
          </a:p>
          <a:p>
            <a:pPr marL="0" indent="0">
              <a:lnSpc>
                <a:spcPct val="100000"/>
              </a:lnSpc>
              <a:buNone/>
            </a:pP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o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成功判定：通过 </a:t>
            </a:r>
            <a:r>
              <a:rPr lang="en-US" altLang="zh-CN" sz="1600" kern="100" dirty="0">
                <a:effectLst/>
                <a:latin typeface="Calibri" panose="020F0502020204030204" pitchFamily="34" charset="0"/>
                <a:ea typeface="DengXian" panose="02010600030101010101" pitchFamily="2" charset="-122"/>
                <a:cs typeface="Times New Roman" panose="02020603050405020304" pitchFamily="18" charset="0"/>
              </a:rPr>
              <a:t>_</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is_success</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函数判断当前是否达成目标（</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Goal）。</a:t>
            </a:r>
          </a:p>
          <a:p>
            <a:pPr marL="0" indent="0">
              <a:lnSpc>
                <a:spcPct val="100000"/>
              </a:lnSpc>
              <a:buNone/>
            </a:pP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重置 </a:t>
            </a:r>
            <a:r>
              <a:rPr lang="en-US" altLang="zh-CN" sz="1600" kern="100" dirty="0">
                <a:effectLst/>
                <a:latin typeface="Calibri" panose="020F0502020204030204" pitchFamily="34" charset="0"/>
                <a:ea typeface="DengXian" panose="02010600030101010101" pitchFamily="2" charset="-122"/>
                <a:cs typeface="Times New Roman" panose="02020603050405020304" pitchFamily="18" charset="0"/>
              </a:rPr>
              <a:t>(</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reset)：</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清空仿真场景，重新随机生成目标 </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self.goal</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a:t>
            </a:r>
          </a:p>
          <a:p>
            <a:pPr marL="0" indent="0">
              <a:lnSpc>
                <a:spcPct val="100000"/>
              </a:lnSpc>
              <a:buNone/>
            </a:pP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	render():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提供 </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RGB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图像输出和 </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Mask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掩码，方便视觉算法开发。</a:t>
            </a:r>
          </a:p>
          <a:p>
            <a:pPr marL="0" indent="0">
              <a:lnSpc>
                <a:spcPct val="100000"/>
              </a:lnSpc>
              <a:buNone/>
            </a:pPr>
            <a:r>
              <a:rPr lang="en-US" altLang="zh-CN" sz="16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Oracle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策略接口：定义了 </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get_oracle_action</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占位符，用于后续实现“专家算法”，引导机械臂完成任务。</a:t>
            </a:r>
          </a:p>
          <a:p>
            <a:pPr marL="0" indent="0">
              <a:lnSpc>
                <a:spcPct val="100000"/>
              </a:lnSpc>
              <a:buNone/>
            </a:pPr>
            <a:r>
              <a:rPr lang="en-US" altLang="zh-CN" sz="1600" kern="100" dirty="0">
                <a:effectLst/>
                <a:latin typeface="Calibri" panose="020F0502020204030204" pitchFamily="34" charset="0"/>
                <a:ea typeface="DengXian" panose="02010600030101010101" pitchFamily="2" charset="-122"/>
                <a:cs typeface="Times New Roman" panose="02020603050405020304" pitchFamily="18" charset="0"/>
              </a:rPr>
              <a:t>•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目标导向结构：环境遵循 </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GoalEnv</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模式，观测值通常包含 </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observation、achieved_goal</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已达到的目标）和 </a:t>
            </a:r>
            <a:r>
              <a:rPr lang="en-GB" sz="1600" kern="100" dirty="0" err="1">
                <a:effectLst/>
                <a:latin typeface="Calibri" panose="020F0502020204030204" pitchFamily="34" charset="0"/>
                <a:ea typeface="DengXian" panose="02010600030101010101" pitchFamily="2" charset="-122"/>
                <a:cs typeface="Times New Roman" panose="02020603050405020304" pitchFamily="18" charset="0"/>
              </a:rPr>
              <a:t>desired_goal</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期望的目标）。适用 </a:t>
            </a:r>
            <a:r>
              <a:rPr lang="en-GB" sz="1600" kern="100" dirty="0">
                <a:effectLst/>
                <a:latin typeface="Calibri" panose="020F0502020204030204" pitchFamily="34" charset="0"/>
                <a:ea typeface="DengXian" panose="02010600030101010101" pitchFamily="2" charset="-122"/>
                <a:cs typeface="Times New Roman" panose="02020603050405020304" pitchFamily="18" charset="0"/>
              </a:rPr>
              <a:t>HER (Hindsight Experience Replay) </a:t>
            </a:r>
            <a:r>
              <a:rPr lang="zh-CN" altLang="en-US" sz="1600" kern="100" dirty="0">
                <a:effectLst/>
                <a:latin typeface="Calibri" panose="020F0502020204030204" pitchFamily="34" charset="0"/>
                <a:ea typeface="DengXian" panose="02010600030101010101" pitchFamily="2" charset="-122"/>
                <a:cs typeface="Times New Roman" panose="02020603050405020304" pitchFamily="18" charset="0"/>
              </a:rPr>
              <a:t>算法。</a:t>
            </a:r>
          </a:p>
          <a:p>
            <a:pPr marL="0" indent="0">
              <a:lnSpc>
                <a:spcPct val="100000"/>
              </a:lnSpc>
              <a:buNone/>
            </a:pPr>
            <a:endParaRPr lang="zh-CN" altLang="en-US" sz="105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indent="0">
              <a:lnSpc>
                <a:spcPct val="100000"/>
              </a:lnSpc>
              <a:buNone/>
            </a:pPr>
            <a:endParaRPr lang="en-FR" sz="1050" kern="100" dirty="0">
              <a:effectLst/>
              <a:latin typeface="Calibri" panose="020F0502020204030204" pitchFamily="34" charset="0"/>
              <a:ea typeface="DengXian" panose="02010600030101010101" pitchFamily="2" charset="-122"/>
              <a:cs typeface="Times New Roman" panose="02020603050405020304" pitchFamily="18" charset="0"/>
            </a:endParaRPr>
          </a:p>
          <a:p>
            <a:pPr marL="0" indent="0">
              <a:lnSpc>
                <a:spcPct val="100000"/>
              </a:lnSpc>
              <a:buNone/>
            </a:pPr>
            <a:endParaRPr lang="fr-FR" sz="1200" dirty="0"/>
          </a:p>
        </p:txBody>
      </p:sp>
    </p:spTree>
    <p:extLst>
      <p:ext uri="{BB962C8B-B14F-4D97-AF65-F5344CB8AC3E}">
        <p14:creationId xmlns:p14="http://schemas.microsoft.com/office/powerpoint/2010/main" val="3584003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74441A8-F579-B009-EEBA-A13A829EC897}"/>
              </a:ext>
            </a:extLst>
          </p:cNvPr>
          <p:cNvSpPr>
            <a:spLocks noGrp="1" noChangeArrowheads="1"/>
          </p:cNvSpPr>
          <p:nvPr>
            <p:ph type="title"/>
          </p:nvPr>
        </p:nvSpPr>
        <p:spPr bwMode="auto">
          <a:xfrm>
            <a:off x="838200" y="346972"/>
            <a:ext cx="811311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FR" altLang="zh-CN" b="0"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4) gym/__init__.py</a:t>
            </a:r>
            <a:r>
              <a:rPr kumimoji="0" lang="en-FR" altLang="zh-CN" b="0"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 (</a:t>
            </a:r>
            <a:r>
              <a:rPr kumimoji="0" lang="zh-CN" altLang="en-FR"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任务注册表</a:t>
            </a:r>
            <a:r>
              <a:rPr kumimoji="0" lang="en-FR" altLang="zh-CN" b="0"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r>
              <a:rPr kumimoji="0" lang="en-FR" altLang="zh-CN" b="0" i="0" u="none" strike="noStrike" cap="none" normalizeH="0" baseline="0" dirty="0">
                <a:ln>
                  <a:noFill/>
                </a:ln>
                <a:solidFill>
                  <a:schemeClr val="tx1"/>
                </a:solidFill>
                <a:effectLst/>
                <a:latin typeface="Arial" panose="020B0604020202020204" pitchFamily="34" charset="0"/>
              </a:rPr>
              <a:t> </a:t>
            </a:r>
          </a:p>
        </p:txBody>
      </p:sp>
      <p:sp>
        <p:nvSpPr>
          <p:cNvPr id="5" name="Rectangle 2">
            <a:extLst>
              <a:ext uri="{FF2B5EF4-FFF2-40B4-BE49-F238E27FC236}">
                <a16:creationId xmlns:a16="http://schemas.microsoft.com/office/drawing/2014/main" id="{B432AED2-CA9D-B2BA-D882-948989D8C8D0}"/>
              </a:ext>
            </a:extLst>
          </p:cNvPr>
          <p:cNvSpPr>
            <a:spLocks noGrp="1" noChangeArrowheads="1"/>
          </p:cNvSpPr>
          <p:nvPr>
            <p:ph idx="1"/>
          </p:nvPr>
        </p:nvSpPr>
        <p:spPr bwMode="auto">
          <a:xfrm>
            <a:off x="603697" y="1116413"/>
            <a:ext cx="10984606"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FR" altLang="en-FR" sz="20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这个文件负责将具体的手术操作任务注册到</a:t>
            </a:r>
            <a:r>
              <a:rPr kumimoji="0" lang="en-FR" altLang="en-FR" sz="20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Arial" panose="020B0604020202020204" pitchFamily="34" charset="0"/>
              </a:rPr>
              <a:t> Gym </a:t>
            </a:r>
            <a:r>
              <a:rPr kumimoji="0" lang="en-FR" altLang="en-FR" sz="20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框架中，方便通过</a:t>
            </a:r>
            <a:r>
              <a:rPr kumimoji="0" lang="en-FR" altLang="en-FR" sz="20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Arial" panose="020B0604020202020204" pitchFamily="34" charset="0"/>
              </a:rPr>
              <a:t> </a:t>
            </a:r>
            <a:r>
              <a:rPr kumimoji="0" lang="en-FR" altLang="en-FR" sz="2000" b="0"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gym.make('TaskName-v0')</a:t>
            </a:r>
            <a:r>
              <a:rPr kumimoji="0" lang="en-FR" altLang="en-FR" sz="2000" b="0" i="0" u="none" strike="noStrike" cap="none" normalizeH="0" baseline="0" dirty="0">
                <a:ln>
                  <a:noFill/>
                </a:ln>
                <a:solidFill>
                  <a:srgbClr val="1F1F1F"/>
                </a:solidFill>
                <a:effectLst/>
                <a:ea typeface="DengXian" panose="02010600030101010101" pitchFamily="2" charset="-122"/>
                <a:cs typeface="Arial" panose="020B0604020202020204" pitchFamily="34" charset="0"/>
              </a:rPr>
              <a:t> </a:t>
            </a:r>
            <a:r>
              <a:rPr kumimoji="0" lang="en-FR" altLang="en-FR" sz="20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直接调用。</a:t>
            </a:r>
            <a:endParaRPr lang="en-US" altLang="en-FR" sz="2000" dirty="0">
              <a:solidFill>
                <a:srgbClr val="1F1F1F"/>
              </a:solidFill>
              <a:latin typeface="Arial" panose="020B0604020202020204" pitchFamily="34" charset="0"/>
              <a:ea typeface="DengXian" panose="02010600030101010101" pitchFamily="2" charset="-122"/>
              <a:cs typeface="Microsoft YaHei"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FR" sz="2000" b="0" i="0" u="none" strike="noStrike" cap="none" normalizeH="0" baseline="0" dirty="0">
                <a:ln>
                  <a:noFill/>
                </a:ln>
                <a:solidFill>
                  <a:schemeClr val="tx1"/>
                </a:solidFill>
                <a:effectLst/>
                <a:latin typeface="Arial" panose="020B0604020202020204" pitchFamily="34" charset="0"/>
              </a:rPr>
              <a:t>•	PSM </a:t>
            </a:r>
            <a:r>
              <a:rPr kumimoji="0" lang="zh-CN" altLang="en-US" sz="2000" b="0" i="0" u="none" strike="noStrike" cap="none" normalizeH="0" baseline="0" dirty="0">
                <a:ln>
                  <a:noFill/>
                </a:ln>
                <a:solidFill>
                  <a:schemeClr val="tx1"/>
                </a:solidFill>
                <a:effectLst/>
                <a:latin typeface="Arial" panose="020B0604020202020204" pitchFamily="34" charset="0"/>
              </a:rPr>
              <a:t>任务 </a:t>
            </a:r>
            <a:r>
              <a:rPr kumimoji="0" lang="en-US" altLang="zh-CN" sz="2000" b="0" i="0" u="none" strike="noStrike" cap="none" normalizeH="0" baseline="0" dirty="0">
                <a:ln>
                  <a:noFill/>
                </a:ln>
                <a:solidFill>
                  <a:schemeClr val="tx1"/>
                </a:solidFill>
                <a:effectLst/>
                <a:latin typeface="Arial" panose="020B0604020202020204" pitchFamily="34" charset="0"/>
              </a:rPr>
              <a:t>(</a:t>
            </a:r>
            <a:r>
              <a:rPr kumimoji="0" lang="zh-CN" altLang="en-US" sz="2000" b="0" i="0" u="none" strike="noStrike" cap="none" normalizeH="0" baseline="0" dirty="0">
                <a:ln>
                  <a:noFill/>
                </a:ln>
                <a:solidFill>
                  <a:schemeClr val="tx1"/>
                </a:solidFill>
                <a:effectLst/>
                <a:latin typeface="Arial" panose="020B0604020202020204" pitchFamily="34" charset="0"/>
              </a:rPr>
              <a:t>单臂手术臂</a:t>
            </a:r>
            <a:r>
              <a:rPr kumimoji="0" lang="en-US" altLang="zh-CN" sz="2000" b="0" i="0" u="none" strike="noStrike" cap="none" normalizeH="0" baseline="0" dirty="0">
                <a:ln>
                  <a:noFill/>
                </a:ln>
                <a:solidFill>
                  <a:schemeClr val="tx1"/>
                </a:solidFill>
                <a:effectLst/>
                <a:latin typeface="Arial" panose="020B0604020202020204" pitchFamily="34" charset="0"/>
              </a:rPr>
              <a:t>)</a:t>
            </a:r>
            <a:r>
              <a:rPr kumimoji="0" lang="zh-CN"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FR" sz="2000" b="0" i="0" u="none" strike="noStrike" cap="none" normalizeH="0" baseline="0" dirty="0">
                <a:ln>
                  <a:noFill/>
                </a:ln>
                <a:solidFill>
                  <a:schemeClr val="tx1"/>
                </a:solidFill>
                <a:effectLst/>
                <a:latin typeface="Arial" panose="020B0604020202020204" pitchFamily="34" charset="0"/>
              </a:rPr>
              <a:t>o	NeedleReach-v0：</a:t>
            </a:r>
            <a:r>
              <a:rPr kumimoji="0" lang="zh-CN" altLang="en-US" sz="2000" b="0" i="0" u="none" strike="noStrike" cap="none" normalizeH="0" baseline="0" dirty="0">
                <a:ln>
                  <a:noFill/>
                </a:ln>
                <a:solidFill>
                  <a:schemeClr val="tx1"/>
                </a:solidFill>
                <a:effectLst/>
                <a:latin typeface="Arial" panose="020B0604020202020204" pitchFamily="34" charset="0"/>
              </a:rPr>
              <a:t>触碰缝合针。</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FR" sz="2000" b="0" i="0" u="none" strike="noStrike" cap="none" normalizeH="0" baseline="0" dirty="0">
                <a:ln>
                  <a:noFill/>
                </a:ln>
                <a:solidFill>
                  <a:schemeClr val="tx1"/>
                </a:solidFill>
                <a:effectLst/>
                <a:latin typeface="Arial" panose="020B0604020202020204" pitchFamily="34" charset="0"/>
              </a:rPr>
              <a:t>o	NeedlePick-v0：</a:t>
            </a:r>
            <a:r>
              <a:rPr kumimoji="0" lang="zh-CN" altLang="en-US" sz="2000" b="0" i="0" u="none" strike="noStrike" cap="none" normalizeH="0" baseline="0" dirty="0">
                <a:ln>
                  <a:noFill/>
                </a:ln>
                <a:solidFill>
                  <a:schemeClr val="tx1"/>
                </a:solidFill>
                <a:effectLst/>
                <a:latin typeface="Arial" panose="020B0604020202020204" pitchFamily="34" charset="0"/>
              </a:rPr>
              <a:t>拾取缝合针。</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FR" sz="2000" b="0" i="0" u="none" strike="noStrike" cap="none" normalizeH="0" baseline="0" dirty="0">
                <a:ln>
                  <a:noFill/>
                </a:ln>
                <a:solidFill>
                  <a:schemeClr val="tx1"/>
                </a:solidFill>
                <a:effectLst/>
                <a:latin typeface="Arial" panose="020B0604020202020204" pitchFamily="34" charset="0"/>
              </a:rPr>
              <a:t>o	PegTransfer-v0：</a:t>
            </a:r>
            <a:r>
              <a:rPr kumimoji="0" lang="zh-CN" altLang="en-US" sz="2000" b="0" i="0" u="none" strike="noStrike" cap="none" normalizeH="0" baseline="0" dirty="0">
                <a:ln>
                  <a:noFill/>
                </a:ln>
                <a:solidFill>
                  <a:schemeClr val="tx1"/>
                </a:solidFill>
                <a:effectLst/>
                <a:latin typeface="Arial" panose="020B0604020202020204" pitchFamily="34" charset="0"/>
              </a:rPr>
              <a:t>套圈搬运。</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FR" sz="2000" b="0" i="0" u="none" strike="noStrike" cap="none" normalizeH="0" baseline="0" dirty="0">
                <a:ln>
                  <a:noFill/>
                </a:ln>
                <a:solidFill>
                  <a:schemeClr val="tx1"/>
                </a:solidFill>
                <a:effectLst/>
                <a:latin typeface="Arial" panose="020B0604020202020204" pitchFamily="34" charset="0"/>
              </a:rPr>
              <a:t>o	GauzeRetrieve-v0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F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FR" sz="2000" b="0" i="0" u="none" strike="noStrike" cap="none" normalizeH="0" baseline="0" dirty="0">
                <a:ln>
                  <a:noFill/>
                </a:ln>
                <a:solidFill>
                  <a:schemeClr val="tx1"/>
                </a:solidFill>
                <a:effectLst/>
                <a:latin typeface="Arial" panose="020B0604020202020204" pitchFamily="34" charset="0"/>
              </a:rPr>
              <a:t>•	</a:t>
            </a:r>
            <a:r>
              <a:rPr kumimoji="0" lang="zh-CN" altLang="en-US" sz="2000" b="0" i="0" u="none" strike="noStrike" cap="none" normalizeH="0" baseline="0" dirty="0">
                <a:ln>
                  <a:noFill/>
                </a:ln>
                <a:solidFill>
                  <a:schemeClr val="tx1"/>
                </a:solidFill>
                <a:effectLst/>
                <a:latin typeface="Arial" panose="020B0604020202020204" pitchFamily="34" charset="0"/>
              </a:rPr>
              <a:t>双臂协作任务 </a:t>
            </a:r>
            <a:r>
              <a:rPr kumimoji="0" lang="en-US" altLang="zh-CN" sz="2000" b="0" i="0" u="none" strike="noStrike" cap="none" normalizeH="0" baseline="0" dirty="0">
                <a:ln>
                  <a:noFill/>
                </a:ln>
                <a:solidFill>
                  <a:schemeClr val="tx1"/>
                </a:solidFill>
                <a:effectLst/>
                <a:latin typeface="Arial" panose="020B0604020202020204" pitchFamily="34" charset="0"/>
              </a:rPr>
              <a:t>(</a:t>
            </a:r>
            <a:r>
              <a:rPr kumimoji="0" lang="en-GB" altLang="en-FR" sz="2000" b="0" i="0" u="none" strike="noStrike" cap="none" normalizeH="0" baseline="0" dirty="0">
                <a:ln>
                  <a:noFill/>
                </a:ln>
                <a:solidFill>
                  <a:schemeClr val="tx1"/>
                </a:solidFill>
                <a:effectLst/>
                <a:latin typeface="Arial" panose="020B0604020202020204" pitchFamily="34" charset="0"/>
              </a:rPr>
              <a:t>Bimanual)：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FR" sz="2000" b="0" i="0" u="none" strike="noStrike" cap="none" normalizeH="0" baseline="0" dirty="0">
                <a:ln>
                  <a:noFill/>
                </a:ln>
                <a:solidFill>
                  <a:schemeClr val="tx1"/>
                </a:solidFill>
                <a:effectLst/>
                <a:latin typeface="Arial" panose="020B0604020202020204" pitchFamily="34" charset="0"/>
              </a:rPr>
              <a:t>o	NeedleRegrasp-v0：</a:t>
            </a:r>
            <a:r>
              <a:rPr kumimoji="0" lang="zh-CN" altLang="en-US" sz="2000" b="0" i="0" u="none" strike="noStrike" cap="none" normalizeH="0" baseline="0" dirty="0">
                <a:ln>
                  <a:noFill/>
                </a:ln>
                <a:solidFill>
                  <a:schemeClr val="tx1"/>
                </a:solidFill>
                <a:effectLst/>
                <a:latin typeface="Arial" panose="020B0604020202020204" pitchFamily="34" charset="0"/>
              </a:rPr>
              <a:t>双臂交替传递缝合针。</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FR" sz="2000" b="0" i="0" u="none" strike="noStrike" cap="none" normalizeH="0" baseline="0" dirty="0">
                <a:ln>
                  <a:noFill/>
                </a:ln>
                <a:solidFill>
                  <a:schemeClr val="tx1"/>
                </a:solidFill>
                <a:effectLst/>
                <a:latin typeface="Arial" panose="020B0604020202020204" pitchFamily="34" charset="0"/>
              </a:rPr>
              <a:t>o	BiPegTransfer-v0：</a:t>
            </a:r>
            <a:r>
              <a:rPr kumimoji="0" lang="zh-CN" altLang="en-US" sz="2000" b="0" i="0" u="none" strike="noStrike" cap="none" normalizeH="0" baseline="0" dirty="0">
                <a:ln>
                  <a:noFill/>
                </a:ln>
                <a:solidFill>
                  <a:schemeClr val="tx1"/>
                </a:solidFill>
                <a:effectLst/>
                <a:latin typeface="Arial" panose="020B0604020202020204" pitchFamily="34" charset="0"/>
              </a:rPr>
              <a:t>双臂协作进行套圈搬运。</a:t>
            </a:r>
            <a:endParaRPr kumimoji="0" lang="en-US" altLang="zh-CN"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rPr>
              <a:t>•	</a:t>
            </a:r>
            <a:r>
              <a:rPr kumimoji="0" lang="en-GB" altLang="en-FR" sz="2000" b="0" i="0" u="none" strike="noStrike" cap="none" normalizeH="0" baseline="0" dirty="0">
                <a:ln>
                  <a:noFill/>
                </a:ln>
                <a:solidFill>
                  <a:schemeClr val="tx1"/>
                </a:solidFill>
                <a:effectLst/>
                <a:latin typeface="Arial" panose="020B0604020202020204" pitchFamily="34" charset="0"/>
              </a:rPr>
              <a:t>ECM </a:t>
            </a:r>
            <a:r>
              <a:rPr kumimoji="0" lang="zh-CN" altLang="en-US" sz="2000" b="0" i="0" u="none" strike="noStrike" cap="none" normalizeH="0" baseline="0" dirty="0">
                <a:ln>
                  <a:noFill/>
                </a:ln>
                <a:solidFill>
                  <a:schemeClr val="tx1"/>
                </a:solidFill>
                <a:effectLst/>
                <a:latin typeface="Arial" panose="020B0604020202020204" pitchFamily="34" charset="0"/>
              </a:rPr>
              <a:t>任务 </a:t>
            </a:r>
            <a:r>
              <a:rPr kumimoji="0" lang="en-US" altLang="zh-CN" sz="2000" b="0" i="0" u="none" strike="noStrike" cap="none" normalizeH="0" baseline="0" dirty="0">
                <a:ln>
                  <a:noFill/>
                </a:ln>
                <a:solidFill>
                  <a:schemeClr val="tx1"/>
                </a:solidFill>
                <a:effectLst/>
                <a:latin typeface="Arial" panose="020B0604020202020204" pitchFamily="34" charset="0"/>
              </a:rPr>
              <a:t>(</a:t>
            </a:r>
            <a:r>
              <a:rPr kumimoji="0" lang="zh-CN" altLang="en-US" sz="2000" b="0" i="0" u="none" strike="noStrike" cap="none" normalizeH="0" baseline="0" dirty="0">
                <a:ln>
                  <a:noFill/>
                </a:ln>
                <a:solidFill>
                  <a:schemeClr val="tx1"/>
                </a:solidFill>
                <a:effectLst/>
                <a:latin typeface="Arial" panose="020B0604020202020204" pitchFamily="34" charset="0"/>
              </a:rPr>
              <a:t>内窥镜相机臂</a:t>
            </a:r>
            <a:r>
              <a:rPr kumimoji="0" lang="en-US" altLang="zh-CN" sz="2000" b="0" i="0" u="none" strike="noStrike" cap="none" normalizeH="0" baseline="0" dirty="0">
                <a:ln>
                  <a:noFill/>
                </a:ln>
                <a:solidFill>
                  <a:schemeClr val="tx1"/>
                </a:solidFill>
                <a:effectLst/>
                <a:latin typeface="Arial" panose="020B0604020202020204" pitchFamily="34" charset="0"/>
              </a:rPr>
              <a:t>)</a:t>
            </a:r>
            <a:r>
              <a:rPr kumimoji="0" lang="zh-CN"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FR" sz="2000" b="0" i="0" u="none" strike="noStrike" cap="none" normalizeH="0" baseline="0" dirty="0">
                <a:ln>
                  <a:noFill/>
                </a:ln>
                <a:solidFill>
                  <a:schemeClr val="tx1"/>
                </a:solidFill>
                <a:effectLst/>
                <a:latin typeface="Arial" panose="020B0604020202020204" pitchFamily="34" charset="0"/>
              </a:rPr>
              <a:t>o	ECMReach-v0：</a:t>
            </a:r>
            <a:r>
              <a:rPr kumimoji="0" lang="zh-CN" altLang="en-US" sz="2000" b="0" i="0" u="none" strike="noStrike" cap="none" normalizeH="0" baseline="0" dirty="0">
                <a:ln>
                  <a:noFill/>
                </a:ln>
                <a:solidFill>
                  <a:schemeClr val="tx1"/>
                </a:solidFill>
                <a:effectLst/>
                <a:latin typeface="Arial" panose="020B0604020202020204" pitchFamily="34" charset="0"/>
              </a:rPr>
              <a:t>相机移动到指定位置。</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FR" sz="2000" b="0" i="0" u="none" strike="noStrike" cap="none" normalizeH="0" baseline="0" dirty="0">
                <a:ln>
                  <a:noFill/>
                </a:ln>
                <a:solidFill>
                  <a:schemeClr val="tx1"/>
                </a:solidFill>
                <a:effectLst/>
                <a:latin typeface="Arial" panose="020B0604020202020204" pitchFamily="34" charset="0"/>
              </a:rPr>
              <a:t>o	ActiveTrack-v0：</a:t>
            </a:r>
            <a:r>
              <a:rPr kumimoji="0" lang="zh-CN" altLang="en-US" sz="2000" b="0" i="0" u="none" strike="noStrike" cap="none" normalizeH="0" baseline="0" dirty="0">
                <a:ln>
                  <a:noFill/>
                </a:ln>
                <a:solidFill>
                  <a:schemeClr val="tx1"/>
                </a:solidFill>
                <a:effectLst/>
                <a:latin typeface="Arial" panose="020B0604020202020204" pitchFamily="34" charset="0"/>
              </a:rPr>
              <a:t>动态追踪目标（步数限制高达 </a:t>
            </a:r>
            <a:r>
              <a:rPr kumimoji="0" lang="en-US" altLang="zh-CN" sz="2000" b="0" i="0" u="none" strike="noStrike" cap="none" normalizeH="0" baseline="0" dirty="0">
                <a:ln>
                  <a:noFill/>
                </a:ln>
                <a:solidFill>
                  <a:schemeClr val="tx1"/>
                </a:solidFill>
                <a:effectLst/>
                <a:latin typeface="Arial" panose="020B0604020202020204" pitchFamily="34" charset="0"/>
              </a:rPr>
              <a:t>500 </a:t>
            </a:r>
            <a:r>
              <a:rPr kumimoji="0" lang="zh-CN" altLang="en-US" sz="2000" b="0" i="0" u="none" strike="noStrike" cap="none" normalizeH="0" baseline="0" dirty="0">
                <a:ln>
                  <a:noFill/>
                </a:ln>
                <a:solidFill>
                  <a:schemeClr val="tx1"/>
                </a:solidFill>
                <a:effectLst/>
                <a:latin typeface="Arial" panose="020B0604020202020204" pitchFamily="34" charset="0"/>
              </a:rPr>
              <a:t>步）。</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FR" sz="2000" b="0" i="0" u="none" strike="noStrike" cap="none" normalizeH="0" baseline="0" dirty="0">
                <a:ln>
                  <a:noFill/>
                </a:ln>
                <a:solidFill>
                  <a:schemeClr val="tx1"/>
                </a:solidFill>
                <a:effectLst/>
                <a:latin typeface="Arial" panose="020B0604020202020204" pitchFamily="34" charset="0"/>
              </a:rPr>
              <a:t>o	StaticTrack-v0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FR" sz="2000" b="0" i="0" u="none" strike="noStrike" cap="none" normalizeH="0" baseline="0" dirty="0">
                <a:ln>
                  <a:noFill/>
                </a:ln>
                <a:solidFill>
                  <a:schemeClr val="tx1"/>
                </a:solidFill>
                <a:effectLst/>
                <a:latin typeface="Arial" panose="020B0604020202020204" pitchFamily="34" charset="0"/>
              </a:rPr>
              <a:t>o	MisOrient-v0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F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FR" altLang="en-FR" sz="20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9B4AAF24-D435-B786-F47B-5966B3B4D9E5}"/>
              </a:ext>
            </a:extLst>
          </p:cNvPr>
          <p:cNvPicPr>
            <a:picLocks noChangeAspect="1"/>
          </p:cNvPicPr>
          <p:nvPr/>
        </p:nvPicPr>
        <p:blipFill>
          <a:blip r:embed="rId2"/>
          <a:stretch>
            <a:fillRect/>
          </a:stretch>
        </p:blipFill>
        <p:spPr>
          <a:xfrm>
            <a:off x="6960642" y="1585907"/>
            <a:ext cx="4200047" cy="4155680"/>
          </a:xfrm>
          <a:prstGeom prst="rect">
            <a:avLst/>
          </a:prstGeom>
        </p:spPr>
      </p:pic>
    </p:spTree>
    <p:extLst>
      <p:ext uri="{BB962C8B-B14F-4D97-AF65-F5344CB8AC3E}">
        <p14:creationId xmlns:p14="http://schemas.microsoft.com/office/powerpoint/2010/main" val="3493881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29CA4-A2B8-590E-5E34-9315C05335D2}"/>
              </a:ext>
            </a:extLst>
          </p:cNvPr>
          <p:cNvSpPr>
            <a:spLocks noGrp="1"/>
          </p:cNvSpPr>
          <p:nvPr>
            <p:ph type="title"/>
          </p:nvPr>
        </p:nvSpPr>
        <p:spPr/>
        <p:txBody>
          <a:bodyPr/>
          <a:lstStyle/>
          <a:p>
            <a:r>
              <a:rPr lang="fr-FR" dirty="0"/>
              <a:t>5) </a:t>
            </a:r>
            <a:r>
              <a:rPr lang="fr-FR" dirty="0" err="1"/>
              <a:t>Tasks</a:t>
            </a:r>
            <a:endParaRPr lang="fr-FR" dirty="0"/>
          </a:p>
        </p:txBody>
      </p:sp>
      <p:sp>
        <p:nvSpPr>
          <p:cNvPr id="4" name="Rectangle 1">
            <a:extLst>
              <a:ext uri="{FF2B5EF4-FFF2-40B4-BE49-F238E27FC236}">
                <a16:creationId xmlns:a16="http://schemas.microsoft.com/office/drawing/2014/main" id="{4839B29E-C26E-9CC7-7C02-7D5DC47D80B0}"/>
              </a:ext>
            </a:extLst>
          </p:cNvPr>
          <p:cNvSpPr>
            <a:spLocks noGrp="1" noChangeArrowheads="1"/>
          </p:cNvSpPr>
          <p:nvPr>
            <p:ph idx="1"/>
          </p:nvPr>
        </p:nvSpPr>
        <p:spPr bwMode="auto">
          <a:xfrm>
            <a:off x="1" y="1506459"/>
            <a:ext cx="11797048"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85800" algn="l"/>
              </a:tabLst>
              <a:defRPr>
                <a:solidFill>
                  <a:schemeClr val="tx1"/>
                </a:solidFill>
                <a:latin typeface="Arial" panose="020B0604020202020204" pitchFamily="34" charset="0"/>
              </a:defRPr>
            </a:lvl1pPr>
            <a:lvl2pPr eaLnBrk="0" fontAlgn="base" hangingPunct="0">
              <a:spcBef>
                <a:spcPct val="0"/>
              </a:spcBef>
              <a:spcAft>
                <a:spcPct val="0"/>
              </a:spcAft>
              <a:tabLst>
                <a:tab pos="685800" algn="l"/>
              </a:tabLst>
              <a:defRPr>
                <a:solidFill>
                  <a:schemeClr val="tx1"/>
                </a:solidFill>
                <a:latin typeface="Arial" panose="020B0604020202020204" pitchFamily="34" charset="0"/>
              </a:defRPr>
            </a:lvl2pPr>
            <a:lvl3pPr eaLnBrk="0" fontAlgn="base" hangingPunct="0">
              <a:spcBef>
                <a:spcPct val="0"/>
              </a:spcBef>
              <a:spcAft>
                <a:spcPct val="0"/>
              </a:spcAft>
              <a:tabLst>
                <a:tab pos="685800" algn="l"/>
              </a:tabLst>
              <a:defRPr>
                <a:solidFill>
                  <a:schemeClr val="tx1"/>
                </a:solidFill>
                <a:latin typeface="Arial" panose="020B0604020202020204" pitchFamily="34" charset="0"/>
              </a:defRPr>
            </a:lvl3pPr>
            <a:lvl4pPr eaLnBrk="0" fontAlgn="base" hangingPunct="0">
              <a:spcBef>
                <a:spcPct val="0"/>
              </a:spcBef>
              <a:spcAft>
                <a:spcPct val="0"/>
              </a:spcAft>
              <a:tabLst>
                <a:tab pos="685800" algn="l"/>
              </a:tabLst>
              <a:defRPr>
                <a:solidFill>
                  <a:schemeClr val="tx1"/>
                </a:solidFill>
                <a:latin typeface="Arial" panose="020B0604020202020204" pitchFamily="34" charset="0"/>
              </a:defRPr>
            </a:lvl4pPr>
            <a:lvl5pPr eaLnBrk="0" fontAlgn="base" hangingPunct="0">
              <a:spcBef>
                <a:spcPct val="0"/>
              </a:spcBef>
              <a:spcAft>
                <a:spcPct val="0"/>
              </a:spcAft>
              <a:tabLst>
                <a:tab pos="685800" algn="l"/>
              </a:tabLst>
              <a:defRPr>
                <a:solidFill>
                  <a:schemeClr val="tx1"/>
                </a:solidFill>
                <a:latin typeface="Arial" panose="020B0604020202020204" pitchFamily="34" charset="0"/>
              </a:defRPr>
            </a:lvl5pPr>
            <a:lvl6pPr eaLnBrk="0" fontAlgn="base" hangingPunct="0">
              <a:spcBef>
                <a:spcPct val="0"/>
              </a:spcBef>
              <a:spcAft>
                <a:spcPct val="0"/>
              </a:spcAft>
              <a:tabLst>
                <a:tab pos="685800" algn="l"/>
              </a:tabLst>
              <a:defRPr>
                <a:solidFill>
                  <a:schemeClr val="tx1"/>
                </a:solidFill>
                <a:latin typeface="Arial" panose="020B0604020202020204" pitchFamily="34" charset="0"/>
              </a:defRPr>
            </a:lvl6pPr>
            <a:lvl7pPr eaLnBrk="0" fontAlgn="base" hangingPunct="0">
              <a:spcBef>
                <a:spcPct val="0"/>
              </a:spcBef>
              <a:spcAft>
                <a:spcPct val="0"/>
              </a:spcAft>
              <a:tabLst>
                <a:tab pos="685800" algn="l"/>
              </a:tabLst>
              <a:defRPr>
                <a:solidFill>
                  <a:schemeClr val="tx1"/>
                </a:solidFill>
                <a:latin typeface="Arial" panose="020B0604020202020204" pitchFamily="34" charset="0"/>
              </a:defRPr>
            </a:lvl7pPr>
            <a:lvl8pPr eaLnBrk="0" fontAlgn="base" hangingPunct="0">
              <a:spcBef>
                <a:spcPct val="0"/>
              </a:spcBef>
              <a:spcAft>
                <a:spcPct val="0"/>
              </a:spcAft>
              <a:tabLst>
                <a:tab pos="685800" algn="l"/>
              </a:tabLst>
              <a:defRPr>
                <a:solidFill>
                  <a:schemeClr val="tx1"/>
                </a:solidFill>
                <a:latin typeface="Arial" panose="020B0604020202020204" pitchFamily="34" charset="0"/>
              </a:defRPr>
            </a:lvl8pPr>
            <a:lvl9pPr eaLnBrk="0" fontAlgn="base" hangingPunct="0">
              <a:spcBef>
                <a:spcPct val="0"/>
              </a:spcBef>
              <a:spcAft>
                <a:spcPct val="0"/>
              </a:spcAft>
              <a:tabLst>
                <a:tab pos="6858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685800" algn="l"/>
              </a:tabLst>
            </a:pPr>
            <a:r>
              <a:rPr kumimoji="0" lang="en-FR" altLang="en-FR" sz="20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PSM（单臂机械臂）相关任</a:t>
            </a:r>
            <a:r>
              <a:rPr kumimoji="0" lang="en-FR" altLang="en-FR" sz="20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Microsoft YaHei" panose="020B0503020204020204" pitchFamily="34" charset="-122"/>
              </a:rPr>
              <a:t>务</a:t>
            </a:r>
            <a:endParaRPr kumimoji="0" lang="en-FR" altLang="en-FR" sz="2000" b="0" i="0" u="none" strike="noStrike" cap="none" normalizeH="0" baseline="0" dirty="0">
              <a:ln>
                <a:noFill/>
              </a:ln>
              <a:solidFill>
                <a:schemeClr val="tx1"/>
              </a:solidFill>
              <a:effectLst/>
              <a:ea typeface="Times New Roman" panose="02020603050405020304" pitchFamily="18" charset="0"/>
            </a:endParaRPr>
          </a:p>
          <a:p>
            <a:pPr marL="457200" lvl="1" indent="0">
              <a:lnSpc>
                <a:spcPct val="100000"/>
              </a:lnSpc>
              <a:buFontTx/>
              <a:buChar char="•"/>
            </a:pPr>
            <a:r>
              <a:rPr kumimoji="0" lang="en-FR" altLang="en-FR" sz="2000" b="1"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needle_reach.py</a:t>
            </a:r>
            <a:r>
              <a:rPr kumimoji="0" lang="en-FR" altLang="en-FR" sz="20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rPr>
              <a:t>：器械尖端移动到缝合针附近。</a:t>
            </a:r>
            <a:endParaRPr kumimoji="0" lang="en-FR" altLang="en-FR"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457200" lvl="1" indent="0">
              <a:lnSpc>
                <a:spcPct val="100000"/>
              </a:lnSpc>
              <a:buFontTx/>
              <a:buChar char="•"/>
            </a:pPr>
            <a:r>
              <a:rPr kumimoji="0" lang="en-FR" altLang="en-FR" sz="2000" b="1"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needle_pick.py</a:t>
            </a:r>
            <a:r>
              <a:rPr kumimoji="0" lang="en-FR" altLang="en-FR" sz="20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rPr>
              <a:t>：从托盘上精准拾取缝合针，并将其提起到一定高度。</a:t>
            </a:r>
            <a:endParaRPr kumimoji="0" lang="en-FR" altLang="en-FR"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457200" lvl="1" indent="0">
              <a:lnSpc>
                <a:spcPct val="100000"/>
              </a:lnSpc>
              <a:buFontTx/>
              <a:buChar char="•"/>
            </a:pPr>
            <a:r>
              <a:rPr kumimoji="0" lang="en-FR" altLang="en-FR" sz="2000" b="1"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gauze_retrieve.py</a:t>
            </a:r>
            <a:r>
              <a:rPr kumimoji="0" lang="en-FR" altLang="en-FR" sz="20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rPr>
              <a:t>：模拟从手术区域抓取并回收纱布的过程。</a:t>
            </a:r>
            <a:endParaRPr kumimoji="0" lang="en-FR" altLang="en-FR"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457200" lvl="1" indent="0">
              <a:lnSpc>
                <a:spcPct val="100000"/>
              </a:lnSpc>
              <a:buFontTx/>
              <a:buChar char="•"/>
            </a:pPr>
            <a:r>
              <a:rPr kumimoji="0" lang="en-FR" altLang="en-FR" sz="2000" b="1"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peg_transfer.py</a:t>
            </a:r>
            <a:r>
              <a:rPr kumimoji="0" lang="en-FR" altLang="en-FR" sz="20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rPr>
              <a:t>：</a:t>
            </a:r>
            <a:r>
              <a:rPr kumimoji="0" lang="en-FR" altLang="en-FR" sz="2000" b="1"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套圈搬运</a:t>
            </a:r>
            <a:r>
              <a:rPr kumimoji="0" lang="en-FR" altLang="en-FR" sz="20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。将方块从一个支柱移动到另一个支柱，这是达芬奇机器人最经典的技能训练科目。</a:t>
            </a:r>
            <a:endParaRPr kumimoji="0" lang="en-FR" altLang="en-FR"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685800" algn="l"/>
              </a:tabLst>
            </a:pPr>
            <a:r>
              <a:rPr kumimoji="0" lang="en-FR" altLang="en-FR" sz="20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双臂协作任务</a:t>
            </a:r>
            <a:endParaRPr kumimoji="0" lang="en-FR" altLang="en-FR" sz="2000" b="0" i="0" u="none" strike="noStrike" cap="none" normalizeH="0" baseline="0" dirty="0">
              <a:ln>
                <a:noFill/>
              </a:ln>
              <a:solidFill>
                <a:schemeClr val="tx1"/>
              </a:solidFill>
              <a:effectLst/>
              <a:ea typeface="Times New Roman" panose="02020603050405020304" pitchFamily="18" charset="0"/>
            </a:endParaRPr>
          </a:p>
          <a:p>
            <a:pPr marL="457200" lvl="1" indent="0">
              <a:lnSpc>
                <a:spcPct val="100000"/>
              </a:lnSpc>
              <a:buFontTx/>
              <a:buChar char="•"/>
            </a:pPr>
            <a:r>
              <a:rPr kumimoji="0" lang="en-FR" altLang="en-FR" sz="2000" b="1"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needle_regrasp_bimanual.py</a:t>
            </a:r>
            <a:r>
              <a:rPr kumimoji="0" lang="en-FR" altLang="en-FR" sz="20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rPr>
              <a:t>：</a:t>
            </a:r>
            <a:r>
              <a:rPr kumimoji="0" lang="en-FR" altLang="en-FR" sz="2000" b="1"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换手训练</a:t>
            </a:r>
            <a:r>
              <a:rPr kumimoji="0" lang="en-FR" altLang="en-FR" sz="20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。针在两臂之间传递，模拟手术中为了调整进针角度而进行的器械交接。</a:t>
            </a:r>
            <a:endParaRPr kumimoji="0" lang="en-FR" altLang="en-FR"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457200" lvl="1" indent="0">
              <a:lnSpc>
                <a:spcPct val="100000"/>
              </a:lnSpc>
              <a:buFontTx/>
              <a:buChar char="•"/>
            </a:pPr>
            <a:r>
              <a:rPr kumimoji="0" lang="en-FR" altLang="en-FR" sz="2000" b="1"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peg_transfer_bimanual.py</a:t>
            </a:r>
            <a:r>
              <a:rPr kumimoji="0" lang="en-FR" altLang="en-FR" sz="20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rPr>
              <a:t>：双臂套圈搬运。需要左手拿起方块，在空中传递给右手，再由右手放置到目标支柱上。</a:t>
            </a:r>
            <a:endParaRPr kumimoji="0" lang="en-FR" altLang="en-FR"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685800" algn="l"/>
              </a:tabLst>
            </a:pPr>
            <a:r>
              <a:rPr kumimoji="0" lang="en-FR" altLang="en-FR" sz="20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ECM（内窥镜）任务</a:t>
            </a:r>
            <a:endParaRPr kumimoji="0" lang="en-FR" altLang="en-FR" sz="2000" b="0" i="0" u="none" strike="noStrike" cap="none" normalizeH="0" baseline="0" dirty="0">
              <a:ln>
                <a:noFill/>
              </a:ln>
              <a:solidFill>
                <a:schemeClr val="tx1"/>
              </a:solidFill>
              <a:effectLst/>
              <a:ea typeface="Times New Roman" panose="02020603050405020304" pitchFamily="18" charset="0"/>
            </a:endParaRPr>
          </a:p>
          <a:p>
            <a:pPr marL="457200" lvl="1" indent="0">
              <a:lnSpc>
                <a:spcPct val="100000"/>
              </a:lnSpc>
              <a:buFontTx/>
              <a:buChar char="•"/>
            </a:pPr>
            <a:r>
              <a:rPr kumimoji="0" lang="en-FR" altLang="en-FR" sz="2000" b="1"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ecm_reach.py</a:t>
            </a:r>
            <a:r>
              <a:rPr kumimoji="0" lang="en-FR" altLang="en-FR" sz="20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rPr>
              <a:t>：基础任务，控制内窥镜移动到空间中的随机目标点（红色小球）。</a:t>
            </a:r>
            <a:endParaRPr kumimoji="0" lang="en-FR" altLang="en-FR"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457200" lvl="1" indent="0">
              <a:lnSpc>
                <a:spcPct val="100000"/>
              </a:lnSpc>
              <a:buFontTx/>
              <a:buChar char="•"/>
            </a:pPr>
            <a:r>
              <a:rPr kumimoji="0" lang="en-FR" altLang="en-FR" sz="2000" b="1"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ecm_misorient.py</a:t>
            </a:r>
            <a:r>
              <a:rPr kumimoji="0" lang="en-FR" altLang="en-FR" sz="20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rPr>
              <a:t>：</a:t>
            </a:r>
          </a:p>
          <a:p>
            <a:pPr marL="457200" lvl="1" indent="0">
              <a:lnSpc>
                <a:spcPct val="100000"/>
              </a:lnSpc>
              <a:buFontTx/>
              <a:buChar char="•"/>
            </a:pPr>
            <a:r>
              <a:rPr kumimoji="0" lang="en-GB" altLang="en-FR" sz="2000" b="0" i="0" u="none" strike="noStrike" cap="none" normalizeH="0" baseline="0" dirty="0" err="1">
                <a:ln>
                  <a:noFill/>
                </a:ln>
                <a:solidFill>
                  <a:srgbClr val="1F1F1F"/>
                </a:solidFill>
                <a:effectLst/>
                <a:ea typeface="DengXian" panose="02010600030101010101" pitchFamily="2" charset="-122"/>
                <a:cs typeface="Microsoft YaHei" panose="020B0503020204020204" pitchFamily="34" charset="-122"/>
              </a:rPr>
              <a:t>ecm_static_track.py</a:t>
            </a:r>
            <a:r>
              <a:rPr kumimoji="0" lang="en-GB" altLang="en-FR" sz="20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rPr>
              <a:t>：</a:t>
            </a:r>
            <a:r>
              <a:rPr kumimoji="0" lang="zh-CN" altLang="en-US" sz="20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rPr>
              <a:t>静态追踪。让内窥镜自动对准视野中的特定彩色方块，使其保持在画面中心</a:t>
            </a:r>
            <a:endParaRPr kumimoji="0" lang="fr-FR" altLang="zh-CN" sz="20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endParaRPr>
          </a:p>
          <a:p>
            <a:pPr marL="457200" lvl="1" indent="0">
              <a:lnSpc>
                <a:spcPct val="100000"/>
              </a:lnSpc>
              <a:buFontTx/>
              <a:buChar char="•"/>
            </a:pPr>
            <a:r>
              <a:rPr kumimoji="0" lang="en-GB" altLang="en-FR" sz="2000" b="0" i="0" u="none" strike="noStrike" cap="none" normalizeH="0" baseline="0" dirty="0" err="1">
                <a:ln>
                  <a:noFill/>
                </a:ln>
                <a:solidFill>
                  <a:srgbClr val="1F1F1F"/>
                </a:solidFill>
                <a:effectLst/>
                <a:ea typeface="DengXian" panose="02010600030101010101" pitchFamily="2" charset="-122"/>
                <a:cs typeface="Microsoft YaHei" panose="020B0503020204020204" pitchFamily="34" charset="-122"/>
              </a:rPr>
              <a:t>ecm_active_track.py</a:t>
            </a:r>
            <a:r>
              <a:rPr kumimoji="0" lang="en-GB" altLang="en-FR" sz="20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rPr>
              <a:t>：</a:t>
            </a:r>
            <a:r>
              <a:rPr kumimoji="0" lang="zh-CN" altLang="en-US" sz="20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rPr>
              <a:t>动态追踪。方块会沿着随机轨迹移动，内窥镜需要实时跟随，保证目标不丢失。</a:t>
            </a:r>
            <a:r>
              <a:rPr kumimoji="0" lang="en-FR" altLang="en-FR" sz="20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rPr>
              <a:t>通过图像算法计算当前视野与标准视野的角度偏差（</a:t>
            </a:r>
            <a:r>
              <a:rPr kumimoji="0" lang="en-FR" altLang="en-FR" sz="20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Arial" panose="020B0604020202020204" pitchFamily="34" charset="0"/>
              </a:rPr>
              <a:t>Misorientation</a:t>
            </a:r>
            <a:r>
              <a:rPr kumimoji="0" lang="en-FR" altLang="en-FR" sz="20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），并控制相机纠正偏转。</a:t>
            </a:r>
            <a:endParaRPr kumimoji="0" lang="en-FR" altLang="en-F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6177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261D8-45F6-CEB9-8775-B905A4714B95}"/>
              </a:ext>
            </a:extLst>
          </p:cNvPr>
          <p:cNvSpPr>
            <a:spLocks noGrp="1"/>
          </p:cNvSpPr>
          <p:nvPr>
            <p:ph type="title"/>
          </p:nvPr>
        </p:nvSpPr>
        <p:spPr/>
        <p:txBody>
          <a:bodyPr>
            <a:normAutofit/>
          </a:bodyPr>
          <a:lstStyle/>
          <a:p>
            <a:r>
              <a:rPr kumimoji="0" lang="en-FR" altLang="en-FR" sz="44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核心设计</a:t>
            </a:r>
            <a:r>
              <a:rPr kumimoji="0" lang="en-FR" altLang="en-FR" sz="60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Microsoft YaHei" panose="020B0503020204020204" pitchFamily="34" charset="-122"/>
              </a:rPr>
              <a:t>：</a:t>
            </a:r>
            <a:endParaRPr lang="fr-FR" dirty="0"/>
          </a:p>
        </p:txBody>
      </p:sp>
      <p:sp>
        <p:nvSpPr>
          <p:cNvPr id="4" name="Rectangle 1">
            <a:extLst>
              <a:ext uri="{FF2B5EF4-FFF2-40B4-BE49-F238E27FC236}">
                <a16:creationId xmlns:a16="http://schemas.microsoft.com/office/drawing/2014/main" id="{97035C33-DBF2-18B2-130F-66AD68A4A22F}"/>
              </a:ext>
            </a:extLst>
          </p:cNvPr>
          <p:cNvSpPr>
            <a:spLocks noGrp="1" noChangeArrowheads="1"/>
          </p:cNvSpPr>
          <p:nvPr>
            <p:ph idx="1"/>
          </p:nvPr>
        </p:nvSpPr>
        <p:spPr bwMode="auto">
          <a:xfrm>
            <a:off x="0" y="1739137"/>
            <a:ext cx="1191295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14400" algn="l"/>
              </a:tabLst>
              <a:defRPr>
                <a:solidFill>
                  <a:schemeClr val="tx1"/>
                </a:solidFill>
                <a:latin typeface="Arial" panose="020B0604020202020204" pitchFamily="34" charset="0"/>
              </a:defRPr>
            </a:lvl1pPr>
            <a:lvl2pPr eaLnBrk="0" fontAlgn="base" hangingPunct="0">
              <a:spcBef>
                <a:spcPct val="0"/>
              </a:spcBef>
              <a:spcAft>
                <a:spcPct val="0"/>
              </a:spcAft>
              <a:tabLst>
                <a:tab pos="914400" algn="l"/>
              </a:tabLst>
              <a:defRPr>
                <a:solidFill>
                  <a:schemeClr val="tx1"/>
                </a:solidFill>
                <a:latin typeface="Arial" panose="020B0604020202020204" pitchFamily="34" charset="0"/>
              </a:defRPr>
            </a:lvl2pPr>
            <a:lvl3pPr eaLnBrk="0" fontAlgn="base" hangingPunct="0">
              <a:spcBef>
                <a:spcPct val="0"/>
              </a:spcBef>
              <a:spcAft>
                <a:spcPct val="0"/>
              </a:spcAft>
              <a:tabLst>
                <a:tab pos="914400" algn="l"/>
              </a:tabLst>
              <a:defRPr>
                <a:solidFill>
                  <a:schemeClr val="tx1"/>
                </a:solidFill>
                <a:latin typeface="Arial" panose="020B0604020202020204" pitchFamily="34" charset="0"/>
              </a:defRPr>
            </a:lvl3pPr>
            <a:lvl4pPr eaLnBrk="0" fontAlgn="base" hangingPunct="0">
              <a:spcBef>
                <a:spcPct val="0"/>
              </a:spcBef>
              <a:spcAft>
                <a:spcPct val="0"/>
              </a:spcAft>
              <a:tabLst>
                <a:tab pos="914400" algn="l"/>
              </a:tabLst>
              <a:defRPr>
                <a:solidFill>
                  <a:schemeClr val="tx1"/>
                </a:solidFill>
                <a:latin typeface="Arial" panose="020B0604020202020204" pitchFamily="34" charset="0"/>
              </a:defRPr>
            </a:lvl4pPr>
            <a:lvl5pPr eaLnBrk="0" fontAlgn="base" hangingPunct="0">
              <a:spcBef>
                <a:spcPct val="0"/>
              </a:spcBef>
              <a:spcAft>
                <a:spcPct val="0"/>
              </a:spcAft>
              <a:tabLst>
                <a:tab pos="914400" algn="l"/>
              </a:tabLst>
              <a:defRPr>
                <a:solidFill>
                  <a:schemeClr val="tx1"/>
                </a:solidFill>
                <a:latin typeface="Arial" panose="020B0604020202020204" pitchFamily="34" charset="0"/>
              </a:defRPr>
            </a:lvl5pPr>
            <a:lvl6pPr eaLnBrk="0" fontAlgn="base" hangingPunct="0">
              <a:spcBef>
                <a:spcPct val="0"/>
              </a:spcBef>
              <a:spcAft>
                <a:spcPct val="0"/>
              </a:spcAft>
              <a:tabLst>
                <a:tab pos="914400" algn="l"/>
              </a:tabLst>
              <a:defRPr>
                <a:solidFill>
                  <a:schemeClr val="tx1"/>
                </a:solidFill>
                <a:latin typeface="Arial" panose="020B0604020202020204" pitchFamily="34" charset="0"/>
              </a:defRPr>
            </a:lvl6pPr>
            <a:lvl7pPr eaLnBrk="0" fontAlgn="base" hangingPunct="0">
              <a:spcBef>
                <a:spcPct val="0"/>
              </a:spcBef>
              <a:spcAft>
                <a:spcPct val="0"/>
              </a:spcAft>
              <a:tabLst>
                <a:tab pos="914400" algn="l"/>
              </a:tabLst>
              <a:defRPr>
                <a:solidFill>
                  <a:schemeClr val="tx1"/>
                </a:solidFill>
                <a:latin typeface="Arial" panose="020B0604020202020204" pitchFamily="34" charset="0"/>
              </a:defRPr>
            </a:lvl7pPr>
            <a:lvl8pPr eaLnBrk="0" fontAlgn="base" hangingPunct="0">
              <a:spcBef>
                <a:spcPct val="0"/>
              </a:spcBef>
              <a:spcAft>
                <a:spcPct val="0"/>
              </a:spcAft>
              <a:tabLst>
                <a:tab pos="914400" algn="l"/>
              </a:tabLst>
              <a:defRPr>
                <a:solidFill>
                  <a:schemeClr val="tx1"/>
                </a:solidFill>
                <a:latin typeface="Arial" panose="020B0604020202020204" pitchFamily="34" charset="0"/>
              </a:defRPr>
            </a:lvl8pPr>
            <a:lvl9pPr eaLnBrk="0" fontAlgn="base" hangingPunct="0">
              <a:spcBef>
                <a:spcPct val="0"/>
              </a:spcBef>
              <a:spcAft>
                <a:spcPct val="0"/>
              </a:spcAft>
              <a:tabLst>
                <a:tab pos="9144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914400" algn="l"/>
              </a:tabLst>
            </a:pPr>
            <a:r>
              <a:rPr kumimoji="0" lang="en-FR" altLang="en-FR" sz="1800" b="1"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专家策略</a:t>
            </a:r>
            <a:r>
              <a:rPr kumimoji="0" lang="en-FR" altLang="en-FR" sz="1800" b="1"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Arial" panose="020B0604020202020204" pitchFamily="34" charset="0"/>
              </a:rPr>
              <a:t> (</a:t>
            </a:r>
            <a:r>
              <a:rPr kumimoji="0" lang="en-FR" altLang="en-FR" sz="1800" b="1"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get_oracle_action</a:t>
            </a:r>
            <a:r>
              <a:rPr kumimoji="0" lang="en-FR" altLang="en-FR" sz="1800" b="1" i="0" u="none" strike="noStrike" cap="none" normalizeH="0" baseline="0" dirty="0">
                <a:ln>
                  <a:noFill/>
                </a:ln>
                <a:solidFill>
                  <a:srgbClr val="1F1F1F"/>
                </a:solidFill>
                <a:effectLst/>
                <a:ea typeface="DengXian" panose="02010600030101010101" pitchFamily="2" charset="-122"/>
                <a:cs typeface="Arial" panose="020B0604020202020204" pitchFamily="34" charset="0"/>
              </a:rPr>
              <a:t>)</a:t>
            </a:r>
            <a:endParaRPr kumimoji="0" lang="en-FR" altLang="en-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tab pos="914400" algn="l"/>
              </a:tabLst>
            </a:pPr>
            <a:r>
              <a:rPr kumimoji="0" lang="en-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将复杂任务定义为有序阶段（</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_</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sample_goal_callback</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a:t>
            </a:r>
            <a:endParaRPr kumimoji="0" lang="fr-FR" altLang="en-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tab pos="914400" algn="l"/>
              </a:tabLst>
            </a:pP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每个文件都实现了一个“先知”函数。它不是通过学习得到的，而是通过路标点手动编写的脚本逻辑。专家策略是一个典型的比例控制器代码计算了当前位置与路点的差值 </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delta_pos。由于环境每一步（step）只能移动一小段距离，专家策略会通过多次调用</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 </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step</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 </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来一点点靠近目标点。在每一步执行中，策略都会检测当前位置与路点的距离。当</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 </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距离</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 &lt; 2mm </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且</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 </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角度误差</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 &lt; 2度 </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时，代码会将当前路点设为</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 None ( self._</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waypoints</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[i] = None )。</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在下一次调用</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 </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get_oracle_action</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 </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时</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 for </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循环会跳过已经被设为</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 None </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的路点，自动锁定下一个路点开始计算</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datageneration</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a:t>
            </a:r>
            <a:endParaRPr kumimoji="0" lang="fr-FR" altLang="en-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tab pos="914400" algn="l"/>
              </a:tabLst>
            </a:pP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例如在搬运任务中，路标点顺序为：</a:t>
            </a:r>
            <a:r>
              <a:rPr kumimoji="0" lang="fr-FR" altLang="en-FR" sz="1800" b="0" i="0" u="none" strike="noStrike" cap="none" normalizeH="0" baseline="0" dirty="0" err="1">
                <a:ln>
                  <a:noFill/>
                </a:ln>
                <a:solidFill>
                  <a:srgbClr val="444746"/>
                </a:solidFill>
                <a:effectLst/>
                <a:latin typeface="Arial Unicode MS" panose="020B0604020202020204" pitchFamily="34" charset="-128"/>
                <a:ea typeface="DengXian" panose="02010600030101010101" pitchFamily="2" charset="-122"/>
                <a:cs typeface="Microsoft YaHei" panose="020B0503020204020204" pitchFamily="34" charset="-122"/>
              </a:rPr>
              <a:t>靠近目标</a:t>
            </a:r>
            <a:r>
              <a:rPr kumimoji="0" lang="fr-FR" altLang="en-FR" sz="1800" b="0"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 -&gt; </a:t>
            </a:r>
            <a:r>
              <a:rPr kumimoji="0" lang="fr-FR" altLang="en-FR" sz="1800" b="0" i="0" u="none" strike="noStrike" cap="none" normalizeH="0" baseline="0" dirty="0" err="1">
                <a:ln>
                  <a:noFill/>
                </a:ln>
                <a:solidFill>
                  <a:srgbClr val="444746"/>
                </a:solidFill>
                <a:effectLst/>
                <a:latin typeface="Arial Unicode MS" panose="020B0604020202020204" pitchFamily="34" charset="-128"/>
                <a:ea typeface="DengXian" panose="02010600030101010101" pitchFamily="2" charset="-122"/>
                <a:cs typeface="Microsoft YaHei" panose="020B0503020204020204" pitchFamily="34" charset="-122"/>
              </a:rPr>
              <a:t>抓取</a:t>
            </a:r>
            <a:r>
              <a:rPr kumimoji="0" lang="fr-FR" altLang="en-FR" sz="1800" b="0"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 -&gt; </a:t>
            </a:r>
            <a:r>
              <a:rPr kumimoji="0" lang="fr-FR" altLang="en-FR" sz="1800" b="0" i="0" u="none" strike="noStrike" cap="none" normalizeH="0" baseline="0" dirty="0" err="1">
                <a:ln>
                  <a:noFill/>
                </a:ln>
                <a:solidFill>
                  <a:srgbClr val="444746"/>
                </a:solidFill>
                <a:effectLst/>
                <a:latin typeface="Arial Unicode MS" panose="020B0604020202020204" pitchFamily="34" charset="-128"/>
                <a:ea typeface="DengXian" panose="02010600030101010101" pitchFamily="2" charset="-122"/>
                <a:cs typeface="Microsoft YaHei" panose="020B0503020204020204" pitchFamily="34" charset="-122"/>
              </a:rPr>
              <a:t>抬起</a:t>
            </a:r>
            <a:r>
              <a:rPr kumimoji="0" lang="fr-FR" altLang="en-FR" sz="1800" b="0"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 -&gt; </a:t>
            </a:r>
            <a:r>
              <a:rPr kumimoji="0" lang="fr-FR" altLang="en-FR" sz="1800" b="0" i="0" u="none" strike="noStrike" cap="none" normalizeH="0" baseline="0" dirty="0" err="1">
                <a:ln>
                  <a:noFill/>
                </a:ln>
                <a:solidFill>
                  <a:srgbClr val="444746"/>
                </a:solidFill>
                <a:effectLst/>
                <a:latin typeface="Arial Unicode MS" panose="020B0604020202020204" pitchFamily="34" charset="-128"/>
                <a:ea typeface="DengXian" panose="02010600030101010101" pitchFamily="2" charset="-122"/>
                <a:cs typeface="Microsoft YaHei" panose="020B0503020204020204" pitchFamily="34" charset="-122"/>
              </a:rPr>
              <a:t>移动到上方</a:t>
            </a:r>
            <a:r>
              <a:rPr kumimoji="0" lang="fr-FR" altLang="en-FR" sz="1800" b="0"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 -&gt; </a:t>
            </a:r>
            <a:r>
              <a:rPr kumimoji="0" lang="fr-FR" altLang="en-FR" sz="1800" b="0" i="0" u="none" strike="noStrike" cap="none" normalizeH="0" baseline="0" dirty="0" err="1">
                <a:ln>
                  <a:noFill/>
                </a:ln>
                <a:solidFill>
                  <a:srgbClr val="444746"/>
                </a:solidFill>
                <a:effectLst/>
                <a:latin typeface="Arial Unicode MS" panose="020B0604020202020204" pitchFamily="34" charset="-128"/>
                <a:ea typeface="DengXian" panose="02010600030101010101" pitchFamily="2" charset="-122"/>
                <a:cs typeface="Microsoft YaHei" panose="020B0503020204020204" pitchFamily="34" charset="-122"/>
              </a:rPr>
              <a:t>放下</a:t>
            </a:r>
            <a:r>
              <a:rPr kumimoji="0" lang="fr-FR" altLang="en-FR" sz="1800" b="0" i="0" u="none" strike="noStrike" cap="none" normalizeH="0" baseline="0" dirty="0">
                <a:ln>
                  <a:noFill/>
                </a:ln>
                <a:solidFill>
                  <a:srgbClr val="1F1F1F"/>
                </a:solidFill>
                <a:effectLst/>
                <a:ea typeface="DengXian" panose="02010600030101010101" pitchFamily="2" charset="-122"/>
                <a:cs typeface="Microsoft YaHei" panose="020B0503020204020204" pitchFamily="34" charset="-122"/>
              </a:rPr>
              <a:t>。</a:t>
            </a:r>
            <a:endParaRPr kumimoji="0" lang="fr-FR" altLang="en-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914400" algn="l"/>
              </a:tabLst>
            </a:pPr>
            <a:r>
              <a:rPr kumimoji="0" lang="fr-FR" altLang="en-FR" sz="1800" b="1"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空间限制</a:t>
            </a:r>
            <a:r>
              <a:rPr kumimoji="0" lang="fr-FR" altLang="en-FR" sz="1800" b="1"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Arial" panose="020B0604020202020204" pitchFamily="34" charset="0"/>
              </a:rPr>
              <a:t> (</a:t>
            </a:r>
            <a:r>
              <a:rPr kumimoji="0" lang="fr-FR" altLang="en-FR" sz="1800" b="1" i="0" u="none" strike="noStrike" cap="none" normalizeH="0" baseline="0" dirty="0">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WORKSPACE_LIMITS</a:t>
            </a:r>
            <a:r>
              <a:rPr kumimoji="0" lang="fr-FR" altLang="en-FR" sz="1800" b="1" i="0" u="none" strike="noStrike" cap="none" normalizeH="0" baseline="0" dirty="0">
                <a:ln>
                  <a:noFill/>
                </a:ln>
                <a:solidFill>
                  <a:srgbClr val="1F1F1F"/>
                </a:solidFill>
                <a:effectLst/>
                <a:ea typeface="DengXian" panose="02010600030101010101" pitchFamily="2" charset="-122"/>
                <a:cs typeface="Arial" panose="020B0604020202020204" pitchFamily="34" charset="0"/>
              </a:rPr>
              <a:t>)</a:t>
            </a:r>
            <a:endParaRPr kumimoji="0" lang="fr-FR" altLang="en-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tab pos="914400" algn="l"/>
              </a:tabLst>
            </a:pP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代码严格定义了机械臂可以活动的立方体区域，防止机械臂在仿真中飞出场景或发生严重的物理错误</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a:t>
            </a:r>
            <a:endParaRPr kumimoji="0" lang="fr-FR" altLang="en-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914400" algn="l"/>
              </a:tabLst>
            </a:pPr>
            <a:r>
              <a:rPr kumimoji="0" lang="fr-FR" altLang="en-FR" sz="1800" b="1"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奖励机制</a:t>
            </a:r>
            <a:r>
              <a:rPr kumimoji="0" lang="fr-FR" altLang="en-FR" sz="1800" b="1"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Arial" panose="020B0604020202020204" pitchFamily="34" charset="0"/>
              </a:rPr>
              <a:t> (</a:t>
            </a:r>
            <a:r>
              <a:rPr kumimoji="0" lang="fr-FR" altLang="en-FR" sz="1800" b="1" i="0" u="none" strike="noStrike" cap="none" normalizeH="0" baseline="0" dirty="0" err="1">
                <a:ln>
                  <a:noFill/>
                </a:ln>
                <a:solidFill>
                  <a:srgbClr val="444746"/>
                </a:solidFill>
                <a:effectLst/>
                <a:latin typeface="Arial Unicode MS" panose="020B0604020202020204" pitchFamily="34" charset="-128"/>
                <a:ea typeface="DengXian" panose="02010600030101010101" pitchFamily="2" charset="-122"/>
                <a:cs typeface="Arial" panose="020B0604020202020204" pitchFamily="34" charset="0"/>
              </a:rPr>
              <a:t>compute_reward</a:t>
            </a:r>
            <a:r>
              <a:rPr kumimoji="0" lang="fr-FR" altLang="en-FR" sz="1800" b="1" i="0" u="none" strike="noStrike" cap="none" normalizeH="0" baseline="0" dirty="0">
                <a:ln>
                  <a:noFill/>
                </a:ln>
                <a:solidFill>
                  <a:srgbClr val="1F1F1F"/>
                </a:solidFill>
                <a:effectLst/>
                <a:ea typeface="DengXian" panose="02010600030101010101" pitchFamily="2" charset="-122"/>
                <a:cs typeface="Arial" panose="020B0604020202020204" pitchFamily="34" charset="0"/>
              </a:rPr>
              <a:t>)</a:t>
            </a:r>
            <a:endParaRPr kumimoji="0" lang="fr-FR" altLang="en-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tab pos="914400" algn="l"/>
              </a:tabLst>
            </a:pP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大多数任务采用</a:t>
            </a:r>
            <a:r>
              <a:rPr kumimoji="0" lang="fr-FR" altLang="en-FR" sz="1800" b="1"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稀疏奖励（</a:t>
            </a:r>
            <a:r>
              <a:rPr kumimoji="0" lang="fr-FR" altLang="en-FR" sz="1800" b="1"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Arial" panose="020B0604020202020204" pitchFamily="34" charset="0"/>
              </a:rPr>
              <a:t>Sparse</a:t>
            </a:r>
            <a:r>
              <a:rPr kumimoji="0" lang="fr-FR" altLang="en-FR" sz="1800" b="1"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Arial" panose="020B0604020202020204" pitchFamily="34" charset="0"/>
              </a:rPr>
              <a:t> </a:t>
            </a:r>
            <a:r>
              <a:rPr kumimoji="0" lang="fr-FR" altLang="en-FR" sz="1800" b="1"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Arial" panose="020B0604020202020204" pitchFamily="34" charset="0"/>
              </a:rPr>
              <a:t>Reward</a:t>
            </a:r>
            <a:r>
              <a:rPr kumimoji="0" lang="fr-FR" altLang="en-FR" sz="1800" b="1"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只有当物体距离目标足够近时奖励才为</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Arial" panose="020B0604020202020204" pitchFamily="34" charset="0"/>
              </a:rPr>
              <a:t> 0</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，否则均为</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Arial" panose="020B0604020202020204" pitchFamily="34" charset="0"/>
              </a:rPr>
              <a:t> -1</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。这种设计专门用于配合</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Arial" panose="020B0604020202020204" pitchFamily="34" charset="0"/>
              </a:rPr>
              <a:t> </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Arial" panose="020B0604020202020204" pitchFamily="34" charset="0"/>
              </a:rPr>
              <a:t>HER</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（后视经验回放）等强化学习算法</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继承自环境</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a:t>
            </a:r>
            <a:endParaRPr kumimoji="0" lang="fr-FR" altLang="en-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tab pos="914400" algn="l"/>
              </a:tabLst>
            </a:pP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密集奖励例如返回负的欧氏距离，距离越近奖励越高</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a:t>
            </a:r>
            <a:r>
              <a:rPr kumimoji="0" lang="fr-FR" altLang="en-FR" sz="1800" b="0" i="0" u="none" strike="noStrike" cap="none" normalizeH="0" baseline="0" dirty="0" err="1">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动态追踪</a:t>
            </a:r>
            <a:r>
              <a:rPr kumimoji="0" lang="fr-FR" altLang="en-FR" sz="1800" b="0" i="0" u="none" strike="noStrike" cap="none" normalizeH="0" baseline="0" dirty="0">
                <a:ln>
                  <a:noFill/>
                </a:ln>
                <a:solidFill>
                  <a:srgbClr val="1F1F1F"/>
                </a:solidFill>
                <a:effectLst/>
                <a:latin typeface="Arial" panose="020B0604020202020204" pitchFamily="34" charset="0"/>
                <a:ea typeface="DengXian" panose="02010600030101010101" pitchFamily="2" charset="-122"/>
                <a:cs typeface="Microsoft YaHei" panose="020B0503020204020204" pitchFamily="34" charset="-122"/>
              </a:rPr>
              <a:t>）</a:t>
            </a:r>
            <a:endParaRPr kumimoji="0" lang="fr-FR" altLang="en-FR"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Lst>
            </a:pPr>
            <a:endParaRPr kumimoji="0" lang="fr-FR" altLang="en-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34793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A324B-45C5-CC67-A24E-8CD61C846D99}"/>
              </a:ext>
            </a:extLst>
          </p:cNvPr>
          <p:cNvSpPr>
            <a:spLocks noGrp="1"/>
          </p:cNvSpPr>
          <p:nvPr>
            <p:ph type="title"/>
          </p:nvPr>
        </p:nvSpPr>
        <p:spPr/>
        <p:txBody>
          <a:bodyPr/>
          <a:lstStyle/>
          <a:p>
            <a:r>
              <a:rPr lang="fr-FR" dirty="0" err="1"/>
              <a:t>数据生成</a:t>
            </a:r>
            <a:endParaRPr lang="fr-FR" dirty="0"/>
          </a:p>
        </p:txBody>
      </p:sp>
      <p:sp>
        <p:nvSpPr>
          <p:cNvPr id="3" name="Content Placeholder 2">
            <a:extLst>
              <a:ext uri="{FF2B5EF4-FFF2-40B4-BE49-F238E27FC236}">
                <a16:creationId xmlns:a16="http://schemas.microsoft.com/office/drawing/2014/main" id="{0A86C1C0-8272-FA8A-0C77-021B17AC2CBC}"/>
              </a:ext>
            </a:extLst>
          </p:cNvPr>
          <p:cNvSpPr>
            <a:spLocks noGrp="1"/>
          </p:cNvSpPr>
          <p:nvPr>
            <p:ph idx="1"/>
          </p:nvPr>
        </p:nvSpPr>
        <p:spPr/>
        <p:txBody>
          <a:bodyPr>
            <a:normAutofit/>
          </a:bodyPr>
          <a:lstStyle/>
          <a:p>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Data/data_generation</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代码主要用于</a:t>
            </a:r>
            <a:r>
              <a:rPr lang="zh-CN" sz="1800" b="1" kern="100" dirty="0">
                <a:effectLst/>
                <a:latin typeface="DengXian" panose="02010600030101010101" pitchFamily="2" charset="-122"/>
                <a:ea typeface="DengXian" panose="02010600030101010101" pitchFamily="2" charset="-122"/>
                <a:cs typeface="Times New Roman" panose="02020603050405020304" pitchFamily="18" charset="0"/>
              </a:rPr>
              <a:t>生成模仿学习（</a:t>
            </a:r>
            <a:r>
              <a:rPr lang="en-FR" sz="1800" b="1" kern="100" dirty="0">
                <a:effectLst/>
                <a:latin typeface="DengXian" panose="02010600030101010101" pitchFamily="2" charset="-122"/>
                <a:ea typeface="DengXian" panose="02010600030101010101" pitchFamily="2" charset="-122"/>
                <a:cs typeface="Times New Roman" panose="02020603050405020304" pitchFamily="18" charset="0"/>
              </a:rPr>
              <a:t>Imitation Learning</a:t>
            </a:r>
            <a:r>
              <a:rPr lang="zh-CN" sz="1800" b="1" kern="100" dirty="0">
                <a:effectLst/>
                <a:latin typeface="DengXian" panose="02010600030101010101" pitchFamily="2" charset="-122"/>
                <a:ea typeface="DengXian" panose="02010600030101010101" pitchFamily="2" charset="-122"/>
                <a:cs typeface="Times New Roman" panose="02020603050405020304" pitchFamily="18" charset="0"/>
              </a:rPr>
              <a:t>）所需的演示数据</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或者</a:t>
            </a:r>
            <a:r>
              <a:rPr lang="zh-CN" sz="1800" b="1" kern="100" dirty="0">
                <a:effectLst/>
                <a:latin typeface="DengXian" panose="02010600030101010101" pitchFamily="2" charset="-122"/>
                <a:ea typeface="DengXian" panose="02010600030101010101" pitchFamily="2" charset="-122"/>
                <a:cs typeface="Times New Roman" panose="02020603050405020304" pitchFamily="18" charset="0"/>
              </a:rPr>
              <a:t>录制智能体完成任务的视频</a:t>
            </a:r>
            <a:r>
              <a:rPr lang="zh-CN" sz="1800" kern="100" dirty="0">
                <a:effectLst/>
                <a:latin typeface="Calibri" panose="020F0502020204030204" pitchFamily="34" charset="0"/>
                <a:ea typeface="DengXian" panose="02010600030101010101" pitchFamily="2" charset="-122"/>
                <a:cs typeface="SimSun" panose="02010600030101010101" pitchFamily="2" charset="-122"/>
              </a:rPr>
              <a:t>。</a:t>
            </a:r>
            <a:r>
              <a:rPr lang="zh-CN" sz="1800" kern="100" dirty="0">
                <a:effectLst/>
                <a:latin typeface="Calibri" panose="020F0502020204030204" pitchFamily="34" charset="0"/>
                <a:ea typeface="DengXian" panose="02010600030101010101" pitchFamily="2" charset="-122"/>
                <a:cs typeface="Times New Roman" panose="02020603050405020304" pitchFamily="18" charset="0"/>
              </a:rPr>
              <a:t>通过调用</a:t>
            </a:r>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 SurRoL </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环境中自带的</a:t>
            </a:r>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先知策略</a:t>
            </a:r>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en-FR" sz="1800" kern="100" dirty="0">
                <a:effectLst/>
                <a:latin typeface="DengXian" panose="02010600030101010101" pitchFamily="2" charset="-122"/>
                <a:ea typeface="DengXian" panose="02010600030101010101" pitchFamily="2" charset="-122"/>
                <a:cs typeface="Times New Roman" panose="02020603050405020304" pitchFamily="18" charset="0"/>
              </a:rPr>
              <a:t>Oracle Policy</a:t>
            </a:r>
            <a:r>
              <a:rPr lang="zh-CN" sz="1800" kern="100" dirty="0">
                <a:effectLst/>
                <a:latin typeface="DengXian" panose="02010600030101010101" pitchFamily="2" charset="-122"/>
                <a:ea typeface="DengXian" panose="02010600030101010101" pitchFamily="2" charset="-122"/>
                <a:cs typeface="Times New Roman" panose="02020603050405020304" pitchFamily="18" charset="0"/>
              </a:rPr>
              <a:t>）来自动操作机器人完成任务，并将这些成功的操作过程记录下来</a:t>
            </a:r>
            <a:r>
              <a:rPr lang="zh-CN" sz="1800" kern="100" dirty="0">
                <a:effectLst/>
                <a:latin typeface="Calibri" panose="020F0502020204030204" pitchFamily="34" charset="0"/>
                <a:ea typeface="DengXian" panose="02010600030101010101" pitchFamily="2" charset="-122"/>
                <a:cs typeface="SimSun" panose="02010600030101010101" pitchFamily="2" charset="-122"/>
              </a:rPr>
              <a:t>。</a:t>
            </a:r>
            <a:endParaRPr lang="en-US" altLang="zh-CN" sz="1800" kern="100" dirty="0">
              <a:effectLst/>
              <a:latin typeface="Calibri" panose="020F0502020204030204" pitchFamily="34" charset="0"/>
              <a:ea typeface="DengXian" panose="02010600030101010101" pitchFamily="2" charset="-122"/>
              <a:cs typeface="SimSun" panose="02010600030101010101" pitchFamily="2" charset="-122"/>
            </a:endParaRPr>
          </a:p>
          <a:p>
            <a:endParaRPr lang="en-US" altLang="zh-CN" sz="1800" kern="100" dirty="0">
              <a:effectLst/>
              <a:latin typeface="Calibri" panose="020F0502020204030204" pitchFamily="34" charset="0"/>
              <a:ea typeface="DengXian" panose="02010600030101010101" pitchFamily="2" charset="-122"/>
              <a:cs typeface="SimSun"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FR" altLang="en-FR" sz="1800" b="0" i="0" u="none" strike="noStrike" cap="none" normalizeH="0" baseline="0" dirty="0">
                <a:ln>
                  <a:noFill/>
                </a:ln>
                <a:solidFill>
                  <a:schemeClr val="tx1"/>
                </a:solidFill>
                <a:effectLst/>
                <a:latin typeface="Arial" panose="020B0604020202020204" pitchFamily="34" charset="0"/>
                <a:ea typeface="DengXian" panose="02010600030101010101" pitchFamily="2" charset="-122"/>
                <a:cs typeface="SimSun" panose="02010600030101010101" pitchFamily="2" charset="-122"/>
              </a:rPr>
              <a:t>数据主要通过</a:t>
            </a:r>
            <a:r>
              <a:rPr kumimoji="0" lang="en-FR" altLang="en-FR" sz="18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a:t>
            </a:r>
            <a:r>
              <a:rPr kumimoji="0" lang="en-FR" altLang="en-FR" sz="1800" b="0" i="0" u="none" strike="noStrike" cap="none" normalizeH="0" baseline="0" dirty="0">
                <a:ln>
                  <a:noFill/>
                </a:ln>
                <a:solidFill>
                  <a:schemeClr val="tx1"/>
                </a:solidFill>
                <a:effectLst/>
                <a:latin typeface="Arial Unicode MS" panose="020B0604020202020204" pitchFamily="34" charset="-128"/>
                <a:ea typeface="DengXian" panose="02010600030101010101" pitchFamily="2" charset="-122"/>
                <a:cs typeface="Courier New" panose="02070309020205020404" pitchFamily="49" charset="0"/>
              </a:rPr>
              <a:t>np.savez_compressed</a:t>
            </a:r>
            <a:r>
              <a:rPr kumimoji="0" lang="en-FR" altLang="en-FR" sz="1800" b="0" i="0" u="none" strike="noStrike" cap="none" normalizeH="0" baseline="0" dirty="0">
                <a:ln>
                  <a:noFill/>
                </a:ln>
                <a:solidFill>
                  <a:schemeClr val="tx1"/>
                </a:solidFill>
                <a:effectLst/>
                <a:ea typeface="DengXian" panose="02010600030101010101" pitchFamily="2" charset="-122"/>
              </a:rPr>
              <a:t> </a:t>
            </a:r>
            <a:r>
              <a:rPr kumimoji="0" lang="en-FR" altLang="en-FR" sz="1800" b="0" i="0" u="none" strike="noStrike" cap="none" normalizeH="0" baseline="0" dirty="0">
                <a:ln>
                  <a:noFill/>
                </a:ln>
                <a:solidFill>
                  <a:schemeClr val="tx1"/>
                </a:solidFill>
                <a:effectLst/>
                <a:latin typeface="Arial" panose="020B0604020202020204" pitchFamily="34" charset="0"/>
                <a:ea typeface="DengXian" panose="02010600030101010101" pitchFamily="2" charset="-122"/>
                <a:cs typeface="SimSun" panose="02010600030101010101" pitchFamily="2" charset="-122"/>
              </a:rPr>
              <a:t>保存为</a:t>
            </a:r>
            <a:r>
              <a:rPr kumimoji="0" lang="en-FR" altLang="en-FR" sz="18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a:t>
            </a:r>
            <a:r>
              <a:rPr kumimoji="0" lang="en-FR" altLang="en-FR" sz="1800" b="0" i="0" u="none" strike="noStrike" cap="none" normalizeH="0" baseline="0" dirty="0">
                <a:ln>
                  <a:noFill/>
                </a:ln>
                <a:solidFill>
                  <a:schemeClr val="tx1"/>
                </a:solidFill>
                <a:effectLst/>
                <a:latin typeface="Arial Unicode MS" panose="020B0604020202020204" pitchFamily="34" charset="-128"/>
                <a:ea typeface="DengXian" panose="02010600030101010101" pitchFamily="2" charset="-122"/>
                <a:cs typeface="Courier New" panose="02070309020205020404" pitchFamily="49" charset="0"/>
              </a:rPr>
              <a:t>.npz</a:t>
            </a:r>
            <a:r>
              <a:rPr kumimoji="0" lang="en-FR" altLang="en-FR" sz="1800" b="0" i="0" u="none" strike="noStrike" cap="none" normalizeH="0" baseline="0" dirty="0">
                <a:ln>
                  <a:noFill/>
                </a:ln>
                <a:solidFill>
                  <a:schemeClr val="tx1"/>
                </a:solidFill>
                <a:effectLst/>
                <a:ea typeface="DengXian" panose="02010600030101010101" pitchFamily="2" charset="-122"/>
              </a:rPr>
              <a:t> </a:t>
            </a:r>
            <a:r>
              <a:rPr kumimoji="0" lang="en-FR" altLang="en-FR" sz="1800" b="0" i="0" u="none" strike="noStrike" cap="none" normalizeH="0" baseline="0" dirty="0">
                <a:ln>
                  <a:noFill/>
                </a:ln>
                <a:solidFill>
                  <a:schemeClr val="tx1"/>
                </a:solidFill>
                <a:effectLst/>
                <a:latin typeface="Arial" panose="020B0604020202020204" pitchFamily="34" charset="0"/>
                <a:ea typeface="DengXian" panose="02010600030101010101" pitchFamily="2" charset="-122"/>
                <a:cs typeface="SimSun" panose="02010600030101010101" pitchFamily="2" charset="-122"/>
              </a:rPr>
              <a:t>格式）</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lang="en-FR" altLang="en-FR" sz="1800" dirty="0">
              <a:latin typeface="Arial" panose="020B0604020202020204" pitchFamily="34" charset="0"/>
              <a:ea typeface="DengXian" panose="02010600030101010101" pitchFamily="2" charset="-122"/>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FR" altLang="en-FR" sz="1800" b="1" i="0" u="none" strike="noStrike" cap="none" normalizeH="0" baseline="0" dirty="0">
                <a:ln>
                  <a:noFill/>
                </a:ln>
                <a:solidFill>
                  <a:schemeClr val="tx1"/>
                </a:solidFill>
                <a:effectLst/>
                <a:latin typeface="Arial Unicode MS" panose="020B0604020202020204" pitchFamily="34" charset="-128"/>
                <a:ea typeface="DengXian" panose="02010600030101010101" pitchFamily="2" charset="-122"/>
                <a:cs typeface="Courier New" panose="02070309020205020404" pitchFamily="49" charset="0"/>
              </a:rPr>
              <a:t>acs</a:t>
            </a:r>
            <a:r>
              <a:rPr kumimoji="0" lang="en-FR" altLang="en-FR" sz="1800" b="1" i="0" u="none" strike="noStrike" cap="none" normalizeH="0" baseline="0" dirty="0">
                <a:ln>
                  <a:noFill/>
                </a:ln>
                <a:solidFill>
                  <a:schemeClr val="tx1"/>
                </a:solidFill>
                <a:effectLst/>
                <a:ea typeface="DengXian" panose="02010600030101010101" pitchFamily="2" charset="-122"/>
              </a:rPr>
              <a:t> (Actions)</a:t>
            </a:r>
            <a:r>
              <a:rPr kumimoji="0" lang="en-FR" altLang="en-FR" sz="1800" b="0" i="0" u="none" strike="noStrike" cap="none" normalizeH="0" baseline="0" dirty="0">
                <a:ln>
                  <a:noFill/>
                </a:ln>
                <a:solidFill>
                  <a:schemeClr val="tx1"/>
                </a:solidFill>
                <a:effectLst/>
                <a:latin typeface="Arial" panose="020B0604020202020204" pitchFamily="34" charset="0"/>
                <a:ea typeface="DengXian" panose="02010600030101010101" pitchFamily="2" charset="-122"/>
                <a:cs typeface="SimSun" panose="02010600030101010101" pitchFamily="2" charset="-122"/>
              </a:rPr>
              <a:t>：记录了专家在每一步做出的具体动作指令（例如机械臂的移动距离、夹爪的开合角度）。action </a:t>
            </a:r>
            <a:r>
              <a:rPr kumimoji="0" lang="en-FR" altLang="en-FR" sz="18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维度不固定，取决于操作对象的自由度、机械臂的数量以及特定任务的设计需求。不同的机械臂在仿真中被赋予了不同的控制接口，有些任务不需要控制所有自由度，所以为了降低强化学习或控制算法的复杂度，可以选择阉割不必要的维度。关键文件和函数（p</a:t>
            </a:r>
            <a:r>
              <a:rPr kumimoji="0" lang="fr-FR" altLang="en-FR" sz="18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sm_env.py</a:t>
            </a:r>
            <a:r>
              <a:rPr kumimoji="0" lang="fr-FR" altLang="en-FR" sz="18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a:t>
            </a:r>
            <a:r>
              <a:rPr kumimoji="0" lang="fr-FR" altLang="en-FR" sz="18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ecm_env.py,surrol_env.py</a:t>
            </a:r>
            <a:r>
              <a:rPr kumimoji="0" lang="fr-FR" altLang="en-FR" sz="18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 ACTION_SIZE, ACTION_MODE, _</a:t>
            </a:r>
            <a:r>
              <a:rPr kumimoji="0" lang="fr-FR" altLang="en-FR" sz="18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set_action</a:t>
            </a:r>
            <a:r>
              <a:rPr kumimoji="0" lang="fr-FR" altLang="en-FR" sz="18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a:t>
            </a:r>
            <a:r>
              <a:rPr kumimoji="0" lang="fr-FR" altLang="en-FR" sz="18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step</a:t>
            </a:r>
            <a:r>
              <a:rPr kumimoji="0" lang="fr-FR" altLang="en-FR" sz="18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fr-FR" altLang="en-FR" sz="1800" b="0" i="0" u="none" strike="noStrike" cap="none" normalizeH="0" baseline="0" dirty="0">
              <a:ln>
                <a:noFill/>
              </a:ln>
              <a:solidFill>
                <a:schemeClr val="tx1"/>
              </a:solidFill>
              <a:effectLst/>
              <a:latin typeface="Arial" panose="020B0604020202020204" pitchFamily="34" charset="0"/>
              <a:ea typeface="DengXian"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lang="fr-FR" altLang="en-FR" sz="1800" dirty="0">
                <a:latin typeface="Arial" panose="020B0604020202020204" pitchFamily="34" charset="0"/>
                <a:ea typeface="DengXian" panose="02010600030101010101" pitchFamily="2" charset="-122"/>
              </a:rPr>
              <a:t>info (Infos)：</a:t>
            </a:r>
            <a:r>
              <a:rPr lang="fr-FR" altLang="en-FR" sz="1800" dirty="0" err="1">
                <a:latin typeface="Arial" panose="020B0604020202020204" pitchFamily="34" charset="0"/>
                <a:ea typeface="DengXian" panose="02010600030101010101" pitchFamily="2" charset="-122"/>
              </a:rPr>
              <a:t>记录了每一步的额外信息（包含是否成功</a:t>
            </a:r>
            <a:r>
              <a:rPr lang="fr-FR" altLang="en-FR" sz="1800" dirty="0">
                <a:latin typeface="Arial" panose="020B0604020202020204" pitchFamily="34" charset="0"/>
                <a:ea typeface="DengXian" panose="02010600030101010101" pitchFamily="2" charset="-122"/>
              </a:rPr>
              <a:t> </a:t>
            </a:r>
            <a:r>
              <a:rPr lang="fr-FR" altLang="en-FR" sz="1800" dirty="0" err="1">
                <a:latin typeface="Arial" panose="020B0604020202020204" pitchFamily="34" charset="0"/>
                <a:ea typeface="DengXian" panose="02010600030101010101" pitchFamily="2" charset="-122"/>
              </a:rPr>
              <a:t>is_success</a:t>
            </a:r>
            <a:r>
              <a:rPr lang="fr-FR" altLang="en-FR" sz="1800" dirty="0">
                <a:latin typeface="Arial" panose="020B0604020202020204" pitchFamily="34" charset="0"/>
                <a:ea typeface="DengXian" panose="02010600030101010101" pitchFamily="2" charset="-122"/>
              </a:rPr>
              <a:t>）。</a:t>
            </a: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lang="fr-FR" altLang="en-FR" sz="1800" dirty="0" err="1">
                <a:latin typeface="Arial" panose="020B0604020202020204" pitchFamily="34" charset="0"/>
                <a:ea typeface="DengXian" panose="02010600030101010101" pitchFamily="2" charset="-122"/>
              </a:rPr>
              <a:t>额外情况：如果开启了</a:t>
            </a:r>
            <a:r>
              <a:rPr lang="fr-FR" altLang="en-FR" sz="1800" dirty="0">
                <a:latin typeface="Arial" panose="020B0604020202020204" pitchFamily="34" charset="0"/>
                <a:ea typeface="DengXian" panose="02010600030101010101" pitchFamily="2" charset="-122"/>
              </a:rPr>
              <a:t> --</a:t>
            </a:r>
            <a:r>
              <a:rPr lang="fr-FR" altLang="en-FR" sz="1800" dirty="0" err="1">
                <a:latin typeface="Arial" panose="020B0604020202020204" pitchFamily="34" charset="0"/>
                <a:ea typeface="DengXian" panose="02010600030101010101" pitchFamily="2" charset="-122"/>
              </a:rPr>
              <a:t>video，还会额外保存一个</a:t>
            </a:r>
            <a:r>
              <a:rPr lang="fr-FR" altLang="en-FR" sz="1800" dirty="0">
                <a:latin typeface="Arial" panose="020B0604020202020204" pitchFamily="34" charset="0"/>
                <a:ea typeface="DengXian" panose="02010600030101010101" pitchFamily="2" charset="-122"/>
              </a:rPr>
              <a:t> .mp4 </a:t>
            </a:r>
            <a:r>
              <a:rPr lang="fr-FR" altLang="en-FR" sz="1800" dirty="0" err="1">
                <a:latin typeface="Arial" panose="020B0604020202020204" pitchFamily="34" charset="0"/>
                <a:ea typeface="DengXian" panose="02010600030101010101" pitchFamily="2" charset="-122"/>
              </a:rPr>
              <a:t>视频文件，以及可能的</a:t>
            </a:r>
            <a:r>
              <a:rPr lang="fr-FR" altLang="en-FR" sz="1800" dirty="0">
                <a:latin typeface="Arial" panose="020B0604020202020204" pitchFamily="34" charset="0"/>
                <a:ea typeface="DengXian" panose="02010600030101010101" pitchFamily="2" charset="-122"/>
              </a:rPr>
              <a:t> </a:t>
            </a:r>
            <a:r>
              <a:rPr lang="fr-FR" altLang="en-FR" sz="1800" dirty="0" err="1">
                <a:latin typeface="Arial" panose="020B0604020202020204" pitchFamily="34" charset="0"/>
                <a:ea typeface="DengXian" panose="02010600030101010101" pitchFamily="2" charset="-122"/>
              </a:rPr>
              <a:t>masks（图像分割掩码，用于视觉任务</a:t>
            </a:r>
            <a:r>
              <a:rPr lang="fr-FR" altLang="en-FR" sz="1800" dirty="0">
                <a:latin typeface="Arial" panose="020B0604020202020204" pitchFamily="34" charset="0"/>
                <a:ea typeface="DengXian" panose="02010600030101010101" pitchFamily="2" charset="-122"/>
              </a:rPr>
              <a:t>）。</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fr-FR" altLang="en-FR" sz="2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endParaRPr lang="en-FR" sz="1800" kern="100" dirty="0">
              <a:effectLst/>
              <a:latin typeface="Calibri" panose="020F0502020204030204" pitchFamily="34" charset="0"/>
              <a:ea typeface="DengXian" panose="02010600030101010101" pitchFamily="2" charset="-122"/>
              <a:cs typeface="Times New Roman" panose="02020603050405020304" pitchFamily="18" charset="0"/>
            </a:endParaRPr>
          </a:p>
          <a:p>
            <a:endParaRPr lang="fr-FR" dirty="0"/>
          </a:p>
        </p:txBody>
      </p:sp>
    </p:spTree>
    <p:extLst>
      <p:ext uri="{BB962C8B-B14F-4D97-AF65-F5344CB8AC3E}">
        <p14:creationId xmlns:p14="http://schemas.microsoft.com/office/powerpoint/2010/main" val="3833343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22AC20E-1CFF-D16E-C958-1B715EC45751}"/>
              </a:ext>
            </a:extLst>
          </p:cNvPr>
          <p:cNvSpPr>
            <a:spLocks noGrp="1" noChangeArrowheads="1"/>
          </p:cNvSpPr>
          <p:nvPr>
            <p:ph idx="1"/>
          </p:nvPr>
        </p:nvSpPr>
        <p:spPr bwMode="auto">
          <a:xfrm>
            <a:off x="474944" y="737212"/>
            <a:ext cx="11449834"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fr-FR" altLang="en-FR" sz="1600" b="1"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obs</a:t>
            </a:r>
            <a:r>
              <a:rPr kumimoji="0" lang="fr-FR" altLang="en-FR" sz="1600" b="1"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(Observations)：</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记录了每一步机器人“看到”的状态（通常是机器人关节位置、物体位置等数值向量）具体状态根据任务，机械臂而变化：在</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tasks</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ecm_active_track.py</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文件中</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，_</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get_obs</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函数通过</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np.concatenate</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将几组数据拼接成了一个数组</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a:t>
            </a:r>
            <a:endParaRPr kumimoji="0" lang="fr-FR" altLang="en-FR"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fr-FR" altLang="en-FR" sz="16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observation = </a:t>
            </a:r>
            <a:r>
              <a:rPr kumimoji="0" lang="fr-FR" altLang="en-FR" sz="1600" b="0" i="0" u="none" strike="noStrike" cap="none" normalizeH="0" baseline="0" dirty="0" err="1">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np.concatenate</a:t>
            </a:r>
            <a:r>
              <a:rPr kumimoji="0" lang="fr-FR" altLang="en-FR" sz="16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t>
            </a:r>
            <a:endParaRPr kumimoji="0" lang="fr-FR" altLang="en-FR" sz="24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fr-FR" altLang="en-FR" sz="1600" b="0" i="0" u="none" strike="noStrike" cap="none" normalizeH="0" baseline="0" dirty="0" err="1">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robot_state</a:t>
            </a:r>
            <a:r>
              <a:rPr kumimoji="0" lang="fr-FR" altLang="en-FR" sz="16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                                # 维度：6</a:t>
            </a:r>
            <a:endParaRPr kumimoji="0" lang="fr-FR" altLang="en-FR" sz="24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fr-FR" altLang="en-FR" sz="1600" b="0" i="0" u="none" strike="noStrike" cap="none" normalizeH="0" baseline="0" dirty="0" err="1">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np.array</a:t>
            </a:r>
            <a:r>
              <a:rPr kumimoji="0" lang="fr-FR" altLang="en-FR" sz="16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t>
            </a:r>
            <a:r>
              <a:rPr kumimoji="0" lang="fr-FR" altLang="en-FR" sz="1600" b="0" i="0" u="none" strike="noStrike" cap="none" normalizeH="0" baseline="0" dirty="0" err="1">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in_view</a:t>
            </a:r>
            <a:r>
              <a:rPr kumimoji="0" lang="fr-FR" altLang="en-FR" sz="16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t>
            </a:r>
            <a:r>
              <a:rPr kumimoji="0" lang="fr-FR" altLang="en-FR" sz="1600" b="0" i="0" u="none" strike="noStrike" cap="none" normalizeH="0" baseline="0" dirty="0" err="1">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astype</a:t>
            </a:r>
            <a:r>
              <a:rPr kumimoji="0" lang="fr-FR" altLang="en-FR" sz="16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t>
            </a:r>
            <a:r>
              <a:rPr kumimoji="0" lang="fr-FR" altLang="en-FR" sz="1600" b="0" i="0" u="none" strike="noStrike" cap="none" normalizeH="0" baseline="0" dirty="0" err="1">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np.float</a:t>
            </a:r>
            <a:r>
              <a:rPr kumimoji="0" lang="fr-FR" altLang="en-FR" sz="16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t>
            </a:r>
            <a:r>
              <a:rPr kumimoji="0" lang="fr-FR" altLang="en-FR" sz="1600" b="0" i="0" u="none" strike="noStrike" cap="none" normalizeH="0" baseline="0" dirty="0" err="1">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ravel</a:t>
            </a:r>
            <a:r>
              <a:rPr kumimoji="0" lang="fr-FR" altLang="en-FR" sz="16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 # 维度：1</a:t>
            </a:r>
            <a:endParaRPr kumimoji="0" lang="fr-FR" altLang="en-FR" sz="24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fr-FR" altLang="en-FR" sz="1600" b="0" i="0" u="none" strike="noStrike" cap="none" normalizeH="0" baseline="0" dirty="0" err="1">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centroids.ravel</a:t>
            </a:r>
            <a:r>
              <a:rPr kumimoji="0" lang="fr-FR" altLang="en-FR" sz="16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                          # 维度：2</a:t>
            </a:r>
            <a:endParaRPr kumimoji="0" lang="fr-FR" altLang="en-FR" sz="24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fr-FR" altLang="en-FR" sz="1600" b="0" i="0" u="none" strike="noStrike" cap="none" normalizeH="0" baseline="0" dirty="0" err="1">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np.array</a:t>
            </a:r>
            <a:r>
              <a:rPr kumimoji="0" lang="fr-FR" altLang="en-FR" sz="16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t>
            </a:r>
            <a:r>
              <a:rPr kumimoji="0" lang="fr-FR" altLang="en-FR" sz="1600" b="0" i="0" u="none" strike="noStrike" cap="none" normalizeH="0" baseline="0" dirty="0" err="1">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self.ecm.wz</a:t>
            </a:r>
            <a:r>
              <a:rPr kumimoji="0" lang="fr-FR" altLang="en-FR" sz="16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t>
            </a:r>
            <a:r>
              <a:rPr kumimoji="0" lang="fr-FR" altLang="en-FR" sz="1600" b="0" i="0" u="none" strike="noStrike" cap="none" normalizeH="0" baseline="0" dirty="0" err="1">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ravel</a:t>
            </a:r>
            <a:r>
              <a:rPr kumimoji="0" lang="fr-FR" altLang="en-FR" sz="16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               # 维度：1</a:t>
            </a:r>
            <a:endParaRPr kumimoji="0" lang="fr-FR" altLang="en-FR" sz="24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fr-FR" altLang="en-FR" sz="16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t>
            </a:r>
            <a:endParaRPr kumimoji="0" lang="fr-FR" altLang="en-FR" sz="2400" b="0" i="0" u="none" strike="noStrike" cap="none" normalizeH="0" baseline="0" dirty="0">
              <a:ln>
                <a:noFill/>
              </a:ln>
              <a:solidFill>
                <a:schemeClr val="tx1"/>
              </a:solidFill>
              <a:effectLst/>
              <a:ea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Pct val="100000"/>
              <a:buFont typeface="Symbol" pitchFamily="2" charset="2"/>
              <a:buChar char=""/>
              <a:tabLst>
                <a:tab pos="457200" algn="l"/>
              </a:tabLst>
            </a:pP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维度</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1-6：robot_state（机器人状态）</a:t>
            </a:r>
            <a:endParaRPr kumimoji="0" lang="fr-FR" altLang="en-FR"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Pct val="100000"/>
              <a:buFont typeface="Courier New" panose="02070309020205020404" pitchFamily="49" charset="0"/>
              <a:buChar char="o"/>
              <a:tabLst>
                <a:tab pos="457200" algn="l"/>
              </a:tabLst>
            </a:pP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源自基类</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EcmEnv</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的</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_</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get_robot_state</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方法</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a:t>
            </a:r>
            <a:endParaRPr kumimoji="0" lang="fr-FR" altLang="en-FR"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Pct val="100000"/>
              <a:buFont typeface="Courier New" panose="02070309020205020404" pitchFamily="49" charset="0"/>
              <a:buChar char="o"/>
              <a:tabLst>
                <a:tab pos="457200" algn="l"/>
              </a:tabLst>
            </a:pP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它包含</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ECM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机械臂末端在</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RCM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坐标系下的</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3维位置 (x, y, z)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和</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3维欧拉角 (roll, pitch,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yaw</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a:t>
            </a:r>
            <a:endParaRPr kumimoji="0" lang="fr-FR" altLang="en-FR"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Pct val="100000"/>
              <a:buFont typeface="Symbol" pitchFamily="2" charset="2"/>
              <a:buChar char=""/>
              <a:tabLst>
                <a:tab pos="457200" algn="l"/>
              </a:tabLst>
            </a:pP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维度</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7：in_view（是否可见）</a:t>
            </a:r>
            <a:endParaRPr kumimoji="0" lang="fr-FR" altLang="en-FR"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Pct val="100000"/>
              <a:buFont typeface="Courier New" panose="02070309020205020404" pitchFamily="49" charset="0"/>
              <a:buChar char="o"/>
              <a:tabLst>
                <a:tab pos="457200" algn="l"/>
              </a:tabLst>
            </a:pP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这是一个布尔值的浮点表示</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a:t>
            </a:r>
            <a:endParaRPr kumimoji="0" lang="fr-FR" altLang="en-FR"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Pct val="100000"/>
              <a:buFont typeface="Courier New" panose="02070309020205020404" pitchFamily="49" charset="0"/>
              <a:buChar char="o"/>
              <a:tabLst>
                <a:tab pos="457200" algn="l"/>
              </a:tabLst>
            </a:pP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告诉模型目标物体当前是否在摄像头的视野范围内（1.0 表示在，0.0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表示不在</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a:t>
            </a:r>
            <a:endParaRPr kumimoji="0" lang="fr-FR" altLang="en-FR"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Pct val="100000"/>
              <a:buFont typeface="Symbol" pitchFamily="2" charset="2"/>
              <a:buChar char=""/>
              <a:tabLst>
                <a:tab pos="457200" algn="l"/>
              </a:tabLst>
            </a:pP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维度</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8-9：centroids（质心位置）</a:t>
            </a:r>
            <a:endParaRPr kumimoji="0" lang="fr-FR" altLang="en-FR"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Pct val="100000"/>
              <a:buFont typeface="Courier New" panose="02070309020205020404" pitchFamily="49" charset="0"/>
              <a:buChar char="o"/>
              <a:tabLst>
                <a:tab pos="457200" algn="l"/>
              </a:tabLst>
            </a:pP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这是目标物体在摄像头画面中的</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2维坐标 (u, v)。</a:t>
            </a:r>
            <a:endParaRPr kumimoji="0" lang="fr-FR" altLang="en-FR"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Pct val="100000"/>
              <a:buFont typeface="Courier New" panose="02070309020205020404" pitchFamily="49" charset="0"/>
              <a:buChar char="o"/>
              <a:tabLst>
                <a:tab pos="457200" algn="l"/>
              </a:tabLst>
            </a:pP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模型需要通过这两个值来判断物体偏离画面中心有多远，从而调整相机位置</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a:t>
            </a:r>
            <a:endParaRPr kumimoji="0" lang="fr-FR" altLang="en-FR"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Pct val="100000"/>
              <a:buFont typeface="Symbol" pitchFamily="2" charset="2"/>
              <a:buChar char=""/>
              <a:tabLst>
                <a:tab pos="457200" algn="l"/>
              </a:tabLst>
            </a:pP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维度</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10：self.ecm.wz（角速度/</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特定轴状态</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a:t>
            </a:r>
            <a:endParaRPr kumimoji="0" lang="fr-FR" altLang="en-FR"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Pct val="100000"/>
              <a:buFont typeface="Courier New" panose="02070309020205020404" pitchFamily="49" charset="0"/>
              <a:buChar char="o"/>
              <a:tabLst>
                <a:tab pos="457200" algn="l"/>
              </a:tabLst>
            </a:pP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这是关于</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ECM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摄像头</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Z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轴相关的状态信息</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a:t>
            </a:r>
            <a:endParaRPr kumimoji="0" lang="fr-FR" altLang="en-FR"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有的任务可能就不是10维了，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比如</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PsmEnv（单臂</a:t>
            </a:r>
            <a:r>
              <a:rPr kumimoji="0" lang="fr-FR" altLang="en-FR" sz="1600" b="0" i="0" u="none" strike="noStrike" cap="none" normalizeH="0" baseline="0" dirty="0">
                <a:ln>
                  <a:noFill/>
                </a:ln>
                <a:solidFill>
                  <a:schemeClr val="tx1"/>
                </a:solidFill>
                <a:effectLst/>
                <a:latin typeface="Arial" panose="020B0604020202020204" pitchFamily="34" charset="0"/>
                <a:ea typeface="DengXian" panose="02010600030101010101" pitchFamily="2" charset="-122"/>
              </a:rPr>
              <a:t> </a:t>
            </a:r>
            <a:r>
              <a:rPr kumimoji="0" lang="fr-FR" altLang="en-FR" sz="1600" b="0" i="0" u="none" strike="noStrike" cap="none" normalizeH="0" baseline="0" dirty="0" err="1">
                <a:ln>
                  <a:noFill/>
                </a:ln>
                <a:solidFill>
                  <a:schemeClr val="tx1"/>
                </a:solidFill>
                <a:effectLst/>
                <a:latin typeface="Arial" panose="020B0604020202020204" pitchFamily="34" charset="0"/>
                <a:ea typeface="DengXian" panose="02010600030101010101" pitchFamily="2" charset="-122"/>
              </a:rPr>
              <a:t>PSM）的观察值会更多，因为它包含了物体的相对位置、夹爪开合度等更多信息</a:t>
            </a:r>
            <a:endParaRPr kumimoji="0" lang="fr-FR" altLang="en-FR"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p:txBody>
      </p:sp>
    </p:spTree>
    <p:extLst>
      <p:ext uri="{BB962C8B-B14F-4D97-AF65-F5344CB8AC3E}">
        <p14:creationId xmlns:p14="http://schemas.microsoft.com/office/powerpoint/2010/main" val="2760299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FF916-82D6-5758-1FA6-51AF83447FCF}"/>
              </a:ext>
            </a:extLst>
          </p:cNvPr>
          <p:cNvSpPr>
            <a:spLocks noGrp="1"/>
          </p:cNvSpPr>
          <p:nvPr>
            <p:ph type="title"/>
          </p:nvPr>
        </p:nvSpPr>
        <p:spPr>
          <a:xfrm>
            <a:off x="838200" y="365126"/>
            <a:ext cx="10515600" cy="948520"/>
          </a:xfrm>
        </p:spPr>
        <p:txBody>
          <a:bodyPr>
            <a:normAutofit fontScale="90000"/>
          </a:bodyPr>
          <a:lstStyle/>
          <a:p>
            <a:pPr marL="0" indent="0">
              <a:spcBef>
                <a:spcPts val="200"/>
              </a:spcBef>
            </a:pPr>
            <a:r>
              <a:rPr lang="en-FR" sz="4400" b="1" kern="100" dirty="0">
                <a:solidFill>
                  <a:srgbClr val="2F5496"/>
                </a:solidFill>
                <a:effectLst/>
                <a:latin typeface="Calibri Light" panose="020F0302020204030204" pitchFamily="34" charset="0"/>
                <a:ea typeface="DengXian Light" panose="02010600030101010101" pitchFamily="2" charset="-122"/>
                <a:cs typeface="Times New Roman" panose="02020603050405020304" pitchFamily="18" charset="0"/>
              </a:rPr>
              <a:t>6-8</a:t>
            </a:r>
            <a:r>
              <a:rPr lang="zh-CN" sz="4400" b="1" kern="100" dirty="0">
                <a:solidFill>
                  <a:srgbClr val="2F5496"/>
                </a:solidFill>
                <a:effectLst/>
                <a:latin typeface="Calibri Light" panose="020F0302020204030204" pitchFamily="34" charset="0"/>
                <a:ea typeface="DengXian Light" panose="02010600030101010101" pitchFamily="2" charset="-122"/>
                <a:cs typeface="Times New Roman" panose="02020603050405020304" pitchFamily="18" charset="0"/>
              </a:rPr>
              <a:t>）核心：强化学习训练手术机器人</a:t>
            </a:r>
            <a:r>
              <a:rPr lang="zh-CN" altLang="en-US" sz="4400" b="1" kern="100" dirty="0">
                <a:solidFill>
                  <a:srgbClr val="2F5496"/>
                </a:solidFill>
                <a:effectLst/>
                <a:latin typeface="Calibri Light" panose="020F0302020204030204" pitchFamily="34" charset="0"/>
                <a:ea typeface="DengXian Light" panose="02010600030101010101" pitchFamily="2" charset="-122"/>
                <a:cs typeface="Times New Roman" panose="02020603050405020304" pitchFamily="18" charset="0"/>
              </a:rPr>
              <a:t> </a:t>
            </a:r>
            <a:r>
              <a:rPr lang="en-US" altLang="zh-CN" sz="4400" b="1" kern="100" dirty="0">
                <a:solidFill>
                  <a:srgbClr val="2F5496"/>
                </a:solidFill>
                <a:effectLst/>
                <a:latin typeface="Calibri Light" panose="020F0302020204030204" pitchFamily="34" charset="0"/>
                <a:ea typeface="DengXian Light" panose="02010600030101010101" pitchFamily="2" charset="-122"/>
                <a:cs typeface="Times New Roman" panose="02020603050405020304" pitchFamily="18" charset="0"/>
              </a:rPr>
              <a:t>–</a:t>
            </a:r>
            <a:r>
              <a:rPr lang="zh-CN" altLang="en-US" sz="4400" b="1" kern="100" dirty="0">
                <a:solidFill>
                  <a:srgbClr val="2F5496"/>
                </a:solidFill>
                <a:effectLst/>
                <a:latin typeface="Calibri Light" panose="020F0302020204030204" pitchFamily="34" charset="0"/>
                <a:ea typeface="DengXian Light" panose="02010600030101010101" pitchFamily="2" charset="-122"/>
                <a:cs typeface="Times New Roman" panose="02020603050405020304" pitchFamily="18" charset="0"/>
              </a:rPr>
              <a:t> 赋予智能体自主决策能力</a:t>
            </a:r>
            <a:br>
              <a:rPr lang="en-FR" sz="4400" b="1" kern="100" dirty="0">
                <a:solidFill>
                  <a:srgbClr val="1F3763"/>
                </a:solidFill>
                <a:effectLst/>
                <a:latin typeface="Calibri Light" panose="020F0302020204030204" pitchFamily="34" charset="0"/>
                <a:ea typeface="DengXian Light" panose="02010600030101010101" pitchFamily="2" charset="-122"/>
                <a:cs typeface="Times New Roman" panose="02020603050405020304" pitchFamily="18" charset="0"/>
              </a:rPr>
            </a:br>
            <a:endParaRPr lang="fr-FR" dirty="0"/>
          </a:p>
        </p:txBody>
      </p:sp>
      <p:sp>
        <p:nvSpPr>
          <p:cNvPr id="3" name="Content Placeholder 2">
            <a:extLst>
              <a:ext uri="{FF2B5EF4-FFF2-40B4-BE49-F238E27FC236}">
                <a16:creationId xmlns:a16="http://schemas.microsoft.com/office/drawing/2014/main" id="{A8406D62-FA23-87BB-682A-35FCF9A6A633}"/>
              </a:ext>
            </a:extLst>
          </p:cNvPr>
          <p:cNvSpPr>
            <a:spLocks noGrp="1"/>
          </p:cNvSpPr>
          <p:nvPr>
            <p:ph idx="1"/>
          </p:nvPr>
        </p:nvSpPr>
        <p:spPr>
          <a:xfrm>
            <a:off x="696533" y="1313646"/>
            <a:ext cx="10515600" cy="5718220"/>
          </a:xfrm>
        </p:spPr>
        <p:txBody>
          <a:bodyPr>
            <a:normAutofit fontScale="92500"/>
          </a:bodyPr>
          <a:lstStyle/>
          <a:p>
            <a:pPr marL="0" lvl="0" indent="0">
              <a:buSzPts val="1000"/>
              <a:buNone/>
            </a:pPr>
            <a:r>
              <a:rPr lang="en-FR" sz="1800" b="1" kern="100" dirty="0">
                <a:solidFill>
                  <a:srgbClr val="1F3763"/>
                </a:solidFill>
                <a:effectLst/>
                <a:latin typeface="Calibri Light" panose="020F0302020204030204" pitchFamily="34" charset="0"/>
                <a:ea typeface="DengXian Light" panose="02010600030101010101" pitchFamily="2" charset="-122"/>
                <a:cs typeface="Times New Roman" panose="02020603050405020304" pitchFamily="18" charset="0"/>
              </a:rPr>
              <a:t>6-8-1</a:t>
            </a:r>
            <a:r>
              <a:rPr lang="zh-CN" sz="1800" b="1" kern="100" dirty="0">
                <a:solidFill>
                  <a:srgbClr val="1F3763"/>
                </a:solidFill>
                <a:effectLst/>
                <a:latin typeface="Calibri Light" panose="020F0302020204030204" pitchFamily="34" charset="0"/>
                <a:ea typeface="DengXian Light" panose="02010600030101010101" pitchFamily="2" charset="-122"/>
                <a:cs typeface="Times New Roman" panose="02020603050405020304" pitchFamily="18" charset="0"/>
              </a:rPr>
              <a:t>）让机器人学会自动追踪目标</a:t>
            </a:r>
            <a:r>
              <a:rPr lang="en-FR" sz="1800" b="1" kern="100" dirty="0">
                <a:solidFill>
                  <a:srgbClr val="1F3763"/>
                </a:solidFill>
                <a:effectLst/>
                <a:latin typeface="Calibri Light" panose="020F0302020204030204" pitchFamily="34" charset="0"/>
                <a:ea typeface="DengXian Light" panose="02010600030101010101" pitchFamily="2" charset="-122"/>
                <a:cs typeface="Times New Roman" panose="02020603050405020304" pitchFamily="18" charset="0"/>
              </a:rPr>
              <a:t> (Active Tracking)</a:t>
            </a:r>
            <a:endParaRPr lang="en-US" altLang="zh-CN" sz="1800" dirty="0">
              <a:effectLst/>
              <a:latin typeface="Times New Roman" panose="02020603050405020304" pitchFamily="18" charset="0"/>
              <a:ea typeface="DengXian" panose="02010600030101010101" pitchFamily="2" charset="-122"/>
              <a:cs typeface="SimSun" panose="02010600030101010101" pitchFamily="2" charset="-122"/>
            </a:endParaRPr>
          </a:p>
          <a:p>
            <a:pPr marL="0" lvl="0" indent="0">
              <a:lnSpc>
                <a:spcPct val="120000"/>
              </a:lnSpc>
              <a:buSzPts val="1000"/>
              <a:buNone/>
            </a:pPr>
            <a:r>
              <a:rPr lang="zh-CN" sz="1800" dirty="0">
                <a:effectLst/>
                <a:latin typeface="Times New Roman" panose="02020603050405020304" pitchFamily="18" charset="0"/>
                <a:ea typeface="DengXian" panose="02010600030101010101" pitchFamily="2" charset="-122"/>
                <a:cs typeface="SimSun" panose="02010600030101010101" pitchFamily="2" charset="-122"/>
              </a:rPr>
              <a:t>脚本：</a:t>
            </a:r>
            <a:r>
              <a:rPr lang="en-FR" sz="1800" dirty="0">
                <a:effectLst/>
                <a:latin typeface="DengXian" panose="02010600030101010101" pitchFamily="2" charset="-122"/>
                <a:ea typeface="Times New Roman" panose="02020603050405020304" pitchFamily="18" charset="0"/>
              </a:rPr>
              <a:t>run/ddpg_activetrack.sh</a:t>
            </a:r>
            <a:r>
              <a:rPr lang="zh-CN" altLang="en-US" sz="1800" dirty="0">
                <a:effectLst/>
                <a:latin typeface="DengXian" panose="02010600030101010101" pitchFamily="2" charset="-122"/>
                <a:ea typeface="Times New Roman" panose="02020603050405020304" pitchFamily="18" charset="0"/>
              </a:rPr>
              <a:t> （没用上）</a:t>
            </a:r>
            <a:endParaRPr lang="en-FR" sz="1800" dirty="0">
              <a:effectLst/>
              <a:latin typeface="Times New Roman" panose="02020603050405020304" pitchFamily="18" charset="0"/>
              <a:ea typeface="Times New Roman" panose="02020603050405020304" pitchFamily="18" charset="0"/>
            </a:endParaRPr>
          </a:p>
          <a:p>
            <a:pPr marL="0" lvl="0" indent="0">
              <a:lnSpc>
                <a:spcPct val="120000"/>
              </a:lnSpc>
              <a:buSzPts val="1000"/>
              <a:buNone/>
            </a:pPr>
            <a:r>
              <a:rPr lang="zh-CN" sz="1800" dirty="0">
                <a:effectLst/>
                <a:latin typeface="Times New Roman" panose="02020603050405020304" pitchFamily="18" charset="0"/>
                <a:ea typeface="DengXian" panose="02010600030101010101" pitchFamily="2" charset="-122"/>
                <a:cs typeface="SimSun" panose="02010600030101010101" pitchFamily="2" charset="-122"/>
              </a:rPr>
              <a:t>算法：</a:t>
            </a:r>
            <a:r>
              <a:rPr lang="en-FR" sz="1800" dirty="0">
                <a:effectLst/>
                <a:latin typeface="DengXian" panose="02010600030101010101" pitchFamily="2" charset="-122"/>
                <a:ea typeface="Times New Roman" panose="02020603050405020304" pitchFamily="18" charset="0"/>
              </a:rPr>
              <a:t>DDPG (Deep Deterministic Policy Gradient)</a:t>
            </a:r>
            <a:endParaRPr lang="en-FR" sz="1800" dirty="0">
              <a:effectLst/>
              <a:latin typeface="Times New Roman" panose="02020603050405020304" pitchFamily="18" charset="0"/>
              <a:ea typeface="Times New Roman" panose="02020603050405020304" pitchFamily="18" charset="0"/>
            </a:endParaRPr>
          </a:p>
          <a:p>
            <a:pPr marL="0" lvl="0" indent="0">
              <a:lnSpc>
                <a:spcPct val="120000"/>
              </a:lnSpc>
              <a:buSzPts val="1000"/>
              <a:buNone/>
            </a:pPr>
            <a:r>
              <a:rPr lang="zh-CN" sz="1800" dirty="0">
                <a:effectLst/>
                <a:latin typeface="Times New Roman" panose="02020603050405020304" pitchFamily="18" charset="0"/>
                <a:ea typeface="DengXian" panose="02010600030101010101" pitchFamily="2" charset="-122"/>
                <a:cs typeface="SimSun" panose="02010600030101010101" pitchFamily="2" charset="-122"/>
              </a:rPr>
              <a:t>场景：训练</a:t>
            </a:r>
            <a:r>
              <a:rPr lang="en-FR" sz="1800" dirty="0">
                <a:effectLst/>
                <a:latin typeface="DengXian" panose="02010600030101010101" pitchFamily="2" charset="-122"/>
                <a:ea typeface="Times New Roman" panose="02020603050405020304" pitchFamily="18" charset="0"/>
                <a:cs typeface="SimSun" panose="02010600030101010101" pitchFamily="2" charset="-122"/>
              </a:rPr>
              <a:t> ECM </a:t>
            </a:r>
            <a:r>
              <a:rPr lang="zh-CN" sz="1800" dirty="0">
                <a:effectLst/>
                <a:latin typeface="DengXian" panose="02010600030101010101" pitchFamily="2" charset="-122"/>
                <a:ea typeface="Times New Roman" panose="02020603050405020304" pitchFamily="18" charset="0"/>
                <a:cs typeface="SimSun" panose="02010600030101010101" pitchFamily="2" charset="-122"/>
              </a:rPr>
              <a:t>机械臂自动调整角度，始终把手术视野中心对准目标。</a:t>
            </a:r>
            <a:endParaRPr lang="en-US" altLang="zh-CN" sz="1800" dirty="0">
              <a:effectLst/>
              <a:latin typeface="DengXian" panose="02010600030101010101" pitchFamily="2" charset="-122"/>
              <a:ea typeface="Times New Roman" panose="02020603050405020304" pitchFamily="18" charset="0"/>
              <a:cs typeface="SimSun" panose="02010600030101010101" pitchFamily="2" charset="-122"/>
            </a:endParaRPr>
          </a:p>
          <a:p>
            <a:pPr marL="0" lvl="0" indent="0">
              <a:lnSpc>
                <a:spcPct val="120000"/>
              </a:lnSpc>
              <a:buSzPts val="1000"/>
              <a:buNone/>
            </a:pPr>
            <a:r>
              <a:rPr lang="en-FR" sz="1800" dirty="0">
                <a:effectLst/>
                <a:latin typeface="DengXian" panose="02010600030101010101" pitchFamily="2" charset="-122"/>
                <a:ea typeface="Times New Roman" panose="02020603050405020304" pitchFamily="18" charset="0"/>
                <a:cs typeface="SimSun" panose="02010600030101010101" pitchFamily="2" charset="-122"/>
              </a:rPr>
              <a:t>1. </a:t>
            </a:r>
            <a:r>
              <a:rPr lang="zh-CN" sz="1800" dirty="0">
                <a:effectLst/>
                <a:latin typeface="DengXian" panose="02010600030101010101" pitchFamily="2" charset="-122"/>
                <a:ea typeface="Times New Roman" panose="02020603050405020304" pitchFamily="18" charset="0"/>
                <a:cs typeface="SimSun" panose="02010600030101010101" pitchFamily="2" charset="-122"/>
              </a:rPr>
              <a:t>任务性质</a:t>
            </a:r>
            <a:endParaRPr lang="en-FR" sz="1800" dirty="0">
              <a:effectLst/>
              <a:latin typeface="Times New Roman" panose="02020603050405020304" pitchFamily="18" charset="0"/>
              <a:ea typeface="Times New Roman" panose="02020603050405020304" pitchFamily="18" charset="0"/>
            </a:endParaRPr>
          </a:p>
          <a:p>
            <a:pPr marL="457200" lvl="1" indent="0">
              <a:lnSpc>
                <a:spcPct val="120000"/>
              </a:lnSpc>
              <a:buSzPts val="1000"/>
              <a:buNone/>
            </a:pPr>
            <a:r>
              <a:rPr lang="zh-CN" sz="1400" dirty="0">
                <a:effectLst/>
                <a:latin typeface="Times New Roman" panose="02020603050405020304" pitchFamily="18" charset="0"/>
                <a:ea typeface="DengXian" panose="02010600030101010101" pitchFamily="2" charset="-122"/>
                <a:cs typeface="SimSun" panose="02010600030101010101" pitchFamily="2" charset="-122"/>
              </a:rPr>
              <a:t>非标准</a:t>
            </a:r>
            <a:r>
              <a:rPr lang="en-FR" sz="1400" dirty="0">
                <a:effectLst/>
                <a:latin typeface="DengXian" panose="02010600030101010101" pitchFamily="2" charset="-122"/>
                <a:ea typeface="Times New Roman" panose="02020603050405020304" pitchFamily="18" charset="0"/>
                <a:cs typeface="SimSun" panose="02010600030101010101" pitchFamily="2" charset="-122"/>
              </a:rPr>
              <a:t> GoalEnv</a:t>
            </a:r>
            <a:r>
              <a:rPr lang="zh-CN" sz="1400" dirty="0">
                <a:effectLst/>
                <a:latin typeface="DengXian" panose="02010600030101010101" pitchFamily="2" charset="-122"/>
                <a:ea typeface="Times New Roman" panose="02020603050405020304" pitchFamily="18" charset="0"/>
                <a:cs typeface="SimSun" panose="02010600030101010101" pitchFamily="2" charset="-122"/>
              </a:rPr>
              <a:t>：因为目标（</a:t>
            </a:r>
            <a:r>
              <a:rPr lang="en-FR" sz="1400" dirty="0">
                <a:effectLst/>
                <a:latin typeface="DengXian" panose="02010600030101010101" pitchFamily="2" charset="-122"/>
                <a:ea typeface="Times New Roman" panose="02020603050405020304" pitchFamily="18" charset="0"/>
                <a:cs typeface="SimSun" panose="02010600030101010101" pitchFamily="2" charset="-122"/>
              </a:rPr>
              <a:t>Desired Goal</a:t>
            </a:r>
            <a:r>
              <a:rPr lang="zh-CN" sz="1400" dirty="0">
                <a:effectLst/>
                <a:latin typeface="DengXian" panose="02010600030101010101" pitchFamily="2" charset="-122"/>
                <a:ea typeface="Times New Roman" panose="02020603050405020304" pitchFamily="18" charset="0"/>
                <a:cs typeface="SimSun" panose="02010600030101010101" pitchFamily="2" charset="-122"/>
              </a:rPr>
              <a:t>）是动态变化的（方块在动），而不是静态的坐标点。</a:t>
            </a:r>
            <a:endParaRPr lang="en-FR" sz="1400" dirty="0">
              <a:effectLst/>
              <a:latin typeface="Times New Roman" panose="02020603050405020304" pitchFamily="18" charset="0"/>
              <a:ea typeface="Times New Roman" panose="02020603050405020304" pitchFamily="18" charset="0"/>
            </a:endParaRPr>
          </a:p>
          <a:p>
            <a:pPr marL="457200" lvl="1" indent="0">
              <a:lnSpc>
                <a:spcPct val="120000"/>
              </a:lnSpc>
              <a:buSzPts val="1000"/>
              <a:buNone/>
            </a:pPr>
            <a:r>
              <a:rPr lang="zh-CN" sz="1400" dirty="0">
                <a:effectLst/>
                <a:latin typeface="Times New Roman" panose="02020603050405020304" pitchFamily="18" charset="0"/>
                <a:ea typeface="DengXian" panose="02010600030101010101" pitchFamily="2" charset="-122"/>
                <a:cs typeface="SimSun" panose="02010600030101010101" pitchFamily="2" charset="-122"/>
              </a:rPr>
              <a:t>控制模式</a:t>
            </a:r>
            <a:r>
              <a:rPr lang="zh-CN" sz="1400" dirty="0">
                <a:effectLst/>
                <a:latin typeface="DengXian" panose="02010600030101010101" pitchFamily="2" charset="-122"/>
                <a:ea typeface="Times New Roman" panose="02020603050405020304" pitchFamily="18" charset="0"/>
                <a:cs typeface="SimSun" panose="02010600030101010101" pitchFamily="2" charset="-122"/>
              </a:rPr>
              <a:t>：使用</a:t>
            </a:r>
            <a:r>
              <a:rPr lang="en-FR" sz="1400" dirty="0">
                <a:effectLst/>
                <a:latin typeface="DengXian" panose="02010600030101010101" pitchFamily="2" charset="-122"/>
                <a:ea typeface="Times New Roman" panose="02020603050405020304" pitchFamily="18" charset="0"/>
                <a:cs typeface="SimSun" panose="02010600030101010101" pitchFamily="2" charset="-122"/>
              </a:rPr>
              <a:t> Camera Velocity Control</a:t>
            </a:r>
            <a:r>
              <a:rPr lang="zh-CN" sz="1400" dirty="0">
                <a:effectLst/>
                <a:latin typeface="DengXian" panose="02010600030101010101" pitchFamily="2" charset="-122"/>
                <a:ea typeface="Times New Roman" panose="02020603050405020304" pitchFamily="18" charset="0"/>
                <a:cs typeface="SimSun" panose="02010600030101010101" pitchFamily="2" charset="-122"/>
              </a:rPr>
              <a:t>（相机速度控制），即动作指令直接对应相机坐标系下的移动速度。</a:t>
            </a:r>
            <a:endParaRPr lang="en-FR" sz="1400" dirty="0">
              <a:effectLst/>
              <a:latin typeface="Times New Roman" panose="02020603050405020304" pitchFamily="18" charset="0"/>
              <a:ea typeface="Times New Roman" panose="02020603050405020304" pitchFamily="18" charset="0"/>
            </a:endParaRPr>
          </a:p>
          <a:p>
            <a:pPr marL="0" indent="0">
              <a:lnSpc>
                <a:spcPct val="120000"/>
              </a:lnSpc>
              <a:buNone/>
            </a:pPr>
            <a:r>
              <a:rPr lang="en-FR" sz="1800" dirty="0">
                <a:effectLst/>
                <a:latin typeface="DengXian" panose="02010600030101010101" pitchFamily="2" charset="-122"/>
                <a:ea typeface="Times New Roman" panose="02020603050405020304" pitchFamily="18" charset="0"/>
                <a:cs typeface="SimSun" panose="02010600030101010101" pitchFamily="2" charset="-122"/>
              </a:rPr>
              <a:t>2. </a:t>
            </a:r>
            <a:r>
              <a:rPr lang="zh-CN" sz="1800" dirty="0">
                <a:effectLst/>
                <a:latin typeface="DengXian" panose="02010600030101010101" pitchFamily="2" charset="-122"/>
                <a:ea typeface="Times New Roman" panose="02020603050405020304" pitchFamily="18" charset="0"/>
                <a:cs typeface="SimSun" panose="02010600030101010101" pitchFamily="2" charset="-122"/>
              </a:rPr>
              <a:t>环境构建</a:t>
            </a:r>
            <a:r>
              <a:rPr lang="en-FR" sz="1800" dirty="0">
                <a:effectLst/>
                <a:latin typeface="DengXian" panose="02010600030101010101" pitchFamily="2" charset="-122"/>
                <a:ea typeface="Times New Roman" panose="02020603050405020304" pitchFamily="18" charset="0"/>
                <a:cs typeface="SimSun" panose="02010600030101010101" pitchFamily="2" charset="-122"/>
              </a:rPr>
              <a:t> (</a:t>
            </a:r>
            <a:r>
              <a:rPr lang="en-FR" sz="1800" u="none" strike="noStrike" dirty="0">
                <a:effectLst/>
                <a:latin typeface="DengXian" panose="02010600030101010101" pitchFamily="2" charset="-122"/>
                <a:ea typeface="Times New Roman" panose="02020603050405020304" pitchFamily="18" charset="0"/>
                <a:cs typeface="SimSun" panose="02010600030101010101" pitchFamily="2" charset="-122"/>
                <a:hlinkClick r:id="rId2"/>
              </a:rPr>
              <a:t>_env_setup</a:t>
            </a:r>
            <a:r>
              <a:rPr lang="en-FR" sz="1800" dirty="0">
                <a:effectLst/>
                <a:latin typeface="DengXian" panose="02010600030101010101" pitchFamily="2" charset="-122"/>
                <a:ea typeface="Times New Roman" panose="02020603050405020304" pitchFamily="18" charset="0"/>
                <a:cs typeface="SimSun" panose="02010600030101010101" pitchFamily="2" charset="-122"/>
              </a:rPr>
              <a:t>)</a:t>
            </a:r>
            <a:endParaRPr lang="en-FR" sz="1800" dirty="0">
              <a:effectLst/>
              <a:latin typeface="Times New Roman" panose="02020603050405020304" pitchFamily="18" charset="0"/>
              <a:ea typeface="Times New Roman" panose="02020603050405020304" pitchFamily="18" charset="0"/>
            </a:endParaRPr>
          </a:p>
          <a:p>
            <a:pPr marL="457200" lvl="1" indent="0">
              <a:lnSpc>
                <a:spcPct val="120000"/>
              </a:lnSpc>
              <a:buSzPts val="1000"/>
              <a:buNone/>
            </a:pPr>
            <a:r>
              <a:rPr lang="zh-CN" sz="1400" dirty="0">
                <a:effectLst/>
                <a:latin typeface="Times New Roman" panose="02020603050405020304" pitchFamily="18" charset="0"/>
                <a:ea typeface="DengXian" panose="02010600030101010101" pitchFamily="2" charset="-122"/>
                <a:cs typeface="SimSun" panose="02010600030101010101" pitchFamily="2" charset="-122"/>
              </a:rPr>
              <a:t>动态目标：生成一个目标方块（</a:t>
            </a:r>
            <a:r>
              <a:rPr lang="en-FR" sz="1400" dirty="0">
                <a:effectLst/>
                <a:latin typeface="DengXian" panose="02010600030101010101" pitchFamily="2" charset="-122"/>
                <a:ea typeface="Times New Roman" panose="02020603050405020304" pitchFamily="18" charset="0"/>
                <a:cs typeface="SimSun" panose="02010600030101010101" pitchFamily="2" charset="-122"/>
              </a:rPr>
              <a:t>Target Cube</a:t>
            </a:r>
            <a:r>
              <a:rPr lang="zh-CN" sz="1400" dirty="0">
                <a:effectLst/>
                <a:latin typeface="DengXian" panose="02010600030101010101" pitchFamily="2" charset="-122"/>
                <a:ea typeface="Times New Roman" panose="02020603050405020304" pitchFamily="18" charset="0"/>
                <a:cs typeface="SimSun" panose="02010600030101010101" pitchFamily="2" charset="-122"/>
              </a:rPr>
              <a:t>），并通过</a:t>
            </a:r>
            <a:r>
              <a:rPr lang="en-FR" sz="1400" dirty="0">
                <a:effectLst/>
                <a:latin typeface="DengXian" panose="02010600030101010101" pitchFamily="2" charset="-122"/>
                <a:ea typeface="Times New Roman" panose="02020603050405020304" pitchFamily="18" charset="0"/>
                <a:cs typeface="SimSun" panose="02010600030101010101" pitchFamily="2" charset="-122"/>
              </a:rPr>
              <a:t> </a:t>
            </a:r>
            <a:r>
              <a:rPr lang="en-FR" sz="1400" u="none" strike="noStrike" dirty="0">
                <a:effectLst/>
                <a:latin typeface="DengXian" panose="02010600030101010101" pitchFamily="2" charset="-122"/>
                <a:ea typeface="Times New Roman" panose="02020603050405020304" pitchFamily="18" charset="0"/>
                <a:cs typeface="SimSun" panose="02010600030101010101" pitchFamily="2" charset="-122"/>
                <a:hlinkClick r:id="rId2"/>
              </a:rPr>
              <a:t>p.createConstraint</a:t>
            </a:r>
            <a:r>
              <a:rPr lang="zh-CN" sz="1400" dirty="0">
                <a:effectLst/>
                <a:latin typeface="Times New Roman" panose="02020603050405020304" pitchFamily="18" charset="0"/>
                <a:ea typeface="DengXian" panose="02010600030101010101" pitchFamily="2" charset="-122"/>
                <a:cs typeface="SimSun" panose="02010600030101010101" pitchFamily="2" charset="-122"/>
              </a:rPr>
              <a:t>（物理约束）将其绑定在一个</a:t>
            </a:r>
            <a:r>
              <a:rPr lang="en-FR" sz="1400" dirty="0">
                <a:effectLst/>
                <a:latin typeface="DengXian" panose="02010600030101010101" pitchFamily="2" charset="-122"/>
                <a:ea typeface="Times New Roman" panose="02020603050405020304" pitchFamily="18" charset="0"/>
                <a:cs typeface="SimSun" panose="02010600030101010101" pitchFamily="2" charset="-122"/>
              </a:rPr>
              <a:t> </a:t>
            </a:r>
            <a:r>
              <a:rPr lang="en-FR" sz="1400" u="none" strike="noStrike" dirty="0">
                <a:effectLst/>
                <a:latin typeface="DengXian" panose="02010600030101010101" pitchFamily="2" charset="-122"/>
                <a:ea typeface="Times New Roman" panose="02020603050405020304" pitchFamily="18" charset="0"/>
                <a:cs typeface="SimSun" panose="02010600030101010101" pitchFamily="2" charset="-122"/>
                <a:hlinkClick r:id="rId2"/>
              </a:rPr>
              <a:t>Trajectory</a:t>
            </a:r>
            <a:r>
              <a:rPr lang="zh-CN" sz="1400" dirty="0">
                <a:effectLst/>
                <a:latin typeface="Times New Roman" panose="02020603050405020304" pitchFamily="18" charset="0"/>
                <a:ea typeface="DengXian" panose="02010600030101010101" pitchFamily="2" charset="-122"/>
                <a:cs typeface="SimSun" panose="02010600030101010101" pitchFamily="2" charset="-122"/>
              </a:rPr>
              <a:t>（轨迹生成器）上。</a:t>
            </a:r>
            <a:endParaRPr lang="en-FR" sz="1400" dirty="0">
              <a:effectLst/>
              <a:latin typeface="Times New Roman" panose="02020603050405020304" pitchFamily="18" charset="0"/>
              <a:ea typeface="Times New Roman" panose="02020603050405020304" pitchFamily="18" charset="0"/>
            </a:endParaRPr>
          </a:p>
          <a:p>
            <a:pPr marL="457200" lvl="1" indent="0">
              <a:lnSpc>
                <a:spcPct val="120000"/>
              </a:lnSpc>
              <a:buSzPts val="1000"/>
              <a:buNone/>
            </a:pPr>
            <a:r>
              <a:rPr lang="zh-CN" sz="1400" dirty="0">
                <a:effectLst/>
                <a:latin typeface="Times New Roman" panose="02020603050405020304" pitchFamily="18" charset="0"/>
                <a:ea typeface="DengXian" panose="02010600030101010101" pitchFamily="2" charset="-122"/>
                <a:cs typeface="SimSun" panose="02010600030101010101" pitchFamily="2" charset="-122"/>
              </a:rPr>
              <a:t>干扰物：另外生成了</a:t>
            </a:r>
            <a:r>
              <a:rPr lang="en-FR" sz="1400" dirty="0">
                <a:effectLst/>
                <a:latin typeface="DengXian" panose="02010600030101010101" pitchFamily="2" charset="-122"/>
                <a:ea typeface="Times New Roman" panose="02020603050405020304" pitchFamily="18" charset="0"/>
                <a:cs typeface="SimSun" panose="02010600030101010101" pitchFamily="2" charset="-122"/>
              </a:rPr>
              <a:t> 18 </a:t>
            </a:r>
            <a:r>
              <a:rPr lang="zh-CN" sz="1400" dirty="0">
                <a:effectLst/>
                <a:latin typeface="DengXian" panose="02010600030101010101" pitchFamily="2" charset="-122"/>
                <a:ea typeface="Times New Roman" panose="02020603050405020304" pitchFamily="18" charset="0"/>
                <a:cs typeface="SimSun" panose="02010600030101010101" pitchFamily="2" charset="-122"/>
              </a:rPr>
              <a:t>个不同颜色的方块作为背景干扰，增加视觉追踪的难度。</a:t>
            </a:r>
            <a:endParaRPr lang="en-FR" sz="1400" dirty="0">
              <a:effectLst/>
              <a:latin typeface="Times New Roman" panose="02020603050405020304" pitchFamily="18" charset="0"/>
              <a:ea typeface="Times New Roman" panose="02020603050405020304" pitchFamily="18" charset="0"/>
            </a:endParaRPr>
          </a:p>
          <a:p>
            <a:pPr marL="457200" lvl="1" indent="0">
              <a:lnSpc>
                <a:spcPct val="120000"/>
              </a:lnSpc>
              <a:buSzPts val="1000"/>
              <a:buNone/>
            </a:pPr>
            <a:r>
              <a:rPr lang="zh-CN" sz="1400" dirty="0">
                <a:effectLst/>
                <a:latin typeface="Times New Roman" panose="02020603050405020304" pitchFamily="18" charset="0"/>
                <a:ea typeface="DengXian" panose="02010600030101010101" pitchFamily="2" charset="-122"/>
                <a:cs typeface="SimSun" panose="02010600030101010101" pitchFamily="2" charset="-122"/>
              </a:rPr>
              <a:t>轨迹更新：在</a:t>
            </a:r>
            <a:r>
              <a:rPr lang="en-FR" sz="1400" dirty="0">
                <a:effectLst/>
                <a:latin typeface="DengXian" panose="02010600030101010101" pitchFamily="2" charset="-122"/>
                <a:ea typeface="Times New Roman" panose="02020603050405020304" pitchFamily="18" charset="0"/>
                <a:cs typeface="SimSun" panose="02010600030101010101" pitchFamily="2" charset="-122"/>
              </a:rPr>
              <a:t> </a:t>
            </a:r>
            <a:r>
              <a:rPr lang="en-FR" sz="1400" u="none" strike="noStrike" dirty="0">
                <a:effectLst/>
                <a:latin typeface="DengXian" panose="02010600030101010101" pitchFamily="2" charset="-122"/>
                <a:ea typeface="Times New Roman" panose="02020603050405020304" pitchFamily="18" charset="0"/>
                <a:cs typeface="SimSun" panose="02010600030101010101" pitchFamily="2" charset="-122"/>
                <a:hlinkClick r:id="rId2"/>
              </a:rPr>
              <a:t>_step_callback</a:t>
            </a:r>
            <a:r>
              <a:rPr lang="en-FR" sz="1400" dirty="0">
                <a:effectLst/>
                <a:latin typeface="DengXian" panose="02010600030101010101" pitchFamily="2" charset="-122"/>
                <a:ea typeface="Times New Roman" panose="02020603050405020304" pitchFamily="18" charset="0"/>
                <a:cs typeface="SimSun" panose="02010600030101010101" pitchFamily="2" charset="-122"/>
              </a:rPr>
              <a:t> </a:t>
            </a:r>
            <a:r>
              <a:rPr lang="zh-CN" sz="1400" dirty="0">
                <a:effectLst/>
                <a:latin typeface="DengXian" panose="02010600030101010101" pitchFamily="2" charset="-122"/>
                <a:ea typeface="Times New Roman" panose="02020603050405020304" pitchFamily="18" charset="0"/>
                <a:cs typeface="SimSun" panose="02010600030101010101" pitchFamily="2" charset="-122"/>
              </a:rPr>
              <a:t>中，每一步都会更新约束的位置，使方块像被</a:t>
            </a:r>
            <a:r>
              <a:rPr lang="en-FR" sz="1400" dirty="0">
                <a:effectLst/>
                <a:latin typeface="DengXian" panose="02010600030101010101" pitchFamily="2" charset="-122"/>
                <a:ea typeface="Times New Roman" panose="02020603050405020304" pitchFamily="18" charset="0"/>
                <a:cs typeface="SimSun" panose="02010600030101010101" pitchFamily="2" charset="-122"/>
              </a:rPr>
              <a:t>“</a:t>
            </a:r>
            <a:r>
              <a:rPr lang="zh-CN" sz="1400" dirty="0">
                <a:effectLst/>
                <a:latin typeface="DengXian" panose="02010600030101010101" pitchFamily="2" charset="-122"/>
                <a:ea typeface="Times New Roman" panose="02020603050405020304" pitchFamily="18" charset="0"/>
                <a:cs typeface="SimSun" panose="02010600030101010101" pitchFamily="2" charset="-122"/>
              </a:rPr>
              <a:t>牵引</a:t>
            </a:r>
            <a:r>
              <a:rPr lang="en-FR" sz="1400" dirty="0">
                <a:effectLst/>
                <a:latin typeface="DengXian" panose="02010600030101010101" pitchFamily="2" charset="-122"/>
                <a:ea typeface="Times New Roman" panose="02020603050405020304" pitchFamily="18" charset="0"/>
                <a:cs typeface="SimSun" panose="02010600030101010101" pitchFamily="2" charset="-122"/>
              </a:rPr>
              <a:t>”</a:t>
            </a:r>
            <a:r>
              <a:rPr lang="zh-CN" sz="1400" dirty="0">
                <a:effectLst/>
                <a:latin typeface="DengXian" panose="02010600030101010101" pitchFamily="2" charset="-122"/>
                <a:ea typeface="Times New Roman" panose="02020603050405020304" pitchFamily="18" charset="0"/>
                <a:cs typeface="SimSun" panose="02010600030101010101" pitchFamily="2" charset="-122"/>
              </a:rPr>
              <a:t>一样沿轨迹移动。</a:t>
            </a:r>
            <a:endParaRPr lang="en-FR" sz="1400" dirty="0">
              <a:effectLst/>
              <a:latin typeface="Times New Roman" panose="02020603050405020304" pitchFamily="18" charset="0"/>
              <a:ea typeface="Times New Roman" panose="02020603050405020304" pitchFamily="18" charset="0"/>
            </a:endParaRPr>
          </a:p>
          <a:p>
            <a:pPr marL="0" indent="0">
              <a:lnSpc>
                <a:spcPct val="120000"/>
              </a:lnSpc>
              <a:buNone/>
            </a:pPr>
            <a:r>
              <a:rPr lang="en-FR" sz="1800" dirty="0">
                <a:effectLst/>
                <a:latin typeface="DengXian" panose="02010600030101010101" pitchFamily="2" charset="-122"/>
                <a:ea typeface="Times New Roman" panose="02020603050405020304" pitchFamily="18" charset="0"/>
                <a:cs typeface="SimSun" panose="02010600030101010101" pitchFamily="2" charset="-122"/>
              </a:rPr>
              <a:t>3. </a:t>
            </a:r>
            <a:r>
              <a:rPr lang="zh-CN" sz="1800" dirty="0">
                <a:effectLst/>
                <a:latin typeface="DengXian" panose="02010600030101010101" pitchFamily="2" charset="-122"/>
                <a:ea typeface="Times New Roman" panose="02020603050405020304" pitchFamily="18" charset="0"/>
                <a:cs typeface="SimSun" panose="02010600030101010101" pitchFamily="2" charset="-122"/>
              </a:rPr>
              <a:t>视觉观测</a:t>
            </a:r>
            <a:r>
              <a:rPr lang="en-FR" sz="1800" dirty="0">
                <a:effectLst/>
                <a:latin typeface="DengXian" panose="02010600030101010101" pitchFamily="2" charset="-122"/>
                <a:ea typeface="Times New Roman" panose="02020603050405020304" pitchFamily="18" charset="0"/>
                <a:cs typeface="SimSun" panose="02010600030101010101" pitchFamily="2" charset="-122"/>
              </a:rPr>
              <a:t> (</a:t>
            </a:r>
            <a:r>
              <a:rPr lang="en-FR" sz="1800" u="none" strike="noStrike" dirty="0">
                <a:effectLst/>
                <a:latin typeface="DengXian" panose="02010600030101010101" pitchFamily="2" charset="-122"/>
                <a:ea typeface="Times New Roman" panose="02020603050405020304" pitchFamily="18" charset="0"/>
                <a:cs typeface="SimSun" panose="02010600030101010101" pitchFamily="2" charset="-122"/>
                <a:hlinkClick r:id="rId2"/>
              </a:rPr>
              <a:t>_get_obs</a:t>
            </a:r>
            <a:r>
              <a:rPr lang="en-FR" sz="1800" dirty="0">
                <a:effectLst/>
                <a:latin typeface="DengXian" panose="02010600030101010101" pitchFamily="2" charset="-122"/>
                <a:ea typeface="Times New Roman" panose="02020603050405020304" pitchFamily="18" charset="0"/>
                <a:cs typeface="SimSun" panose="02010600030101010101" pitchFamily="2" charset="-122"/>
              </a:rPr>
              <a:t>)</a:t>
            </a:r>
            <a:endParaRPr lang="en-FR" sz="1800" dirty="0">
              <a:effectLst/>
              <a:latin typeface="Times New Roman" panose="02020603050405020304" pitchFamily="18" charset="0"/>
              <a:ea typeface="Times New Roman" panose="02020603050405020304" pitchFamily="18" charset="0"/>
            </a:endParaRPr>
          </a:p>
          <a:p>
            <a:pPr marL="457200" lvl="1" indent="0">
              <a:lnSpc>
                <a:spcPct val="120000"/>
              </a:lnSpc>
              <a:buSzPts val="1000"/>
              <a:buNone/>
            </a:pPr>
            <a:r>
              <a:rPr lang="zh-CN" sz="1400" dirty="0">
                <a:effectLst/>
                <a:latin typeface="Times New Roman" panose="02020603050405020304" pitchFamily="18" charset="0"/>
                <a:ea typeface="DengXian" panose="02010600030101010101" pitchFamily="2" charset="-122"/>
                <a:cs typeface="SimSun" panose="02010600030101010101" pitchFamily="2" charset="-122"/>
              </a:rPr>
              <a:t>掩码处理：调用</a:t>
            </a:r>
            <a:r>
              <a:rPr lang="en-FR" sz="1400" dirty="0">
                <a:effectLst/>
                <a:latin typeface="DengXian" panose="02010600030101010101" pitchFamily="2" charset="-122"/>
                <a:ea typeface="Times New Roman" panose="02020603050405020304" pitchFamily="18" charset="0"/>
                <a:cs typeface="SimSun" panose="02010600030101010101" pitchFamily="2" charset="-122"/>
              </a:rPr>
              <a:t> </a:t>
            </a:r>
            <a:r>
              <a:rPr lang="en-FR" sz="1400" u="none" strike="noStrike" dirty="0">
                <a:effectLst/>
                <a:latin typeface="DengXian" panose="02010600030101010101" pitchFamily="2" charset="-122"/>
                <a:ea typeface="Times New Roman" panose="02020603050405020304" pitchFamily="18" charset="0"/>
                <a:cs typeface="SimSun" panose="02010600030101010101" pitchFamily="2" charset="-122"/>
                <a:hlinkClick r:id="rId2"/>
              </a:rPr>
              <a:t>self.ecm.render_image()</a:t>
            </a:r>
            <a:r>
              <a:rPr lang="en-FR" sz="1400" dirty="0">
                <a:effectLst/>
                <a:latin typeface="DengXian" panose="02010600030101010101" pitchFamily="2" charset="-122"/>
                <a:ea typeface="Times New Roman" panose="02020603050405020304" pitchFamily="18" charset="0"/>
                <a:cs typeface="SimSun" panose="02010600030101010101" pitchFamily="2" charset="-122"/>
              </a:rPr>
              <a:t> </a:t>
            </a:r>
            <a:r>
              <a:rPr lang="zh-CN" sz="1400" dirty="0">
                <a:effectLst/>
                <a:latin typeface="DengXian" panose="02010600030101010101" pitchFamily="2" charset="-122"/>
                <a:ea typeface="Times New Roman" panose="02020603050405020304" pitchFamily="18" charset="0"/>
                <a:cs typeface="SimSun" panose="02010600030101010101" pitchFamily="2" charset="-122"/>
              </a:rPr>
              <a:t>获取分割掩码。</a:t>
            </a:r>
            <a:endParaRPr lang="en-FR" sz="1400" dirty="0">
              <a:effectLst/>
              <a:latin typeface="Times New Roman" panose="02020603050405020304" pitchFamily="18" charset="0"/>
              <a:ea typeface="Times New Roman" panose="02020603050405020304" pitchFamily="18" charset="0"/>
            </a:endParaRPr>
          </a:p>
          <a:p>
            <a:pPr marL="457200" lvl="1" indent="0">
              <a:lnSpc>
                <a:spcPct val="120000"/>
              </a:lnSpc>
              <a:buSzPts val="1000"/>
              <a:buNone/>
            </a:pPr>
            <a:r>
              <a:rPr lang="zh-CN" sz="1400" dirty="0">
                <a:effectLst/>
                <a:latin typeface="Times New Roman" panose="02020603050405020304" pitchFamily="18" charset="0"/>
                <a:ea typeface="DengXian" panose="02010600030101010101" pitchFamily="2" charset="-122"/>
                <a:cs typeface="SimSun" panose="02010600030101010101" pitchFamily="2" charset="-122"/>
              </a:rPr>
              <a:t>质心提取：通过</a:t>
            </a:r>
            <a:r>
              <a:rPr lang="en-FR" sz="1400" dirty="0">
                <a:effectLst/>
                <a:latin typeface="DengXian" panose="02010600030101010101" pitchFamily="2" charset="-122"/>
                <a:ea typeface="Times New Roman" panose="02020603050405020304" pitchFamily="18" charset="0"/>
                <a:cs typeface="SimSun" panose="02010600030101010101" pitchFamily="2" charset="-122"/>
              </a:rPr>
              <a:t> </a:t>
            </a:r>
            <a:r>
              <a:rPr lang="en-FR" sz="1400" u="none" strike="noStrike" dirty="0">
                <a:effectLst/>
                <a:latin typeface="DengXian" panose="02010600030101010101" pitchFamily="2" charset="-122"/>
                <a:ea typeface="Times New Roman" panose="02020603050405020304" pitchFamily="18" charset="0"/>
                <a:cs typeface="SimSun" panose="02010600030101010101" pitchFamily="2" charset="-122"/>
                <a:hlinkClick r:id="rId2"/>
              </a:rPr>
              <a:t>get_centroid</a:t>
            </a:r>
            <a:r>
              <a:rPr lang="en-FR" sz="1400" dirty="0">
                <a:effectLst/>
                <a:latin typeface="DengXian" panose="02010600030101010101" pitchFamily="2" charset="-122"/>
                <a:ea typeface="Times New Roman" panose="02020603050405020304" pitchFamily="18" charset="0"/>
                <a:cs typeface="SimSun" panose="02010600030101010101" pitchFamily="2" charset="-122"/>
              </a:rPr>
              <a:t> </a:t>
            </a:r>
            <a:r>
              <a:rPr lang="zh-CN" sz="1400" dirty="0">
                <a:effectLst/>
                <a:latin typeface="DengXian" panose="02010600030101010101" pitchFamily="2" charset="-122"/>
                <a:ea typeface="Times New Roman" panose="02020603050405020304" pitchFamily="18" charset="0"/>
                <a:cs typeface="SimSun" panose="02010600030101010101" pitchFamily="2" charset="-122"/>
              </a:rPr>
              <a:t>找到目标方块在图像中的</a:t>
            </a:r>
            <a:r>
              <a:rPr lang="en-FR" sz="1400" dirty="0">
                <a:effectLst/>
                <a:latin typeface="DengXian" panose="02010600030101010101" pitchFamily="2" charset="-122"/>
                <a:ea typeface="Times New Roman" panose="02020603050405020304" pitchFamily="18" charset="0"/>
                <a:cs typeface="SimSun" panose="02010600030101010101" pitchFamily="2" charset="-122"/>
              </a:rPr>
              <a:t> 2D </a:t>
            </a:r>
            <a:r>
              <a:rPr lang="zh-CN" sz="1400" dirty="0">
                <a:effectLst/>
                <a:latin typeface="DengXian" panose="02010600030101010101" pitchFamily="2" charset="-122"/>
                <a:ea typeface="Times New Roman" panose="02020603050405020304" pitchFamily="18" charset="0"/>
                <a:cs typeface="SimSun" panose="02010600030101010101" pitchFamily="2" charset="-122"/>
              </a:rPr>
              <a:t>像素质心坐标。</a:t>
            </a:r>
            <a:endParaRPr lang="en-FR" sz="1400" dirty="0">
              <a:effectLst/>
              <a:latin typeface="Times New Roman" panose="02020603050405020304" pitchFamily="18" charset="0"/>
              <a:ea typeface="Times New Roman" panose="02020603050405020304" pitchFamily="18" charset="0"/>
            </a:endParaRPr>
          </a:p>
          <a:p>
            <a:pPr marL="457200" lvl="1" indent="0">
              <a:lnSpc>
                <a:spcPct val="120000"/>
              </a:lnSpc>
              <a:buSzPts val="1000"/>
              <a:buNone/>
            </a:pPr>
            <a:r>
              <a:rPr lang="zh-CN" sz="1400" dirty="0">
                <a:effectLst/>
                <a:latin typeface="Times New Roman" panose="02020603050405020304" pitchFamily="18" charset="0"/>
                <a:ea typeface="DengXian" panose="02010600030101010101" pitchFamily="2" charset="-122"/>
                <a:cs typeface="SimSun" panose="02010600030101010101" pitchFamily="2" charset="-122"/>
              </a:rPr>
              <a:t>防丢机制：如果方块跳出了视野（</a:t>
            </a:r>
            <a:r>
              <a:rPr lang="en-FR" sz="1400" u="none" strike="noStrike" dirty="0">
                <a:effectLst/>
                <a:latin typeface="DengXian" panose="02010600030101010101" pitchFamily="2" charset="-122"/>
                <a:ea typeface="Times New Roman" panose="02020603050405020304" pitchFamily="18" charset="0"/>
                <a:cs typeface="SimSun" panose="02010600030101010101" pitchFamily="2" charset="-122"/>
                <a:hlinkClick r:id="rId2"/>
              </a:rPr>
              <a:t>not in_view</a:t>
            </a:r>
            <a:r>
              <a:rPr lang="zh-CN" sz="1400" dirty="0">
                <a:effectLst/>
                <a:latin typeface="Times New Roman" panose="02020603050405020304" pitchFamily="18" charset="0"/>
                <a:ea typeface="DengXian" panose="02010600030101010101" pitchFamily="2" charset="-122"/>
                <a:cs typeface="SimSun" panose="02010600030101010101" pitchFamily="2" charset="-122"/>
              </a:rPr>
              <a:t>），代码会通过</a:t>
            </a:r>
            <a:r>
              <a:rPr lang="en-FR" sz="1400" dirty="0">
                <a:effectLst/>
                <a:latin typeface="DengXian" panose="02010600030101010101" pitchFamily="2" charset="-122"/>
                <a:ea typeface="Times New Roman" panose="02020603050405020304" pitchFamily="18" charset="0"/>
                <a:cs typeface="SimSun" panose="02010600030101010101" pitchFamily="2" charset="-122"/>
              </a:rPr>
              <a:t> 3D </a:t>
            </a:r>
            <a:r>
              <a:rPr lang="zh-CN" sz="1400" dirty="0">
                <a:effectLst/>
                <a:latin typeface="DengXian" panose="02010600030101010101" pitchFamily="2" charset="-122"/>
                <a:ea typeface="Times New Roman" panose="02020603050405020304" pitchFamily="18" charset="0"/>
                <a:cs typeface="SimSun" panose="02010600030101010101" pitchFamily="2" charset="-122"/>
              </a:rPr>
              <a:t>到</a:t>
            </a:r>
            <a:r>
              <a:rPr lang="en-FR" sz="1400" dirty="0">
                <a:effectLst/>
                <a:latin typeface="DengXian" panose="02010600030101010101" pitchFamily="2" charset="-122"/>
                <a:ea typeface="Times New Roman" panose="02020603050405020304" pitchFamily="18" charset="0"/>
                <a:cs typeface="SimSun" panose="02010600030101010101" pitchFamily="2" charset="-122"/>
              </a:rPr>
              <a:t> 2D </a:t>
            </a:r>
            <a:r>
              <a:rPr lang="zh-CN" sz="1400" dirty="0">
                <a:effectLst/>
                <a:latin typeface="DengXian" panose="02010600030101010101" pitchFamily="2" charset="-122"/>
                <a:ea typeface="Times New Roman" panose="02020603050405020304" pitchFamily="18" charset="0"/>
                <a:cs typeface="SimSun" panose="02010600030101010101" pitchFamily="2" charset="-122"/>
              </a:rPr>
              <a:t>的投影</a:t>
            </a:r>
            <a:r>
              <a:rPr lang="en-FR" sz="1400" dirty="0">
                <a:effectLst/>
                <a:latin typeface="DengXian" panose="02010600030101010101" pitchFamily="2" charset="-122"/>
                <a:ea typeface="Times New Roman" panose="02020603050405020304" pitchFamily="18" charset="0"/>
                <a:cs typeface="SimSun" panose="02010600030101010101" pitchFamily="2" charset="-122"/>
              </a:rPr>
              <a:t>“</a:t>
            </a:r>
            <a:r>
              <a:rPr lang="zh-CN" sz="1400" dirty="0">
                <a:effectLst/>
                <a:latin typeface="DengXian" panose="02010600030101010101" pitchFamily="2" charset="-122"/>
                <a:ea typeface="Times New Roman" panose="02020603050405020304" pitchFamily="18" charset="0"/>
                <a:cs typeface="SimSun" panose="02010600030101010101" pitchFamily="2" charset="-122"/>
              </a:rPr>
              <a:t>作弊</a:t>
            </a:r>
            <a:r>
              <a:rPr lang="en-FR" sz="1400" dirty="0">
                <a:effectLst/>
                <a:latin typeface="DengXian" panose="02010600030101010101" pitchFamily="2" charset="-122"/>
                <a:ea typeface="Times New Roman" panose="02020603050405020304" pitchFamily="18" charset="0"/>
                <a:cs typeface="SimSun" panose="02010600030101010101" pitchFamily="2" charset="-122"/>
              </a:rPr>
              <a:t>”</a:t>
            </a:r>
            <a:r>
              <a:rPr lang="zh-CN" sz="1400" dirty="0">
                <a:effectLst/>
                <a:latin typeface="DengXian" panose="02010600030101010101" pitchFamily="2" charset="-122"/>
                <a:ea typeface="Times New Roman" panose="02020603050405020304" pitchFamily="18" charset="0"/>
                <a:cs typeface="SimSun" panose="02010600030101010101" pitchFamily="2" charset="-122"/>
              </a:rPr>
              <a:t>计算出它在视野外的位置，引导镜头找回目标。</a:t>
            </a:r>
            <a:endParaRPr lang="en-FR" sz="1400" dirty="0">
              <a:effectLst/>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2494923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F97C41-0ABB-E3B2-B4C6-7A4E56FF5D8D}"/>
              </a:ext>
            </a:extLst>
          </p:cNvPr>
          <p:cNvSpPr>
            <a:spLocks noGrp="1"/>
          </p:cNvSpPr>
          <p:nvPr>
            <p:ph idx="1"/>
          </p:nvPr>
        </p:nvSpPr>
        <p:spPr>
          <a:xfrm>
            <a:off x="838200" y="553792"/>
            <a:ext cx="10515600" cy="5623171"/>
          </a:xfrm>
        </p:spPr>
        <p:txBody>
          <a:bodyPr>
            <a:normAutofit fontScale="92500" lnSpcReduction="10000"/>
          </a:bodyPr>
          <a:lstStyle/>
          <a:p>
            <a:pPr marL="228600">
              <a:lnSpc>
                <a:spcPct val="100000"/>
              </a:lnSpc>
            </a:pPr>
            <a:r>
              <a:rPr lang="en-FR" sz="2000" dirty="0">
                <a:effectLst/>
                <a:latin typeface="DengXian" panose="02010600030101010101" pitchFamily="2" charset="-122"/>
                <a:ea typeface="Times New Roman" panose="02020603050405020304" pitchFamily="18" charset="0"/>
                <a:cs typeface="SimSun" panose="02010600030101010101" pitchFamily="2" charset="-122"/>
              </a:rPr>
              <a:t>4. </a:t>
            </a:r>
            <a:r>
              <a:rPr lang="zh-CN" sz="2000" dirty="0">
                <a:effectLst/>
                <a:latin typeface="DengXian" panose="02010600030101010101" pitchFamily="2" charset="-122"/>
                <a:ea typeface="Times New Roman" panose="02020603050405020304" pitchFamily="18" charset="0"/>
                <a:cs typeface="SimSun" panose="02010600030101010101" pitchFamily="2" charset="-122"/>
              </a:rPr>
              <a:t>奖励函数</a:t>
            </a:r>
            <a:r>
              <a:rPr lang="en-FR" sz="2000" dirty="0">
                <a:effectLst/>
                <a:latin typeface="DengXian" panose="02010600030101010101" pitchFamily="2" charset="-122"/>
                <a:ea typeface="Times New Roman" panose="02020603050405020304" pitchFamily="18" charset="0"/>
                <a:cs typeface="SimSun" panose="02010600030101010101" pitchFamily="2" charset="-122"/>
              </a:rPr>
              <a:t> (</a:t>
            </a:r>
            <a:r>
              <a:rPr lang="en-FR" sz="2000" u="none" strike="noStrike" dirty="0">
                <a:effectLst/>
                <a:latin typeface="DengXian" panose="02010600030101010101" pitchFamily="2" charset="-122"/>
                <a:ea typeface="Times New Roman" panose="02020603050405020304" pitchFamily="18" charset="0"/>
                <a:cs typeface="SimSun" panose="02010600030101010101" pitchFamily="2" charset="-122"/>
                <a:hlinkClick r:id="rId2"/>
              </a:rPr>
              <a:t>compute_reward</a:t>
            </a:r>
            <a:r>
              <a:rPr lang="en-FR" sz="2000" dirty="0">
                <a:effectLst/>
                <a:latin typeface="DengXian" panose="02010600030101010101" pitchFamily="2" charset="-122"/>
                <a:ea typeface="Times New Roman" panose="02020603050405020304" pitchFamily="18" charset="0"/>
                <a:cs typeface="SimSun" panose="02010600030101010101" pitchFamily="2" charset="-122"/>
              </a:rPr>
              <a:t>)</a:t>
            </a:r>
            <a:endParaRPr lang="en-FR" sz="3200" dirty="0">
              <a:effectLst/>
              <a:latin typeface="Times New Roman" panose="02020603050405020304" pitchFamily="18" charset="0"/>
              <a:ea typeface="Times New Roman" panose="02020603050405020304" pitchFamily="18" charset="0"/>
            </a:endParaRPr>
          </a:p>
          <a:p>
            <a:pPr marL="342900" lvl="0" indent="-342900">
              <a:lnSpc>
                <a:spcPct val="100000"/>
              </a:lnSpc>
              <a:buSzPts val="1000"/>
              <a:buFont typeface="Wingdings" pitchFamily="2" charset="2"/>
              <a:buChar char=""/>
            </a:pPr>
            <a:r>
              <a:rPr lang="zh-CN" sz="2000" dirty="0">
                <a:effectLst/>
                <a:latin typeface="Times New Roman" panose="02020603050405020304" pitchFamily="18" charset="0"/>
                <a:ea typeface="DengXian" panose="02010600030101010101" pitchFamily="2" charset="-122"/>
                <a:cs typeface="SimSun" panose="02010600030101010101" pitchFamily="2" charset="-122"/>
              </a:rPr>
              <a:t>密集奖励</a:t>
            </a:r>
            <a:r>
              <a:rPr lang="en-FR" sz="2000" dirty="0">
                <a:effectLst/>
                <a:latin typeface="DengXian" panose="02010600030101010101" pitchFamily="2" charset="-122"/>
                <a:ea typeface="Times New Roman" panose="02020603050405020304" pitchFamily="18" charset="0"/>
                <a:cs typeface="SimSun" panose="02010600030101010101" pitchFamily="2" charset="-122"/>
              </a:rPr>
              <a:t> (Dense Reward)</a:t>
            </a:r>
            <a:r>
              <a:rPr lang="zh-CN" sz="2000" dirty="0">
                <a:effectLst/>
                <a:latin typeface="DengXian" panose="02010600030101010101" pitchFamily="2" charset="-122"/>
                <a:ea typeface="Times New Roman" panose="02020603050405020304" pitchFamily="18" charset="0"/>
                <a:cs typeface="SimSun" panose="02010600030101010101" pitchFamily="2" charset="-122"/>
              </a:rPr>
              <a:t>：</a:t>
            </a:r>
            <a:endParaRPr lang="en-FR" sz="3200" dirty="0">
              <a:effectLst/>
              <a:latin typeface="Times New Roman" panose="02020603050405020304" pitchFamily="18" charset="0"/>
              <a:ea typeface="Times New Roman" panose="02020603050405020304" pitchFamily="18" charset="0"/>
            </a:endParaRPr>
          </a:p>
          <a:p>
            <a:pPr marL="742950" lvl="1" indent="-285750">
              <a:lnSpc>
                <a:spcPct val="100000"/>
              </a:lnSpc>
              <a:buSzPts val="1000"/>
              <a:buFont typeface="Courier New" panose="02070309020205020404" pitchFamily="49" charset="0"/>
              <a:buChar char="o"/>
              <a:tabLst>
                <a:tab pos="914400" algn="l"/>
              </a:tabLst>
            </a:pPr>
            <a:r>
              <a:rPr lang="zh-CN" sz="2000" dirty="0">
                <a:effectLst/>
                <a:latin typeface="Times New Roman" panose="02020603050405020304" pitchFamily="18" charset="0"/>
                <a:ea typeface="DengXian" panose="02010600030101010101" pitchFamily="2" charset="-122"/>
                <a:cs typeface="SimSun" panose="02010600030101010101" pitchFamily="2" charset="-122"/>
              </a:rPr>
              <a:t>主要依据是质心距离图像中心的偏差。</a:t>
            </a:r>
            <a:endParaRPr lang="en-FR"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nSpc>
                <a:spcPct val="100000"/>
              </a:lnSpc>
              <a:buSzPts val="1000"/>
              <a:buFont typeface="Courier New" panose="02070309020205020404" pitchFamily="49" charset="0"/>
              <a:buChar char="o"/>
              <a:tabLst>
                <a:tab pos="914400" algn="l"/>
              </a:tabLst>
            </a:pPr>
            <a:r>
              <a:rPr lang="zh-CN" sz="2000" dirty="0">
                <a:effectLst/>
                <a:latin typeface="Times New Roman" panose="02020603050405020304" pitchFamily="18" charset="0"/>
                <a:ea typeface="DengXian" panose="02010600030101010101" pitchFamily="2" charset="-122"/>
                <a:cs typeface="SimSun" panose="02010600030101010101" pitchFamily="2" charset="-122"/>
              </a:rPr>
              <a:t>计算公式：</a:t>
            </a:r>
            <a:r>
              <a:rPr lang="en-FR" sz="2000" dirty="0">
                <a:effectLst/>
                <a:latin typeface="DengXian" panose="02010600030101010101" pitchFamily="2" charset="-122"/>
                <a:ea typeface="Times New Roman" panose="02020603050405020304" pitchFamily="18" charset="0"/>
                <a:cs typeface="SimSun" panose="02010600030101010101" pitchFamily="2" charset="-122"/>
              </a:rPr>
              <a:t>1 - (</a:t>
            </a:r>
            <a:r>
              <a:rPr lang="zh-CN" sz="2000" dirty="0">
                <a:effectLst/>
                <a:latin typeface="DengXian" panose="02010600030101010101" pitchFamily="2" charset="-122"/>
                <a:ea typeface="Times New Roman" panose="02020603050405020304" pitchFamily="18" charset="0"/>
                <a:cs typeface="SimSun" panose="02010600030101010101" pitchFamily="2" charset="-122"/>
              </a:rPr>
              <a:t>距离误差</a:t>
            </a:r>
            <a:r>
              <a:rPr lang="en-FR" sz="2000" dirty="0">
                <a:effectLst/>
                <a:latin typeface="DengXian" panose="02010600030101010101" pitchFamily="2" charset="-122"/>
                <a:ea typeface="Times New Roman" panose="02020603050405020304" pitchFamily="18" charset="0"/>
                <a:cs typeface="SimSun" panose="02010600030101010101" pitchFamily="2" charset="-122"/>
              </a:rPr>
              <a:t> + </a:t>
            </a:r>
            <a:r>
              <a:rPr lang="zh-CN" sz="2000" dirty="0">
                <a:effectLst/>
                <a:latin typeface="DengXian" panose="02010600030101010101" pitchFamily="2" charset="-122"/>
                <a:ea typeface="Times New Roman" panose="02020603050405020304" pitchFamily="18" charset="0"/>
                <a:cs typeface="SimSun" panose="02010600030101010101" pitchFamily="2" charset="-122"/>
              </a:rPr>
              <a:t>旋转惩罚</a:t>
            </a:r>
            <a:r>
              <a:rPr lang="en-FR" sz="2000" dirty="0">
                <a:effectLst/>
                <a:latin typeface="DengXian" panose="02010600030101010101" pitchFamily="2" charset="-122"/>
                <a:ea typeface="Times New Roman" panose="02020603050405020304" pitchFamily="18" charset="0"/>
                <a:cs typeface="SimSun" panose="02010600030101010101" pitchFamily="2" charset="-122"/>
              </a:rPr>
              <a:t>)</a:t>
            </a:r>
            <a:r>
              <a:rPr lang="zh-CN" sz="2000" dirty="0">
                <a:effectLst/>
                <a:latin typeface="DengXian" panose="02010600030101010101" pitchFamily="2" charset="-122"/>
                <a:ea typeface="Times New Roman" panose="02020603050405020304" pitchFamily="18" charset="0"/>
                <a:cs typeface="SimSun" panose="02010600030101010101" pitchFamily="2" charset="-122"/>
              </a:rPr>
              <a:t>。</a:t>
            </a:r>
            <a:endParaRPr lang="en-FR"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nSpc>
                <a:spcPct val="100000"/>
              </a:lnSpc>
              <a:buSzPts val="1000"/>
              <a:buFont typeface="Courier New" panose="02070309020205020404" pitchFamily="49" charset="0"/>
              <a:buChar char="o"/>
              <a:tabLst>
                <a:tab pos="914400" algn="l"/>
              </a:tabLst>
            </a:pPr>
            <a:r>
              <a:rPr lang="zh-CN" sz="2000" dirty="0">
                <a:effectLst/>
                <a:latin typeface="Times New Roman" panose="02020603050405020304" pitchFamily="18" charset="0"/>
                <a:ea typeface="DengXian" panose="02010600030101010101" pitchFamily="2" charset="-122"/>
                <a:cs typeface="SimSun" panose="02010600030101010101" pitchFamily="2" charset="-122"/>
              </a:rPr>
              <a:t>目标是让质心重合在</a:t>
            </a:r>
            <a:r>
              <a:rPr lang="en-FR" sz="2000" dirty="0">
                <a:effectLst/>
                <a:latin typeface="DengXian" panose="02010600030101010101" pitchFamily="2" charset="-122"/>
                <a:ea typeface="Times New Roman" panose="02020603050405020304" pitchFamily="18" charset="0"/>
                <a:cs typeface="SimSun" panose="02010600030101010101" pitchFamily="2" charset="-122"/>
              </a:rPr>
              <a:t> (0,0) </a:t>
            </a:r>
            <a:r>
              <a:rPr lang="zh-CN" sz="2000" dirty="0">
                <a:effectLst/>
                <a:latin typeface="DengXian" panose="02010600030101010101" pitchFamily="2" charset="-122"/>
                <a:ea typeface="Times New Roman" panose="02020603050405020304" pitchFamily="18" charset="0"/>
                <a:cs typeface="SimSun" panose="02010600030101010101" pitchFamily="2" charset="-122"/>
              </a:rPr>
              <a:t>点，且相机动作平稳。</a:t>
            </a:r>
            <a:endParaRPr lang="en-US" altLang="zh-CN" sz="2000" dirty="0">
              <a:effectLst/>
              <a:latin typeface="DengXian" panose="02010600030101010101" pitchFamily="2" charset="-122"/>
              <a:ea typeface="Times New Roman" panose="02020603050405020304" pitchFamily="18" charset="0"/>
              <a:cs typeface="SimSun" panose="02010600030101010101" pitchFamily="2" charset="-122"/>
            </a:endParaRPr>
          </a:p>
          <a:p>
            <a:pPr marL="457200" lvl="1" indent="0">
              <a:lnSpc>
                <a:spcPct val="100000"/>
              </a:lnSpc>
              <a:buSzPts val="1000"/>
              <a:buNone/>
              <a:tabLst>
                <a:tab pos="914400" algn="l"/>
              </a:tabLst>
            </a:pPr>
            <a:endParaRPr lang="en-FR"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28600">
              <a:lnSpc>
                <a:spcPct val="100000"/>
              </a:lnSpc>
            </a:pPr>
            <a:r>
              <a:rPr lang="en-FR" sz="2000" dirty="0">
                <a:effectLst/>
                <a:latin typeface="DengXian" panose="02010600030101010101" pitchFamily="2" charset="-122"/>
                <a:ea typeface="Times New Roman" panose="02020603050405020304" pitchFamily="18" charset="0"/>
                <a:cs typeface="SimSun" panose="02010600030101010101" pitchFamily="2" charset="-122"/>
              </a:rPr>
              <a:t>5. </a:t>
            </a:r>
            <a:r>
              <a:rPr lang="zh-CN" sz="2000" dirty="0">
                <a:effectLst/>
                <a:latin typeface="DengXian" panose="02010600030101010101" pitchFamily="2" charset="-122"/>
                <a:ea typeface="Times New Roman" panose="02020603050405020304" pitchFamily="18" charset="0"/>
                <a:cs typeface="SimSun" panose="02010600030101010101" pitchFamily="2" charset="-122"/>
              </a:rPr>
              <a:t>专家策略</a:t>
            </a:r>
            <a:r>
              <a:rPr lang="en-FR" sz="2000" dirty="0">
                <a:effectLst/>
                <a:latin typeface="DengXian" panose="02010600030101010101" pitchFamily="2" charset="-122"/>
                <a:ea typeface="Times New Roman" panose="02020603050405020304" pitchFamily="18" charset="0"/>
                <a:cs typeface="SimSun" panose="02010600030101010101" pitchFamily="2" charset="-122"/>
              </a:rPr>
              <a:t> (get_oracle_action)</a:t>
            </a:r>
            <a:endParaRPr lang="en-FR" sz="3200" dirty="0">
              <a:effectLst/>
              <a:latin typeface="Times New Roman" panose="02020603050405020304" pitchFamily="18" charset="0"/>
              <a:ea typeface="Times New Roman" panose="02020603050405020304" pitchFamily="18" charset="0"/>
            </a:endParaRPr>
          </a:p>
          <a:p>
            <a:pPr marL="342900" lvl="0" indent="-342900">
              <a:lnSpc>
                <a:spcPct val="100000"/>
              </a:lnSpc>
              <a:buSzPts val="1000"/>
              <a:buFont typeface="Wingdings" pitchFamily="2" charset="2"/>
              <a:buChar char=""/>
            </a:pPr>
            <a:r>
              <a:rPr lang="zh-CN" sz="2000" dirty="0">
                <a:effectLst/>
                <a:latin typeface="Times New Roman" panose="02020603050405020304" pitchFamily="18" charset="0"/>
                <a:ea typeface="DengXian" panose="02010600030101010101" pitchFamily="2" charset="-122"/>
                <a:cs typeface="SimSun" panose="02010600030101010101" pitchFamily="2" charset="-122"/>
              </a:rPr>
              <a:t>实现了一个典型的</a:t>
            </a:r>
            <a:r>
              <a:rPr lang="en-FR" sz="2000" dirty="0">
                <a:effectLst/>
                <a:latin typeface="DengXian" panose="02010600030101010101" pitchFamily="2" charset="-122"/>
                <a:ea typeface="Times New Roman" panose="02020603050405020304" pitchFamily="18" charset="0"/>
                <a:cs typeface="SimSun" panose="02010600030101010101" pitchFamily="2" charset="-122"/>
              </a:rPr>
              <a:t> </a:t>
            </a:r>
            <a:r>
              <a:rPr lang="zh-CN" sz="2000" dirty="0">
                <a:effectLst/>
                <a:latin typeface="DengXian" panose="02010600030101010101" pitchFamily="2" charset="-122"/>
                <a:ea typeface="Times New Roman" panose="02020603050405020304" pitchFamily="18" charset="0"/>
                <a:cs typeface="SimSun" panose="02010600030101010101" pitchFamily="2" charset="-122"/>
              </a:rPr>
              <a:t>视觉伺服</a:t>
            </a:r>
            <a:r>
              <a:rPr lang="en-FR" sz="2000" dirty="0">
                <a:effectLst/>
                <a:latin typeface="DengXian" panose="02010600030101010101" pitchFamily="2" charset="-122"/>
                <a:ea typeface="Times New Roman" panose="02020603050405020304" pitchFamily="18" charset="0"/>
                <a:cs typeface="SimSun" panose="02010600030101010101" pitchFamily="2" charset="-122"/>
              </a:rPr>
              <a:t> (Visual Servoing) </a:t>
            </a:r>
            <a:r>
              <a:rPr lang="zh-CN" sz="2000" dirty="0">
                <a:effectLst/>
                <a:latin typeface="DengXian" panose="02010600030101010101" pitchFamily="2" charset="-122"/>
                <a:ea typeface="Times New Roman" panose="02020603050405020304" pitchFamily="18" charset="0"/>
                <a:cs typeface="SimSun" panose="02010600030101010101" pitchFamily="2" charset="-122"/>
              </a:rPr>
              <a:t>控制器：</a:t>
            </a:r>
            <a:endParaRPr lang="en-FR" sz="3200" dirty="0">
              <a:effectLst/>
              <a:latin typeface="Times New Roman" panose="02020603050405020304" pitchFamily="18" charset="0"/>
              <a:ea typeface="Times New Roman" panose="02020603050405020304" pitchFamily="18" charset="0"/>
            </a:endParaRPr>
          </a:p>
          <a:p>
            <a:pPr marL="742950" lvl="1" indent="-285750">
              <a:lnSpc>
                <a:spcPct val="100000"/>
              </a:lnSpc>
              <a:buSzPts val="1000"/>
              <a:buFont typeface="Courier New" panose="02070309020205020404" pitchFamily="49" charset="0"/>
              <a:buChar char="o"/>
              <a:tabLst>
                <a:tab pos="914400" algn="l"/>
              </a:tabLst>
            </a:pPr>
            <a:r>
              <a:rPr lang="zh-CN" sz="2000" dirty="0">
                <a:effectLst/>
                <a:latin typeface="Times New Roman" panose="02020603050405020304" pitchFamily="18" charset="0"/>
                <a:ea typeface="DengXian" panose="02010600030101010101" pitchFamily="2" charset="-122"/>
                <a:cs typeface="SimSun" panose="02010600030101010101" pitchFamily="2" charset="-122"/>
              </a:rPr>
              <a:t>误差计算：计算当前质心与中心点的像素差。</a:t>
            </a:r>
            <a:endParaRPr lang="en-FR"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nSpc>
                <a:spcPct val="100000"/>
              </a:lnSpc>
              <a:buSzPts val="1000"/>
              <a:buFont typeface="Courier New" panose="02070309020205020404" pitchFamily="49" charset="0"/>
              <a:buChar char="o"/>
              <a:tabLst>
                <a:tab pos="914400" algn="l"/>
              </a:tabLst>
            </a:pPr>
            <a:r>
              <a:rPr lang="zh-CN" sz="2000" dirty="0">
                <a:effectLst/>
                <a:latin typeface="Times New Roman" panose="02020603050405020304" pitchFamily="18" charset="0"/>
                <a:ea typeface="DengXian" panose="02010600030101010101" pitchFamily="2" charset="-122"/>
                <a:cs typeface="SimSun" panose="02010600030101010101" pitchFamily="2" charset="-122"/>
              </a:rPr>
              <a:t>交互矩阵</a:t>
            </a:r>
            <a:r>
              <a:rPr lang="en-FR" sz="2000" dirty="0">
                <a:effectLst/>
                <a:latin typeface="DengXian" panose="02010600030101010101" pitchFamily="2" charset="-122"/>
                <a:ea typeface="Times New Roman" panose="02020603050405020304" pitchFamily="18" charset="0"/>
                <a:cs typeface="SimSun" panose="02010600030101010101" pitchFamily="2" charset="-122"/>
              </a:rPr>
              <a:t> (Interaction Matrix/L-matrix)</a:t>
            </a:r>
            <a:r>
              <a:rPr lang="zh-CN" sz="2000" dirty="0">
                <a:effectLst/>
                <a:latin typeface="DengXian" panose="02010600030101010101" pitchFamily="2" charset="-122"/>
                <a:ea typeface="Times New Roman" panose="02020603050405020304" pitchFamily="18" charset="0"/>
                <a:cs typeface="SimSun" panose="02010600030101010101" pitchFamily="2" charset="-122"/>
              </a:rPr>
              <a:t>：根据相机的焦距（</a:t>
            </a:r>
            <a:r>
              <a:rPr lang="en-FR" sz="2000" dirty="0">
                <a:effectLst/>
                <a:latin typeface="DengXian" panose="02010600030101010101" pitchFamily="2" charset="-122"/>
                <a:ea typeface="Times New Roman" panose="02020603050405020304" pitchFamily="18" charset="0"/>
                <a:cs typeface="SimSun" panose="02010600030101010101" pitchFamily="2" charset="-122"/>
              </a:rPr>
              <a:t>fx, fy</a:t>
            </a:r>
            <a:r>
              <a:rPr lang="zh-CN" sz="2000" dirty="0">
                <a:effectLst/>
                <a:latin typeface="DengXian" panose="02010600030101010101" pitchFamily="2" charset="-122"/>
                <a:ea typeface="Times New Roman" panose="02020603050405020304" pitchFamily="18" charset="0"/>
                <a:cs typeface="SimSun" panose="02010600030101010101" pitchFamily="2" charset="-122"/>
              </a:rPr>
              <a:t>）、视野（</a:t>
            </a:r>
            <a:r>
              <a:rPr lang="en-FR" sz="2000" dirty="0">
                <a:effectLst/>
                <a:latin typeface="DengXian" panose="02010600030101010101" pitchFamily="2" charset="-122"/>
                <a:ea typeface="Times New Roman" panose="02020603050405020304" pitchFamily="18" charset="0"/>
                <a:cs typeface="SimSun" panose="02010600030101010101" pitchFamily="2" charset="-122"/>
              </a:rPr>
              <a:t>FoV</a:t>
            </a:r>
            <a:r>
              <a:rPr lang="zh-CN" sz="2000" dirty="0">
                <a:effectLst/>
                <a:latin typeface="DengXian" panose="02010600030101010101" pitchFamily="2" charset="-122"/>
                <a:ea typeface="Times New Roman" panose="02020603050405020304" pitchFamily="18" charset="0"/>
                <a:cs typeface="SimSun" panose="02010600030101010101" pitchFamily="2" charset="-122"/>
              </a:rPr>
              <a:t>）和深度估算，建立像素变化与相机运动之间的线性映射关系。</a:t>
            </a:r>
            <a:endParaRPr lang="en-FR"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nSpc>
                <a:spcPct val="100000"/>
              </a:lnSpc>
              <a:buSzPts val="1000"/>
              <a:buFont typeface="Courier New" panose="02070309020205020404" pitchFamily="49" charset="0"/>
              <a:buChar char="o"/>
              <a:tabLst>
                <a:tab pos="914400" algn="l"/>
              </a:tabLst>
            </a:pPr>
            <a:r>
              <a:rPr lang="zh-CN" sz="2000" dirty="0">
                <a:effectLst/>
                <a:latin typeface="Times New Roman" panose="02020603050405020304" pitchFamily="18" charset="0"/>
                <a:ea typeface="DengXian" panose="02010600030101010101" pitchFamily="2" charset="-122"/>
                <a:cs typeface="SimSun" panose="02010600030101010101" pitchFamily="2" charset="-122"/>
              </a:rPr>
              <a:t>伪逆求解：通过矩阵伪逆</a:t>
            </a:r>
            <a:r>
              <a:rPr lang="en-FR" sz="2000" dirty="0">
                <a:effectLst/>
                <a:latin typeface="DengXian" panose="02010600030101010101" pitchFamily="2" charset="-122"/>
                <a:ea typeface="Times New Roman" panose="02020603050405020304" pitchFamily="18" charset="0"/>
                <a:cs typeface="SimSun" panose="02010600030101010101" pitchFamily="2" charset="-122"/>
              </a:rPr>
              <a:t> </a:t>
            </a:r>
            <a:r>
              <a:rPr lang="en-FR" sz="2000" u="none" strike="noStrike" dirty="0">
                <a:effectLst/>
                <a:latin typeface="DengXian" panose="02010600030101010101" pitchFamily="2" charset="-122"/>
                <a:ea typeface="Times New Roman" panose="02020603050405020304" pitchFamily="18" charset="0"/>
                <a:cs typeface="SimSun" panose="02010600030101010101" pitchFamily="2" charset="-122"/>
                <a:hlinkClick r:id="rId2"/>
              </a:rPr>
              <a:t>np.linalg.pinv(Lmatrix)</a:t>
            </a:r>
            <a:r>
              <a:rPr lang="zh-CN" sz="2000" dirty="0">
                <a:effectLst/>
                <a:latin typeface="Times New Roman" panose="02020603050405020304" pitchFamily="18" charset="0"/>
                <a:ea typeface="DengXian" panose="02010600030101010101" pitchFamily="2" charset="-122"/>
                <a:cs typeface="SimSun" panose="02010600030101010101" pitchFamily="2" charset="-122"/>
              </a:rPr>
              <a:t>，将</a:t>
            </a:r>
            <a:r>
              <a:rPr lang="en-FR" sz="2000" dirty="0">
                <a:effectLst/>
                <a:latin typeface="DengXian" panose="02010600030101010101" pitchFamily="2" charset="-122"/>
                <a:ea typeface="Times New Roman" panose="02020603050405020304" pitchFamily="18" charset="0"/>
                <a:cs typeface="SimSun" panose="02010600030101010101" pitchFamily="2" charset="-122"/>
              </a:rPr>
              <a:t>“</a:t>
            </a:r>
            <a:r>
              <a:rPr lang="zh-CN" sz="2000" dirty="0">
                <a:effectLst/>
                <a:latin typeface="DengXian" panose="02010600030101010101" pitchFamily="2" charset="-122"/>
                <a:ea typeface="Times New Roman" panose="02020603050405020304" pitchFamily="18" charset="0"/>
                <a:cs typeface="SimSun" panose="02010600030101010101" pitchFamily="2" charset="-122"/>
              </a:rPr>
              <a:t>像素空间</a:t>
            </a:r>
            <a:r>
              <a:rPr lang="en-FR" sz="2000" dirty="0">
                <a:effectLst/>
                <a:latin typeface="DengXian" panose="02010600030101010101" pitchFamily="2" charset="-122"/>
                <a:ea typeface="Times New Roman" panose="02020603050405020304" pitchFamily="18" charset="0"/>
                <a:cs typeface="SimSun" panose="02010600030101010101" pitchFamily="2" charset="-122"/>
              </a:rPr>
              <a:t>”</a:t>
            </a:r>
            <a:r>
              <a:rPr lang="zh-CN" sz="2000" dirty="0">
                <a:effectLst/>
                <a:latin typeface="DengXian" panose="02010600030101010101" pitchFamily="2" charset="-122"/>
                <a:ea typeface="Times New Roman" panose="02020603050405020304" pitchFamily="18" charset="0"/>
                <a:cs typeface="SimSun" panose="02010600030101010101" pitchFamily="2" charset="-122"/>
              </a:rPr>
              <a:t>的误差转化为</a:t>
            </a:r>
            <a:r>
              <a:rPr lang="en-FR" sz="2000" dirty="0">
                <a:effectLst/>
                <a:latin typeface="DengXian" panose="02010600030101010101" pitchFamily="2" charset="-122"/>
                <a:ea typeface="Times New Roman" panose="02020603050405020304" pitchFamily="18" charset="0"/>
                <a:cs typeface="SimSun" panose="02010600030101010101" pitchFamily="2" charset="-122"/>
              </a:rPr>
              <a:t>“</a:t>
            </a:r>
            <a:r>
              <a:rPr lang="zh-CN" sz="2000" dirty="0">
                <a:effectLst/>
                <a:latin typeface="DengXian" panose="02010600030101010101" pitchFamily="2" charset="-122"/>
                <a:ea typeface="Times New Roman" panose="02020603050405020304" pitchFamily="18" charset="0"/>
                <a:cs typeface="SimSun" panose="02010600030101010101" pitchFamily="2" charset="-122"/>
              </a:rPr>
              <a:t>相机运动空间</a:t>
            </a:r>
            <a:r>
              <a:rPr lang="en-FR" sz="2000" dirty="0">
                <a:effectLst/>
                <a:latin typeface="DengXian" panose="02010600030101010101" pitchFamily="2" charset="-122"/>
                <a:ea typeface="Times New Roman" panose="02020603050405020304" pitchFamily="18" charset="0"/>
                <a:cs typeface="SimSun" panose="02010600030101010101" pitchFamily="2" charset="-122"/>
              </a:rPr>
              <a:t>”</a:t>
            </a:r>
            <a:r>
              <a:rPr lang="zh-CN" sz="2000" dirty="0">
                <a:effectLst/>
                <a:latin typeface="DengXian" panose="02010600030101010101" pitchFamily="2" charset="-122"/>
                <a:ea typeface="Times New Roman" panose="02020603050405020304" pitchFamily="18" charset="0"/>
                <a:cs typeface="SimSun" panose="02010600030101010101" pitchFamily="2" charset="-122"/>
              </a:rPr>
              <a:t>的速度指令，实现精准追踪。</a:t>
            </a:r>
            <a:endParaRPr lang="en-FR"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zh-CN" altLang="en-US" sz="2100" dirty="0">
                <a:latin typeface="DengXian" panose="02010600030101010101" pitchFamily="2" charset="-122"/>
              </a:rPr>
              <a:t>探索困难（</a:t>
            </a:r>
            <a:r>
              <a:rPr lang="en-GB" sz="2100" dirty="0">
                <a:latin typeface="DengXian" panose="02010600030101010101" pitchFamily="2" charset="-122"/>
              </a:rPr>
              <a:t>Exploration Issue）： </a:t>
            </a:r>
            <a:r>
              <a:rPr lang="zh-CN" altLang="en-US" sz="2100" dirty="0">
                <a:latin typeface="DengXian" panose="02010600030101010101" pitchFamily="2" charset="-122"/>
              </a:rPr>
              <a:t>手术操作空间大，精度要求高，随机尝试成功的概率几乎为零。</a:t>
            </a:r>
          </a:p>
          <a:p>
            <a:r>
              <a:rPr lang="zh-CN" altLang="en-US" sz="2100" dirty="0">
                <a:latin typeface="DengXian" panose="02010600030101010101" pitchFamily="2" charset="-122"/>
              </a:rPr>
              <a:t>样本效率（</a:t>
            </a:r>
            <a:r>
              <a:rPr lang="en-GB" sz="2100" dirty="0">
                <a:latin typeface="DengXian" panose="02010600030101010101" pitchFamily="2" charset="-122"/>
              </a:rPr>
              <a:t>Sample Efficiency）： </a:t>
            </a:r>
            <a:r>
              <a:rPr lang="zh-CN" altLang="en-US" sz="2100" dirty="0">
                <a:latin typeface="DengXian" panose="02010600030101010101" pitchFamily="2" charset="-122"/>
              </a:rPr>
              <a:t>纯 </a:t>
            </a:r>
            <a:r>
              <a:rPr lang="en-GB" sz="2100" dirty="0">
                <a:latin typeface="DengXian" panose="02010600030101010101" pitchFamily="2" charset="-122"/>
              </a:rPr>
              <a:t>RL </a:t>
            </a:r>
            <a:r>
              <a:rPr lang="zh-CN" altLang="en-US" sz="2100" dirty="0">
                <a:latin typeface="DengXian" panose="02010600030101010101" pitchFamily="2" charset="-122"/>
              </a:rPr>
              <a:t>需要极大的采样量。引入专家演示可以大幅缩短收敛时间。</a:t>
            </a:r>
          </a:p>
          <a:p>
            <a:pPr marL="0" indent="0">
              <a:buNone/>
            </a:pPr>
            <a:endParaRPr lang="fr-FR" dirty="0"/>
          </a:p>
        </p:txBody>
      </p:sp>
    </p:spTree>
    <p:extLst>
      <p:ext uri="{BB962C8B-B14F-4D97-AF65-F5344CB8AC3E}">
        <p14:creationId xmlns:p14="http://schemas.microsoft.com/office/powerpoint/2010/main" val="3928876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B3384-73E7-30EC-4414-0A2F30D33798}"/>
              </a:ext>
            </a:extLst>
          </p:cNvPr>
          <p:cNvSpPr>
            <a:spLocks noGrp="1"/>
          </p:cNvSpPr>
          <p:nvPr>
            <p:ph type="title"/>
          </p:nvPr>
        </p:nvSpPr>
        <p:spPr/>
        <p:txBody>
          <a:bodyPr/>
          <a:lstStyle/>
          <a:p>
            <a:endParaRPr lang="fr-FR"/>
          </a:p>
        </p:txBody>
      </p:sp>
      <p:sp>
        <p:nvSpPr>
          <p:cNvPr id="3" name="Content Placeholder 2">
            <a:extLst>
              <a:ext uri="{FF2B5EF4-FFF2-40B4-BE49-F238E27FC236}">
                <a16:creationId xmlns:a16="http://schemas.microsoft.com/office/drawing/2014/main" id="{DDC60192-9B19-AB5E-735B-57DCC5003501}"/>
              </a:ext>
            </a:extLst>
          </p:cNvPr>
          <p:cNvSpPr>
            <a:spLocks noGrp="1"/>
          </p:cNvSpPr>
          <p:nvPr>
            <p:ph idx="1"/>
          </p:nvPr>
        </p:nvSpPr>
        <p:spPr/>
        <p:txBody>
          <a:bodyPr>
            <a:normAutofit lnSpcReduction="10000"/>
          </a:bodyPr>
          <a:lstStyle/>
          <a:p>
            <a:r>
              <a:rPr lang="en-GB" dirty="0" err="1">
                <a:effectLst/>
                <a:latin typeface="Google Sans Text"/>
              </a:rPr>
              <a:t>s_t</a:t>
            </a:r>
            <a:r>
              <a:rPr lang="en-GB" dirty="0">
                <a:effectLst/>
                <a:latin typeface="Google Sans Text"/>
              </a:rPr>
              <a:t> (State/Observation): </a:t>
            </a:r>
            <a:r>
              <a:rPr lang="zh-CN" altLang="en-US" dirty="0">
                <a:effectLst/>
                <a:latin typeface="Google Sans Text"/>
              </a:rPr>
              <a:t>当前时刻的状态。在 </a:t>
            </a:r>
            <a:r>
              <a:rPr lang="en-GB" dirty="0" err="1">
                <a:effectLst/>
                <a:latin typeface="Google Sans Text"/>
              </a:rPr>
              <a:t>SurRoL</a:t>
            </a:r>
            <a:r>
              <a:rPr lang="en-GB" dirty="0">
                <a:effectLst/>
                <a:latin typeface="Google Sans Text"/>
              </a:rPr>
              <a:t> </a:t>
            </a:r>
            <a:r>
              <a:rPr lang="zh-CN" altLang="en-US" dirty="0">
                <a:effectLst/>
                <a:latin typeface="Google Sans Text"/>
              </a:rPr>
              <a:t>中，这可能是机械臂钳口的位置、关节角度或手术室的图像。</a:t>
            </a:r>
          </a:p>
          <a:p>
            <a:r>
              <a:rPr lang="en-GB" dirty="0" err="1">
                <a:effectLst/>
                <a:latin typeface="Google Sans Text"/>
              </a:rPr>
              <a:t>a_t</a:t>
            </a:r>
            <a:r>
              <a:rPr lang="en-GB" dirty="0">
                <a:effectLst/>
                <a:latin typeface="Google Sans Text"/>
              </a:rPr>
              <a:t> (Action): </a:t>
            </a:r>
            <a:r>
              <a:rPr lang="zh-CN" altLang="en-US" dirty="0">
                <a:effectLst/>
                <a:latin typeface="Google Sans Text"/>
              </a:rPr>
              <a:t>智能体在状态 </a:t>
            </a:r>
            <a:r>
              <a:rPr lang="en-GB" dirty="0" err="1">
                <a:effectLst/>
                <a:latin typeface="Google Sans Text"/>
              </a:rPr>
              <a:t>s_t</a:t>
            </a:r>
            <a:r>
              <a:rPr lang="en-GB" dirty="0">
                <a:effectLst/>
                <a:latin typeface="Google Sans Text"/>
              </a:rPr>
              <a:t> </a:t>
            </a:r>
            <a:r>
              <a:rPr lang="zh-CN" altLang="en-US" dirty="0">
                <a:effectLst/>
                <a:latin typeface="Google Sans Text"/>
              </a:rPr>
              <a:t>下采取的动作。例如：钳口向左移动 </a:t>
            </a:r>
            <a:r>
              <a:rPr lang="en-US" altLang="zh-CN" dirty="0">
                <a:effectLst/>
                <a:latin typeface="Google Sans Text"/>
              </a:rPr>
              <a:t>1</a:t>
            </a:r>
            <a:r>
              <a:rPr lang="en-GB" dirty="0">
                <a:effectLst/>
                <a:latin typeface="Google Sans Text"/>
              </a:rPr>
              <a:t>cm。</a:t>
            </a:r>
          </a:p>
          <a:p>
            <a:r>
              <a:rPr lang="en-GB" dirty="0">
                <a:effectLst/>
                <a:latin typeface="Google Sans Text"/>
              </a:rPr>
              <a:t>r_t+1(Reward): </a:t>
            </a:r>
            <a:r>
              <a:rPr lang="zh-CN" altLang="en-US" dirty="0">
                <a:effectLst/>
                <a:latin typeface="Google Sans Text"/>
              </a:rPr>
              <a:t>采取动作后环境给出的反馈。成功通常是 </a:t>
            </a:r>
            <a:r>
              <a:rPr lang="en-US" altLang="zh-CN" dirty="0">
                <a:effectLst/>
                <a:latin typeface="Google Sans Text"/>
              </a:rPr>
              <a:t>0</a:t>
            </a:r>
            <a:r>
              <a:rPr lang="zh-CN" altLang="en-US" dirty="0">
                <a:effectLst/>
                <a:latin typeface="Google Sans Text"/>
              </a:rPr>
              <a:t>，失败通常是 </a:t>
            </a:r>
            <a:r>
              <a:rPr lang="en-US" altLang="zh-CN" dirty="0">
                <a:effectLst/>
                <a:latin typeface="Google Sans Text"/>
              </a:rPr>
              <a:t>-1</a:t>
            </a:r>
            <a:r>
              <a:rPr lang="zh-CN" altLang="en-US" dirty="0">
                <a:effectLst/>
                <a:latin typeface="Google Sans Text"/>
              </a:rPr>
              <a:t>（稀疏奖励）。</a:t>
            </a:r>
          </a:p>
          <a:p>
            <a:r>
              <a:rPr lang="en-GB" dirty="0">
                <a:effectLst/>
                <a:latin typeface="Google Sans Text"/>
              </a:rPr>
              <a:t>s_t+1 (Next State): </a:t>
            </a:r>
            <a:r>
              <a:rPr lang="zh-CN" altLang="en-US" dirty="0">
                <a:effectLst/>
                <a:latin typeface="Google Sans Text"/>
              </a:rPr>
              <a:t>采取动作后，环境变成的新状态。例如：钳口到达了新位置。</a:t>
            </a:r>
          </a:p>
          <a:p>
            <a:r>
              <a:rPr lang="en-GB" dirty="0" err="1">
                <a:effectLst/>
                <a:latin typeface="Google Sans Text"/>
              </a:rPr>
              <a:t>d_t</a:t>
            </a:r>
            <a:r>
              <a:rPr lang="en-GB" dirty="0">
                <a:effectLst/>
                <a:latin typeface="Google Sans Text"/>
              </a:rPr>
              <a:t> (Done/Terminal): </a:t>
            </a:r>
            <a:r>
              <a:rPr lang="zh-CN" altLang="en-US" dirty="0">
                <a:effectLst/>
                <a:latin typeface="Google Sans Text"/>
              </a:rPr>
              <a:t>布尔值，表示这一局（</a:t>
            </a:r>
            <a:r>
              <a:rPr lang="en-GB" dirty="0">
                <a:effectLst/>
                <a:latin typeface="Google Sans Text"/>
              </a:rPr>
              <a:t>Episode）</a:t>
            </a:r>
            <a:r>
              <a:rPr lang="zh-CN" altLang="en-US" dirty="0">
                <a:effectLst/>
                <a:latin typeface="Google Sans Text"/>
              </a:rPr>
              <a:t>是否结束（成功了、超时了或出界了）。</a:t>
            </a:r>
          </a:p>
          <a:p>
            <a:endParaRPr lang="fr-FR" dirty="0"/>
          </a:p>
        </p:txBody>
      </p:sp>
    </p:spTree>
    <p:extLst>
      <p:ext uri="{BB962C8B-B14F-4D97-AF65-F5344CB8AC3E}">
        <p14:creationId xmlns:p14="http://schemas.microsoft.com/office/powerpoint/2010/main" val="2031527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2B995-6B6F-205C-4D19-23923DC21240}"/>
              </a:ext>
            </a:extLst>
          </p:cNvPr>
          <p:cNvSpPr>
            <a:spLocks noGrp="1"/>
          </p:cNvSpPr>
          <p:nvPr>
            <p:ph type="title"/>
          </p:nvPr>
        </p:nvSpPr>
        <p:spPr/>
        <p:txBody>
          <a:bodyPr/>
          <a:lstStyle/>
          <a:p>
            <a:endParaRPr lang="fr-FR" dirty="0"/>
          </a:p>
        </p:txBody>
      </p:sp>
      <p:sp>
        <p:nvSpPr>
          <p:cNvPr id="3" name="Content Placeholder 2">
            <a:extLst>
              <a:ext uri="{FF2B5EF4-FFF2-40B4-BE49-F238E27FC236}">
                <a16:creationId xmlns:a16="http://schemas.microsoft.com/office/drawing/2014/main" id="{A767F437-AAD8-F7C9-04D4-E09A8913B075}"/>
              </a:ext>
            </a:extLst>
          </p:cNvPr>
          <p:cNvSpPr>
            <a:spLocks noGrp="1"/>
          </p:cNvSpPr>
          <p:nvPr>
            <p:ph idx="1"/>
          </p:nvPr>
        </p:nvSpPr>
        <p:spPr/>
        <p:txBody>
          <a:bodyPr/>
          <a:lstStyle/>
          <a:p>
            <a:r>
              <a:rPr lang="fr-FR" dirty="0" err="1"/>
              <a:t>Baselines</a:t>
            </a:r>
            <a:r>
              <a:rPr lang="fr-FR" dirty="0"/>
              <a:t> module</a:t>
            </a:r>
          </a:p>
          <a:p>
            <a:r>
              <a:rPr lang="fr-FR" dirty="0"/>
              <a:t>Benchmarks</a:t>
            </a:r>
          </a:p>
          <a:p>
            <a:endParaRPr lang="fr-FR" dirty="0"/>
          </a:p>
          <a:p>
            <a:endParaRPr lang="fr-FR" dirty="0"/>
          </a:p>
        </p:txBody>
      </p:sp>
    </p:spTree>
    <p:extLst>
      <p:ext uri="{BB962C8B-B14F-4D97-AF65-F5344CB8AC3E}">
        <p14:creationId xmlns:p14="http://schemas.microsoft.com/office/powerpoint/2010/main" val="4210539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F2F98-85BB-6490-5EA5-7F574EFD0EF0}"/>
              </a:ext>
            </a:extLst>
          </p:cNvPr>
          <p:cNvSpPr>
            <a:spLocks noGrp="1"/>
          </p:cNvSpPr>
          <p:nvPr>
            <p:ph type="title"/>
          </p:nvPr>
        </p:nvSpPr>
        <p:spPr/>
        <p:txBody>
          <a:bodyPr/>
          <a:lstStyle/>
          <a:p>
            <a:endParaRPr lang="fr-FR"/>
          </a:p>
        </p:txBody>
      </p:sp>
      <p:pic>
        <p:nvPicPr>
          <p:cNvPr id="5" name="Content Placeholder 4">
            <a:extLst>
              <a:ext uri="{FF2B5EF4-FFF2-40B4-BE49-F238E27FC236}">
                <a16:creationId xmlns:a16="http://schemas.microsoft.com/office/drawing/2014/main" id="{0508FD2E-899B-C3A8-4A18-2D0F9C6C22F8}"/>
              </a:ext>
            </a:extLst>
          </p:cNvPr>
          <p:cNvPicPr>
            <a:picLocks noGrp="1" noChangeAspect="1"/>
          </p:cNvPicPr>
          <p:nvPr>
            <p:ph idx="1"/>
          </p:nvPr>
        </p:nvPicPr>
        <p:blipFill>
          <a:blip r:embed="rId2"/>
          <a:stretch>
            <a:fillRect/>
          </a:stretch>
        </p:blipFill>
        <p:spPr>
          <a:xfrm>
            <a:off x="404576" y="2477957"/>
            <a:ext cx="6634682" cy="4037774"/>
          </a:xfrm>
        </p:spPr>
      </p:pic>
      <p:pic>
        <p:nvPicPr>
          <p:cNvPr id="7" name="Picture 6">
            <a:extLst>
              <a:ext uri="{FF2B5EF4-FFF2-40B4-BE49-F238E27FC236}">
                <a16:creationId xmlns:a16="http://schemas.microsoft.com/office/drawing/2014/main" id="{969E9BA6-0B34-4931-5333-E1FEA54B716E}"/>
              </a:ext>
            </a:extLst>
          </p:cNvPr>
          <p:cNvPicPr>
            <a:picLocks noChangeAspect="1"/>
          </p:cNvPicPr>
          <p:nvPr/>
        </p:nvPicPr>
        <p:blipFill>
          <a:blip r:embed="rId3"/>
          <a:stretch>
            <a:fillRect/>
          </a:stretch>
        </p:blipFill>
        <p:spPr>
          <a:xfrm>
            <a:off x="5813901" y="342269"/>
            <a:ext cx="5994400" cy="3365500"/>
          </a:xfrm>
          <a:prstGeom prst="rect">
            <a:avLst/>
          </a:prstGeom>
        </p:spPr>
      </p:pic>
    </p:spTree>
    <p:extLst>
      <p:ext uri="{BB962C8B-B14F-4D97-AF65-F5344CB8AC3E}">
        <p14:creationId xmlns:p14="http://schemas.microsoft.com/office/powerpoint/2010/main" val="1850871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72EE2-B61E-826F-E7CE-44C0FAA4795B}"/>
              </a:ext>
            </a:extLst>
          </p:cNvPr>
          <p:cNvSpPr>
            <a:spLocks noGrp="1"/>
          </p:cNvSpPr>
          <p:nvPr>
            <p:ph type="title"/>
          </p:nvPr>
        </p:nvSpPr>
        <p:spPr/>
        <p:txBody>
          <a:bodyPr/>
          <a:lstStyle/>
          <a:p>
            <a:r>
              <a:rPr lang="fr-FR" dirty="0"/>
              <a:t>9) </a:t>
            </a:r>
            <a:r>
              <a:rPr lang="fr-FR" dirty="0" err="1"/>
              <a:t>构建强化学习环境</a:t>
            </a:r>
            <a:endParaRPr lang="fr-FR" dirty="0"/>
          </a:p>
        </p:txBody>
      </p:sp>
      <p:sp>
        <p:nvSpPr>
          <p:cNvPr id="3" name="Content Placeholder 2">
            <a:extLst>
              <a:ext uri="{FF2B5EF4-FFF2-40B4-BE49-F238E27FC236}">
                <a16:creationId xmlns:a16="http://schemas.microsoft.com/office/drawing/2014/main" id="{35AF8446-317C-5C61-BC5C-EB183080BF9B}"/>
              </a:ext>
            </a:extLst>
          </p:cNvPr>
          <p:cNvSpPr>
            <a:spLocks noGrp="1"/>
          </p:cNvSpPr>
          <p:nvPr>
            <p:ph idx="1"/>
          </p:nvPr>
        </p:nvSpPr>
        <p:spPr/>
        <p:txBody>
          <a:bodyPr/>
          <a:lstStyle/>
          <a:p>
            <a:r>
              <a:rPr lang="zh-CN" altLang="en-US" b="0" i="0" dirty="0">
                <a:solidFill>
                  <a:srgbClr val="FF0000"/>
                </a:solidFill>
                <a:effectLst/>
                <a:latin typeface="Google Sans Flex"/>
              </a:rPr>
              <a:t>真实世界的数据采集成本极其高昂</a:t>
            </a:r>
            <a:r>
              <a:rPr lang="zh-CN" altLang="en-US" b="0" i="0" dirty="0">
                <a:effectLst/>
                <a:latin typeface="Google Sans Flex"/>
              </a:rPr>
              <a:t>。物理机器人不仅</a:t>
            </a:r>
            <a:r>
              <a:rPr lang="zh-CN" altLang="en-US" b="0" i="0" dirty="0">
                <a:solidFill>
                  <a:srgbClr val="FF0000"/>
                </a:solidFill>
                <a:effectLst/>
                <a:latin typeface="Google Sans Flex"/>
              </a:rPr>
              <a:t>造价不菲</a:t>
            </a:r>
            <a:r>
              <a:rPr lang="zh-CN" altLang="en-US" b="0" i="0" dirty="0">
                <a:effectLst/>
                <a:latin typeface="Google Sans Flex"/>
              </a:rPr>
              <a:t>，而且在训练初期，探索性策略往往会导致</a:t>
            </a:r>
            <a:r>
              <a:rPr lang="zh-CN" altLang="en-US" b="0" i="0" dirty="0">
                <a:solidFill>
                  <a:srgbClr val="FF0000"/>
                </a:solidFill>
                <a:effectLst/>
                <a:latin typeface="Google Sans Flex"/>
              </a:rPr>
              <a:t>灾难性的硬件损坏</a:t>
            </a:r>
            <a:r>
              <a:rPr lang="zh-CN" altLang="en-US" b="0" i="0" dirty="0">
                <a:effectLst/>
                <a:latin typeface="Google Sans Flex"/>
              </a:rPr>
              <a:t>。此外，真实时间的流逝速度限制了数据的吞吐量，使得动辄需要</a:t>
            </a:r>
            <a:r>
              <a:rPr lang="zh-CN" altLang="en-US" b="0" i="0" dirty="0">
                <a:solidFill>
                  <a:srgbClr val="FF0000"/>
                </a:solidFill>
                <a:effectLst/>
                <a:latin typeface="Google Sans Flex"/>
              </a:rPr>
              <a:t>数亿次交互</a:t>
            </a:r>
            <a:r>
              <a:rPr lang="zh-CN" altLang="en-US" b="0" i="0" dirty="0">
                <a:effectLst/>
                <a:latin typeface="Google Sans Flex"/>
              </a:rPr>
              <a:t>才能收敛的现代</a:t>
            </a:r>
            <a:r>
              <a:rPr lang="en-GB" b="0" i="0" dirty="0">
                <a:effectLst/>
                <a:latin typeface="Google Sans Flex"/>
              </a:rPr>
              <a:t>RL</a:t>
            </a:r>
            <a:r>
              <a:rPr lang="zh-CN" altLang="en-US" b="0" i="0" dirty="0">
                <a:effectLst/>
                <a:latin typeface="Google Sans Flex"/>
              </a:rPr>
              <a:t>算法在物理世界中显得不切实际。因此，“仿真到现实”（</a:t>
            </a:r>
            <a:r>
              <a:rPr lang="en-GB" b="0" i="0" dirty="0">
                <a:effectLst/>
                <a:latin typeface="Google Sans Flex"/>
              </a:rPr>
              <a:t>Sim-to-Real, Sim2Real）</a:t>
            </a:r>
            <a:r>
              <a:rPr lang="zh-CN" altLang="en-US" b="0" i="0" dirty="0">
                <a:effectLst/>
                <a:latin typeface="Google Sans Flex"/>
              </a:rPr>
              <a:t>的迁移范式应运而生，</a:t>
            </a:r>
            <a:r>
              <a:rPr lang="zh-CN" altLang="en-US" b="0" i="0" dirty="0">
                <a:solidFill>
                  <a:srgbClr val="FF0000"/>
                </a:solidFill>
                <a:effectLst/>
                <a:latin typeface="Google Sans Flex"/>
              </a:rPr>
              <a:t>成为解决样本效率与安全性问题的标准解法</a:t>
            </a:r>
            <a:endParaRPr lang="en-US" altLang="zh-CN" b="0" i="0" dirty="0">
              <a:solidFill>
                <a:srgbClr val="FF0000"/>
              </a:solidFill>
              <a:effectLst/>
              <a:latin typeface="Google Sans Flex"/>
            </a:endParaRPr>
          </a:p>
          <a:p>
            <a:endParaRPr lang="en-US" dirty="0">
              <a:solidFill>
                <a:srgbClr val="FF0000"/>
              </a:solidFill>
              <a:latin typeface="Google Sans Flex"/>
            </a:endParaRPr>
          </a:p>
          <a:p>
            <a:r>
              <a:rPr lang="zh-CN" altLang="en-US" b="1" i="0" dirty="0">
                <a:effectLst/>
                <a:latin typeface="Google Sans Flex"/>
              </a:rPr>
              <a:t>仿真环境中的性能与真实世界中的性能存在正相关性</a:t>
            </a:r>
            <a:r>
              <a:rPr lang="zh-CN" altLang="en-US" b="0" i="0" dirty="0">
                <a:effectLst/>
                <a:latin typeface="Google Sans Flex"/>
              </a:rPr>
              <a:t>保真度”（</a:t>
            </a:r>
            <a:r>
              <a:rPr lang="en-GB" b="0" i="0" dirty="0">
                <a:effectLst/>
                <a:latin typeface="Google Sans Flex"/>
              </a:rPr>
              <a:t>Fidelity）——</a:t>
            </a:r>
            <a:r>
              <a:rPr lang="zh-CN" altLang="en-US" b="0" i="0" dirty="0">
                <a:effectLst/>
                <a:latin typeface="Google Sans Flex"/>
              </a:rPr>
              <a:t>即构建在视觉上达到照片级真实（</a:t>
            </a:r>
            <a:r>
              <a:rPr lang="en-GB" b="0" i="0" dirty="0">
                <a:effectLst/>
                <a:latin typeface="Google Sans Flex"/>
              </a:rPr>
              <a:t>Photorealistic）、</a:t>
            </a:r>
            <a:r>
              <a:rPr lang="zh-CN" altLang="en-US" b="0" i="0" dirty="0">
                <a:effectLst/>
                <a:latin typeface="Google Sans Flex"/>
              </a:rPr>
              <a:t>在物理上精确到微米级的仿真环境</a:t>
            </a:r>
            <a:endParaRPr lang="fr-FR" dirty="0"/>
          </a:p>
        </p:txBody>
      </p:sp>
    </p:spTree>
    <p:extLst>
      <p:ext uri="{BB962C8B-B14F-4D97-AF65-F5344CB8AC3E}">
        <p14:creationId xmlns:p14="http://schemas.microsoft.com/office/powerpoint/2010/main" val="3486959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D073D0-3297-FB44-E05D-8BED537644EB}"/>
              </a:ext>
            </a:extLst>
          </p:cNvPr>
          <p:cNvSpPr>
            <a:spLocks noGrp="1"/>
          </p:cNvSpPr>
          <p:nvPr>
            <p:ph idx="1"/>
          </p:nvPr>
        </p:nvSpPr>
        <p:spPr>
          <a:xfrm>
            <a:off x="499997" y="197241"/>
            <a:ext cx="10515600" cy="4351338"/>
          </a:xfrm>
        </p:spPr>
        <p:txBody>
          <a:bodyPr>
            <a:normAutofit fontScale="92500" lnSpcReduction="20000"/>
          </a:bodyPr>
          <a:lstStyle/>
          <a:p>
            <a:pPr>
              <a:lnSpc>
                <a:spcPct val="120000"/>
              </a:lnSpc>
            </a:pPr>
            <a:r>
              <a:rPr lang="fr-FR" dirty="0"/>
              <a:t>Simulation </a:t>
            </a:r>
            <a:r>
              <a:rPr lang="fr-FR" dirty="0" err="1"/>
              <a:t>Paradox</a:t>
            </a:r>
            <a:r>
              <a:rPr lang="fr-FR" dirty="0"/>
              <a:t>:</a:t>
            </a:r>
            <a:r>
              <a:rPr lang="zh-CN" altLang="en-US" b="1" i="0" dirty="0">
                <a:solidFill>
                  <a:srgbClr val="E3E3E3"/>
                </a:solidFill>
                <a:effectLst/>
                <a:latin typeface="Google Sans Flex"/>
              </a:rPr>
              <a:t> </a:t>
            </a:r>
            <a:r>
              <a:rPr lang="zh-CN" altLang="en-US" b="1" i="0" dirty="0">
                <a:effectLst/>
                <a:latin typeface="Google Sans Flex"/>
              </a:rPr>
              <a:t>仿真环境的保真度与其</a:t>
            </a:r>
            <a:r>
              <a:rPr lang="en-GB" b="1" i="0" dirty="0">
                <a:effectLst/>
                <a:latin typeface="Google Sans Flex"/>
              </a:rPr>
              <a:t>Sim2Real</a:t>
            </a:r>
            <a:r>
              <a:rPr lang="zh-CN" altLang="en-US" b="1" i="0" dirty="0">
                <a:effectLst/>
                <a:latin typeface="Google Sans Flex"/>
              </a:rPr>
              <a:t>迁移效果之间并非简单的线性正相关关系</a:t>
            </a:r>
            <a:r>
              <a:rPr lang="zh-CN" altLang="en-US" b="0" i="0" dirty="0">
                <a:effectLst/>
                <a:latin typeface="Google Sans Flex"/>
              </a:rPr>
              <a:t>。在某些特定任务域（如视觉导航）中，降低物理保真度反而能显著提升迁移成功率；而在另一些领域（如腿足机器人运动控制和柔性体操作），</a:t>
            </a:r>
            <a:r>
              <a:rPr lang="zh-CN" altLang="en-US" b="1" dirty="0">
                <a:latin typeface="Google Sans Flex"/>
              </a:rPr>
              <a:t>特定的物理参数（如静态摩擦、执行器非线性动力学）的精确建模则是不可或缺的先决条件</a:t>
            </a:r>
            <a:endParaRPr lang="en-US" altLang="zh-CN" b="1" dirty="0">
              <a:latin typeface="Google Sans Flex"/>
            </a:endParaRPr>
          </a:p>
          <a:p>
            <a:pPr>
              <a:lnSpc>
                <a:spcPct val="120000"/>
              </a:lnSpc>
            </a:pPr>
            <a:r>
              <a:rPr lang="zh-CN" altLang="en-US" dirty="0">
                <a:latin typeface="Google Sans Flex"/>
              </a:rPr>
              <a:t>此外，高保真仿真中包含的大量高频细节可能包含仿真特有的伪影。智能体极易过拟合这些伪影，学到利用仿真漏洞的策略，而非鲁棒的物理技能。一旦迁移到真实环境，这些利用漏洞的策略便会失效。</a:t>
            </a:r>
            <a:endParaRPr lang="en-US" altLang="zh-CN" dirty="0">
              <a:latin typeface="Google Sans Flex"/>
            </a:endParaRPr>
          </a:p>
          <a:p>
            <a:pPr>
              <a:lnSpc>
                <a:spcPct val="120000"/>
              </a:lnSpc>
            </a:pPr>
            <a:r>
              <a:rPr lang="zh-CN" altLang="en-US" dirty="0">
                <a:latin typeface="Google Sans Flex"/>
              </a:rPr>
              <a:t>因此，构建一个“足够好”且运行极快的仿真环境，配合域随机化往往比追求极致的单一物理参数准确性更具实战价值 。</a:t>
            </a:r>
            <a:endParaRPr lang="fr-FR" dirty="0">
              <a:latin typeface="Google Sans Flex"/>
            </a:endParaRPr>
          </a:p>
        </p:txBody>
      </p:sp>
      <p:sp>
        <p:nvSpPr>
          <p:cNvPr id="4" name="TextBox 3">
            <a:extLst>
              <a:ext uri="{FF2B5EF4-FFF2-40B4-BE49-F238E27FC236}">
                <a16:creationId xmlns:a16="http://schemas.microsoft.com/office/drawing/2014/main" id="{98135791-06BB-DD2A-AC6D-082ECE885CD3}"/>
              </a:ext>
            </a:extLst>
          </p:cNvPr>
          <p:cNvSpPr txBox="1"/>
          <p:nvPr/>
        </p:nvSpPr>
        <p:spPr>
          <a:xfrm>
            <a:off x="4584526" y="5999967"/>
            <a:ext cx="7402882" cy="1015663"/>
          </a:xfrm>
          <a:prstGeom prst="rect">
            <a:avLst/>
          </a:prstGeom>
          <a:noFill/>
        </p:spPr>
        <p:txBody>
          <a:bodyPr wrap="square" rtlCol="0">
            <a:spAutoFit/>
          </a:bodyPr>
          <a:lstStyle/>
          <a:p>
            <a:pPr algn="l"/>
            <a:r>
              <a:rPr lang="en-GB" sz="1400" b="0" i="0" dirty="0">
                <a:solidFill>
                  <a:srgbClr val="303030"/>
                </a:solidFill>
                <a:effectLst/>
                <a:latin typeface="-apple-system"/>
              </a:rPr>
              <a:t>Rethinking Sim2Real: Lower Fidelity Simulation Leads to Higher Sim2Real Transfer in Navigation</a:t>
            </a:r>
            <a:r>
              <a:rPr lang="zh-CN" altLang="en-US" sz="1400" b="0" i="0" dirty="0">
                <a:solidFill>
                  <a:srgbClr val="303030"/>
                </a:solidFill>
                <a:effectLst/>
                <a:latin typeface="-apple-system"/>
              </a:rPr>
              <a:t>， </a:t>
            </a:r>
            <a:r>
              <a:rPr lang="en-GB" sz="1400" b="1" i="1" dirty="0">
                <a:solidFill>
                  <a:srgbClr val="303030"/>
                </a:solidFill>
                <a:effectLst/>
                <a:latin typeface="-apple-system"/>
              </a:rPr>
              <a:t>Joanne Truong, Max Rudolph, Naoki Harrison Yokoyama, Sonia </a:t>
            </a:r>
            <a:r>
              <a:rPr lang="en-GB" sz="1400" b="1" i="1" dirty="0" err="1">
                <a:solidFill>
                  <a:srgbClr val="303030"/>
                </a:solidFill>
                <a:effectLst/>
                <a:latin typeface="-apple-system"/>
              </a:rPr>
              <a:t>Chernova</a:t>
            </a:r>
            <a:r>
              <a:rPr lang="en-GB" sz="1400" b="1" i="1" dirty="0">
                <a:solidFill>
                  <a:srgbClr val="303030"/>
                </a:solidFill>
                <a:effectLst/>
                <a:latin typeface="-apple-system"/>
              </a:rPr>
              <a:t>, Dhruv Batra, Akshara Rai</a:t>
            </a:r>
            <a:r>
              <a:rPr lang="en-GB" sz="1400" b="0" i="0" dirty="0">
                <a:solidFill>
                  <a:srgbClr val="303030"/>
                </a:solidFill>
                <a:effectLst/>
                <a:latin typeface="-apple-system"/>
              </a:rPr>
              <a:t> </a:t>
            </a:r>
            <a:r>
              <a:rPr lang="en-GB" sz="1400" b="0" i="1" dirty="0">
                <a:solidFill>
                  <a:srgbClr val="303030"/>
                </a:solidFill>
                <a:effectLst/>
                <a:latin typeface="-apple-system"/>
              </a:rPr>
              <a:t>Proceedings of The 6th Conference on Robot Learning</a:t>
            </a:r>
            <a:r>
              <a:rPr lang="en-GB" sz="1400" b="0" i="0" dirty="0">
                <a:solidFill>
                  <a:srgbClr val="303030"/>
                </a:solidFill>
                <a:effectLst/>
                <a:latin typeface="-apple-system"/>
              </a:rPr>
              <a:t>, PMLR 205:859-870, 2023.</a:t>
            </a:r>
          </a:p>
          <a:p>
            <a:endParaRPr lang="fr-FR" dirty="0"/>
          </a:p>
        </p:txBody>
      </p:sp>
    </p:spTree>
    <p:extLst>
      <p:ext uri="{BB962C8B-B14F-4D97-AF65-F5344CB8AC3E}">
        <p14:creationId xmlns:p14="http://schemas.microsoft.com/office/powerpoint/2010/main" val="4271996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D41C4-0202-123B-1E9D-E4E639B6B6BD}"/>
              </a:ext>
            </a:extLst>
          </p:cNvPr>
          <p:cNvSpPr>
            <a:spLocks noGrp="1"/>
          </p:cNvSpPr>
          <p:nvPr>
            <p:ph type="title"/>
          </p:nvPr>
        </p:nvSpPr>
        <p:spPr/>
        <p:txBody>
          <a:bodyPr/>
          <a:lstStyle/>
          <a:p>
            <a:r>
              <a:rPr lang="fr-FR" dirty="0" err="1"/>
              <a:t>观测</a:t>
            </a:r>
            <a:endParaRPr lang="fr-FR" dirty="0"/>
          </a:p>
        </p:txBody>
      </p:sp>
      <p:sp>
        <p:nvSpPr>
          <p:cNvPr id="3" name="Content Placeholder 2">
            <a:extLst>
              <a:ext uri="{FF2B5EF4-FFF2-40B4-BE49-F238E27FC236}">
                <a16:creationId xmlns:a16="http://schemas.microsoft.com/office/drawing/2014/main" id="{797BD918-74C6-4A90-6BCB-CABC2B9FAA8A}"/>
              </a:ext>
            </a:extLst>
          </p:cNvPr>
          <p:cNvSpPr>
            <a:spLocks noGrp="1"/>
          </p:cNvSpPr>
          <p:nvPr>
            <p:ph idx="1"/>
          </p:nvPr>
        </p:nvSpPr>
        <p:spPr/>
        <p:txBody>
          <a:bodyPr>
            <a:normAutofit fontScale="47500" lnSpcReduction="20000"/>
          </a:bodyPr>
          <a:lstStyle/>
          <a:p>
            <a:pPr marL="0" indent="0">
              <a:buNone/>
            </a:pPr>
            <a:r>
              <a:rPr lang="zh-CN" altLang="en-US" b="0" i="0" dirty="0">
                <a:effectLst/>
                <a:latin typeface="Google Sans Flex"/>
              </a:rPr>
              <a:t>真实世界的数据采集成本极其高昂。物理机器人不仅造价不菲，而且在训练初期，探索性策略往往会导致灾难性的硬件损坏。此外，真实时间的流逝速度限制了数据的吞吐量，使得动辄需要数亿次交互才能收敛的现代</a:t>
            </a:r>
            <a:r>
              <a:rPr lang="en-GB" b="0" i="0" dirty="0">
                <a:effectLst/>
                <a:latin typeface="Google Sans Flex"/>
              </a:rPr>
              <a:t>RL</a:t>
            </a:r>
            <a:r>
              <a:rPr lang="zh-CN" altLang="en-US" b="0" i="0" dirty="0">
                <a:effectLst/>
                <a:latin typeface="Google Sans Flex"/>
              </a:rPr>
              <a:t>算法在物理世界中显得不切实际。因此，“仿真到现实”（</a:t>
            </a:r>
            <a:r>
              <a:rPr lang="en-GB" b="0" i="0" dirty="0">
                <a:effectLst/>
                <a:latin typeface="Google Sans Flex"/>
              </a:rPr>
              <a:t>Sim-to-Real, Sim2Real）</a:t>
            </a:r>
            <a:r>
              <a:rPr lang="zh-CN" altLang="en-US" b="0" i="0" dirty="0">
                <a:effectLst/>
                <a:latin typeface="Google Sans Flex"/>
              </a:rPr>
              <a:t>的迁移范式应运而生，成为解决样本效率与安全性问题的标准解法真实世界的数据采集成本极其高昂。物理机器人不仅造价不菲，而且在训练初期，探索性策略往往会导致灾难性的硬件损坏。此外，真实时间的流逝速度限制了数据的吞吐量，使得动辄需要数亿次交互才能收敛的现代</a:t>
            </a:r>
            <a:r>
              <a:rPr lang="en-GB" b="0" i="0" dirty="0">
                <a:effectLst/>
                <a:latin typeface="Google Sans Flex"/>
              </a:rPr>
              <a:t>RL</a:t>
            </a:r>
            <a:r>
              <a:rPr lang="zh-CN" altLang="en-US" b="0" i="0" dirty="0">
                <a:effectLst/>
                <a:latin typeface="Google Sans Flex"/>
              </a:rPr>
              <a:t>算法在物理世界中显得不切实际。因此，“仿真到现实”（</a:t>
            </a:r>
            <a:r>
              <a:rPr lang="en-GB" b="0" i="0" dirty="0">
                <a:effectLst/>
                <a:latin typeface="Google Sans Flex"/>
              </a:rPr>
              <a:t>Sim-to-Real, Sim2Real）</a:t>
            </a:r>
            <a:r>
              <a:rPr lang="zh-CN" altLang="en-US" b="0" i="0" dirty="0">
                <a:effectLst/>
                <a:latin typeface="Google Sans Flex"/>
              </a:rPr>
              <a:t>的迁移范式应运而生，成为解决样本效率与安全性问题的标准解法真实世界的数据采集成本极其高昂。物理机器人不仅造价不菲，而且在训练初期，探索性策略往往会导致灾难性的硬件损坏。此外，真实时间的流逝速度限制了数据的吞吐量，使得动辄需要数亿次交互才能收敛的现代</a:t>
            </a:r>
            <a:r>
              <a:rPr lang="en-GB" b="0" i="0" dirty="0">
                <a:effectLst/>
                <a:latin typeface="Google Sans Flex"/>
              </a:rPr>
              <a:t>RL</a:t>
            </a:r>
            <a:r>
              <a:rPr lang="zh-CN" altLang="en-US" b="0" i="0" dirty="0">
                <a:effectLst/>
                <a:latin typeface="Google Sans Flex"/>
              </a:rPr>
              <a:t>算法在物理世界中显得不切实际。因此，“仿真到现实”（</a:t>
            </a:r>
            <a:r>
              <a:rPr lang="en-GB" b="0" i="0" dirty="0">
                <a:effectLst/>
                <a:latin typeface="Google Sans Flex"/>
              </a:rPr>
              <a:t>Sim-to-Real, Sim2Real）</a:t>
            </a:r>
            <a:r>
              <a:rPr lang="zh-CN" altLang="en-US" b="0" i="0" dirty="0">
                <a:effectLst/>
                <a:latin typeface="Google Sans Flex"/>
              </a:rPr>
              <a:t>的迁移范式应运而生，成为解决样本效率与安全性问题的标准解法真实世界的数据采集成本极其高昂。物理机器人不仅造价不菲，而且在训练初期，探索性策略往往会导致灾难性的硬件损坏。此外，真实时间的流逝速度限制了数据的吞吐量，使得动辄需要数亿次交互才能收敛的现代</a:t>
            </a:r>
            <a:r>
              <a:rPr lang="en-GB" b="0" i="0" dirty="0">
                <a:effectLst/>
                <a:latin typeface="Google Sans Flex"/>
              </a:rPr>
              <a:t>RL</a:t>
            </a:r>
            <a:r>
              <a:rPr lang="zh-CN" altLang="en-US" b="0" i="0" dirty="0">
                <a:effectLst/>
                <a:latin typeface="Google Sans Flex"/>
              </a:rPr>
              <a:t>算法在物理世界中显得不切实际。因此，“仿真到现实”（</a:t>
            </a:r>
            <a:r>
              <a:rPr lang="en-GB" b="0" i="0" dirty="0">
                <a:effectLst/>
                <a:latin typeface="Google Sans Flex"/>
              </a:rPr>
              <a:t>Sim-to-Real, Sim2Real）</a:t>
            </a:r>
            <a:r>
              <a:rPr lang="zh-CN" altLang="en-US" b="0" i="0" dirty="0">
                <a:effectLst/>
                <a:latin typeface="Google Sans Flex"/>
              </a:rPr>
              <a:t>的迁移范式应运而生，成为解决样本效率与安全性问题的标准解法真实世界的数据采集成本极其高昂。物理机器人不仅造价不菲，而且在训练初期，探索性策略往往会导致灾难性的硬件损坏。此外，真实时间的流逝速度限制了数据的吞吐量，使得动辄需要数亿次交互才能收敛的现代</a:t>
            </a:r>
            <a:r>
              <a:rPr lang="en-GB" b="0" i="0" dirty="0">
                <a:effectLst/>
                <a:latin typeface="Google Sans Flex"/>
              </a:rPr>
              <a:t>RL</a:t>
            </a:r>
            <a:r>
              <a:rPr lang="zh-CN" altLang="en-US" b="0" i="0" dirty="0">
                <a:effectLst/>
                <a:latin typeface="Google Sans Flex"/>
              </a:rPr>
              <a:t>算法在物理世界中显得不切实际。因此，“仿真到现实”（</a:t>
            </a:r>
            <a:r>
              <a:rPr lang="en-GB" b="0" i="0" dirty="0">
                <a:effectLst/>
                <a:latin typeface="Google Sans Flex"/>
              </a:rPr>
              <a:t>Sim-to-Real, Sim2Real）</a:t>
            </a:r>
            <a:r>
              <a:rPr lang="zh-CN" altLang="en-US" b="0" i="0" dirty="0">
                <a:effectLst/>
                <a:latin typeface="Google Sans Flex"/>
              </a:rPr>
              <a:t>的迁移范式应运而生，</a:t>
            </a:r>
            <a:r>
              <a:rPr lang="en-GB" altLang="zh-CN" b="0" i="0" dirty="0">
                <a:effectLst/>
                <a:latin typeface="Google Sans Flex"/>
              </a:rPr>
              <a:t>﻿Most</a:t>
            </a:r>
            <a:r>
              <a:rPr lang="zh-CN" altLang="en-US" b="0" i="0" dirty="0">
                <a:effectLst/>
                <a:latin typeface="Google Sans Flex"/>
              </a:rPr>
              <a:t> </a:t>
            </a:r>
            <a:r>
              <a:rPr lang="en-GB" altLang="zh-CN" b="0" i="0" dirty="0">
                <a:effectLst/>
                <a:latin typeface="Google Sans Flex"/>
              </a:rPr>
              <a:t>of the training and testing experiments are performed on a</a:t>
            </a:r>
            <a:r>
              <a:rPr lang="zh-CN" altLang="en-US" b="0" i="0" dirty="0">
                <a:effectLst/>
                <a:latin typeface="Google Sans Flex"/>
              </a:rPr>
              <a:t> </a:t>
            </a:r>
            <a:r>
              <a:rPr lang="en-GB" altLang="zh-CN" b="0" i="0" dirty="0">
                <a:effectLst/>
                <a:latin typeface="Google Sans Flex"/>
              </a:rPr>
              <a:t>desktop with Ubuntu 18.04, Inter 3.6GHz CPU with 32GB</a:t>
            </a:r>
            <a:r>
              <a:rPr lang="zh-CN" altLang="en-US" b="0" i="0" dirty="0">
                <a:effectLst/>
                <a:latin typeface="Google Sans Flex"/>
              </a:rPr>
              <a:t> </a:t>
            </a:r>
            <a:r>
              <a:rPr lang="en-GB" altLang="zh-CN" b="0" i="0" dirty="0">
                <a:effectLst/>
                <a:latin typeface="Google Sans Flex"/>
              </a:rPr>
              <a:t>RAM, and an Nvidia TITAN RTX GPU.</a:t>
            </a:r>
            <a:r>
              <a:rPr lang="zh-CN" altLang="en-US" b="0" i="0" dirty="0">
                <a:effectLst/>
                <a:latin typeface="Google Sans Flex"/>
              </a:rPr>
              <a:t>成为解决样本效率与安全性问题的标准解法真实世界的数据采集成本极其高昂。物理机器人不仅造价不菲，而且在训练初期，探索性策略往往会导致灾难性的硬件损坏。此外，真实时间的流逝速度限制了数据的吞吐量，使得动辄需要数亿次交互才能收敛的现代</a:t>
            </a:r>
            <a:r>
              <a:rPr lang="en-GB" b="0" i="0" dirty="0">
                <a:effectLst/>
                <a:latin typeface="Google Sans Flex"/>
              </a:rPr>
              <a:t>RL</a:t>
            </a:r>
            <a:r>
              <a:rPr lang="zh-CN" altLang="en-US" b="0" i="0" dirty="0">
                <a:effectLst/>
                <a:latin typeface="Google Sans Flex"/>
              </a:rPr>
              <a:t>算法在物理世界中显得不切实际。因此，“仿真到现实”（</a:t>
            </a:r>
            <a:r>
              <a:rPr lang="en-GB" b="0" i="0" dirty="0">
                <a:effectLst/>
                <a:latin typeface="Google Sans Flex"/>
              </a:rPr>
              <a:t>Sim-to-Real, Sim2Real）</a:t>
            </a:r>
            <a:r>
              <a:rPr lang="zh-CN" altLang="en-US" b="0" i="0" dirty="0">
                <a:effectLst/>
                <a:latin typeface="Google Sans Flex"/>
              </a:rPr>
              <a:t>的迁移范式应运而生，成为解决样本效率与安全性问题的标准解法真实世界的数据采集成本极其高昂。物理机器人不仅造价不菲，而且在训练初期，探索性策略往往会导致灾难性的硬件损坏。此外，真实时间的流逝速度限制了数据的吞吐量，使得动辄需要数亿次交互才能收敛的现代</a:t>
            </a:r>
            <a:r>
              <a:rPr lang="en-GB" b="0" i="0" dirty="0">
                <a:effectLst/>
                <a:latin typeface="Google Sans Flex"/>
              </a:rPr>
              <a:t>RL</a:t>
            </a:r>
            <a:r>
              <a:rPr lang="zh-CN" altLang="en-US" b="0" i="0" dirty="0">
                <a:effectLst/>
                <a:latin typeface="Google Sans Flex"/>
              </a:rPr>
              <a:t>算法在物理世界中显得不切实际。因此，“仿真到现实”（</a:t>
            </a:r>
            <a:r>
              <a:rPr lang="en-GB" b="0" i="0" dirty="0">
                <a:effectLst/>
                <a:latin typeface="Google Sans Flex"/>
              </a:rPr>
              <a:t>Sim-to-Real, Sim2Real）</a:t>
            </a:r>
            <a:r>
              <a:rPr lang="zh-CN" altLang="en-US" b="0" i="0" dirty="0">
                <a:effectLst/>
                <a:latin typeface="Google Sans Flex"/>
              </a:rPr>
              <a:t>的迁移范式应运而生，成为解决样本效率与安全性问题的标准解法真实世界的数据采集成本极其高昂。物理机器人不仅造价不菲，而且在训练初期，探索性策略往往会导致灾难性的硬件损坏。此外，真实时间的流逝速度限制了数据的吞吐量，使得动辄需要数亿次交互才能收敛的现代</a:t>
            </a:r>
            <a:r>
              <a:rPr lang="en-GB" b="0" i="0" dirty="0">
                <a:effectLst/>
                <a:latin typeface="Google Sans Flex"/>
              </a:rPr>
              <a:t>RL</a:t>
            </a:r>
            <a:r>
              <a:rPr lang="zh-CN" altLang="en-US" b="0" i="0" dirty="0">
                <a:effectLst/>
                <a:latin typeface="Google Sans Flex"/>
              </a:rPr>
              <a:t>算法在物理世界中显得不切实际。因此，“仿真到现实”（</a:t>
            </a:r>
            <a:r>
              <a:rPr lang="en-GB" b="0" i="0" dirty="0">
                <a:effectLst/>
                <a:latin typeface="Google Sans Flex"/>
              </a:rPr>
              <a:t>Sim-to-Real, Sim2Real）</a:t>
            </a:r>
            <a:r>
              <a:rPr lang="zh-CN" altLang="en-US" b="0" i="0" dirty="0">
                <a:effectLst/>
                <a:latin typeface="Google Sans Flex"/>
              </a:rPr>
              <a:t>的迁移范式应运而生，成为解决样本效率与安全性问题的标准解法真实世界的数据采集成本极其高昂。物理机器人不仅造价不菲，而且在训练初期，探索性策略往往会导致灾难性的硬件损坏。此外，真实时间的流逝速度限制了数据的吞吐量，使得动辄需要数亿次交互才能收敛的现代</a:t>
            </a:r>
            <a:r>
              <a:rPr lang="en-GB" b="0" i="0" dirty="0">
                <a:effectLst/>
                <a:latin typeface="Google Sans Flex"/>
              </a:rPr>
              <a:t>RL</a:t>
            </a:r>
            <a:r>
              <a:rPr lang="zh-CN" altLang="en-US" b="0" i="0" dirty="0">
                <a:effectLst/>
                <a:latin typeface="Google Sans Flex"/>
              </a:rPr>
              <a:t>算法在物理世界中显得不切实际。因此，“仿真到现实”（</a:t>
            </a:r>
            <a:r>
              <a:rPr lang="en-GB" b="0" i="0" dirty="0">
                <a:effectLst/>
                <a:latin typeface="Google Sans Flex"/>
              </a:rPr>
              <a:t>Sim-to-Real, Sim2Real）</a:t>
            </a:r>
            <a:r>
              <a:rPr lang="zh-CN" altLang="en-US" b="0" i="0" dirty="0">
                <a:effectLst/>
                <a:latin typeface="Google Sans Flex"/>
              </a:rPr>
              <a:t>的迁移范式应运而生，成为解决样本效率与安全性问题的标准解法真实世界的数据采集成本极其高昂。物理机器人不仅造价不菲，而且在训练初期，探索性策略往往会导致灾难性的硬件损坏。此外，真实时间的流逝速度限制了数据的吞吐量，使得动辄需要数亿次交互才能收敛的现代</a:t>
            </a:r>
            <a:r>
              <a:rPr lang="en-GB" b="0" i="0" dirty="0">
                <a:effectLst/>
                <a:latin typeface="Google Sans Flex"/>
              </a:rPr>
              <a:t>RL</a:t>
            </a:r>
            <a:r>
              <a:rPr lang="zh-CN" altLang="en-US" b="0" i="0" dirty="0">
                <a:effectLst/>
                <a:latin typeface="Google Sans Flex"/>
              </a:rPr>
              <a:t>算法在物理世界中显得不切实际。因此，“仿真到现实”（</a:t>
            </a:r>
            <a:r>
              <a:rPr lang="en-GB" b="0" i="0" dirty="0">
                <a:effectLst/>
                <a:latin typeface="Google Sans Flex"/>
              </a:rPr>
              <a:t>Sim-to-Real, Sim2Real）</a:t>
            </a:r>
            <a:r>
              <a:rPr lang="zh-CN" altLang="en-US" b="0" i="0" dirty="0">
                <a:effectLst/>
                <a:latin typeface="Google Sans Flex"/>
              </a:rPr>
              <a:t>的迁移范式应运而生，成为解决样本效率与安全性问题的标准解法</a:t>
            </a:r>
            <a:endParaRPr lang="en-US" altLang="zh-CN" b="0" i="0" dirty="0">
              <a:effectLst/>
              <a:latin typeface="Google Sans Flex"/>
            </a:endParaRPr>
          </a:p>
          <a:p>
            <a:pPr marL="0" indent="0">
              <a:buNone/>
            </a:pPr>
            <a:endParaRPr lang="en-US" altLang="zh-CN" b="0" i="0" dirty="0">
              <a:effectLst/>
              <a:latin typeface="Google Sans Flex"/>
            </a:endParaRPr>
          </a:p>
          <a:p>
            <a:endParaRPr lang="fr-FR" dirty="0"/>
          </a:p>
        </p:txBody>
      </p:sp>
    </p:spTree>
    <p:extLst>
      <p:ext uri="{BB962C8B-B14F-4D97-AF65-F5344CB8AC3E}">
        <p14:creationId xmlns:p14="http://schemas.microsoft.com/office/powerpoint/2010/main" val="4251465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A9BB-1581-2663-06DE-02983D7CA0CD}"/>
              </a:ext>
            </a:extLst>
          </p:cNvPr>
          <p:cNvSpPr>
            <a:spLocks noGrp="1"/>
          </p:cNvSpPr>
          <p:nvPr>
            <p:ph type="title"/>
          </p:nvPr>
        </p:nvSpPr>
        <p:spPr/>
        <p:txBody>
          <a:bodyPr/>
          <a:lstStyle/>
          <a:p>
            <a:r>
              <a:rPr lang="en-GB" b="1" i="0" dirty="0">
                <a:effectLst/>
                <a:latin typeface="Google Sans Flex"/>
              </a:rPr>
              <a:t>Sim-to-Real </a:t>
            </a:r>
            <a:r>
              <a:rPr lang="zh-CN" altLang="en-US" b="1" i="0" dirty="0">
                <a:effectLst/>
                <a:latin typeface="Google Sans Flex"/>
              </a:rPr>
              <a:t>差距的量化与评估指标</a:t>
            </a:r>
            <a:endParaRPr lang="fr-FR" dirty="0"/>
          </a:p>
        </p:txBody>
      </p:sp>
      <p:sp>
        <p:nvSpPr>
          <p:cNvPr id="3" name="Content Placeholder 2">
            <a:extLst>
              <a:ext uri="{FF2B5EF4-FFF2-40B4-BE49-F238E27FC236}">
                <a16:creationId xmlns:a16="http://schemas.microsoft.com/office/drawing/2014/main" id="{7DE006C2-E250-3B3D-AA53-25E7BA1A2520}"/>
              </a:ext>
            </a:extLst>
          </p:cNvPr>
          <p:cNvSpPr>
            <a:spLocks noGrp="1"/>
          </p:cNvSpPr>
          <p:nvPr>
            <p:ph idx="1"/>
          </p:nvPr>
        </p:nvSpPr>
        <p:spPr/>
        <p:txBody>
          <a:bodyPr>
            <a:normAutofit fontScale="70000" lnSpcReduction="20000"/>
          </a:bodyPr>
          <a:lstStyle/>
          <a:p>
            <a:pPr>
              <a:lnSpc>
                <a:spcPct val="120000"/>
              </a:lnSpc>
            </a:pPr>
            <a:r>
              <a:rPr lang="zh-CN" altLang="en-US" dirty="0">
                <a:effectLst/>
              </a:rPr>
              <a:t>为了科学地衡量仿真环境的有效性，研究界提出了一系列评估指标。</a:t>
            </a:r>
          </a:p>
          <a:p>
            <a:pPr>
              <a:lnSpc>
                <a:spcPct val="120000"/>
              </a:lnSpc>
            </a:pPr>
            <a:r>
              <a:rPr lang="zh-CN" altLang="en-US" b="1" dirty="0">
                <a:effectLst/>
              </a:rPr>
              <a:t>性能指标（</a:t>
            </a:r>
            <a:r>
              <a:rPr lang="en-GB" b="1" dirty="0">
                <a:effectLst/>
              </a:rPr>
              <a:t>Performance Metrics）</a:t>
            </a:r>
            <a:endParaRPr lang="en-GB" dirty="0">
              <a:effectLst/>
            </a:endParaRPr>
          </a:p>
          <a:p>
            <a:pPr>
              <a:lnSpc>
                <a:spcPct val="120000"/>
              </a:lnSpc>
              <a:buFont typeface="Arial" panose="020B0604020202020204" pitchFamily="34" charset="0"/>
              <a:buChar char="•"/>
            </a:pPr>
            <a:r>
              <a:rPr lang="zh-CN" altLang="en-US" b="1" dirty="0">
                <a:effectLst/>
              </a:rPr>
              <a:t>任务成功率（</a:t>
            </a:r>
            <a:r>
              <a:rPr lang="en-GB" b="1" dirty="0">
                <a:effectLst/>
              </a:rPr>
              <a:t>Success Rate, SR）</a:t>
            </a:r>
            <a:r>
              <a:rPr lang="en-GB" dirty="0">
                <a:effectLst/>
              </a:rPr>
              <a:t>：</a:t>
            </a:r>
            <a:r>
              <a:rPr lang="zh-CN" altLang="en-US" dirty="0">
                <a:effectLst/>
              </a:rPr>
              <a:t>最直观的指标，如切割成功率、缝合完成率。</a:t>
            </a:r>
          </a:p>
          <a:p>
            <a:pPr>
              <a:lnSpc>
                <a:spcPct val="120000"/>
              </a:lnSpc>
              <a:buFont typeface="Arial" panose="020B0604020202020204" pitchFamily="34" charset="0"/>
              <a:buChar char="•"/>
            </a:pPr>
            <a:r>
              <a:rPr lang="en-GB" b="1" dirty="0">
                <a:effectLst/>
              </a:rPr>
              <a:t>GEARS </a:t>
            </a:r>
            <a:r>
              <a:rPr lang="zh-CN" altLang="en-US" b="1" dirty="0">
                <a:effectLst/>
              </a:rPr>
              <a:t>评分</a:t>
            </a:r>
            <a:r>
              <a:rPr lang="zh-CN" altLang="en-US" dirty="0">
                <a:effectLst/>
              </a:rPr>
              <a:t>：借鉴临床评估体系，从深度感知（</a:t>
            </a:r>
            <a:r>
              <a:rPr lang="en-GB" dirty="0">
                <a:effectLst/>
              </a:rPr>
              <a:t>Depth Perception）、</a:t>
            </a:r>
            <a:r>
              <a:rPr lang="zh-CN" altLang="en-US" dirty="0">
                <a:effectLst/>
              </a:rPr>
              <a:t>双利手能力（</a:t>
            </a:r>
            <a:r>
              <a:rPr lang="en-GB" dirty="0">
                <a:effectLst/>
              </a:rPr>
              <a:t>Bimanual Dexterity）、</a:t>
            </a:r>
            <a:r>
              <a:rPr lang="zh-CN" altLang="en-US" dirty="0">
                <a:effectLst/>
              </a:rPr>
              <a:t>效率（</a:t>
            </a:r>
            <a:r>
              <a:rPr lang="en-GB" dirty="0">
                <a:effectLst/>
              </a:rPr>
              <a:t>Efficiency）、</a:t>
            </a:r>
            <a:r>
              <a:rPr lang="zh-CN" altLang="en-US" dirty="0">
                <a:effectLst/>
              </a:rPr>
              <a:t>组织处理（</a:t>
            </a:r>
            <a:r>
              <a:rPr lang="en-GB" dirty="0">
                <a:effectLst/>
              </a:rPr>
              <a:t>Tissue Handling）</a:t>
            </a:r>
            <a:r>
              <a:rPr lang="zh-CN" altLang="en-US" dirty="0">
                <a:effectLst/>
              </a:rPr>
              <a:t>等维度对机器人操作进行打分 。   </a:t>
            </a:r>
          </a:p>
          <a:p>
            <a:pPr>
              <a:lnSpc>
                <a:spcPct val="120000"/>
              </a:lnSpc>
              <a:buFont typeface="Arial" panose="020B0604020202020204" pitchFamily="34" charset="0"/>
              <a:buChar char="•"/>
            </a:pPr>
            <a:r>
              <a:rPr lang="zh-CN" altLang="en-US" b="1" dirty="0">
                <a:effectLst/>
              </a:rPr>
              <a:t>定位误差</a:t>
            </a:r>
            <a:r>
              <a:rPr lang="zh-CN" altLang="en-US" dirty="0">
                <a:effectLst/>
              </a:rPr>
              <a:t>：在 </a:t>
            </a:r>
            <a:r>
              <a:rPr lang="en-GB" dirty="0">
                <a:effectLst/>
              </a:rPr>
              <a:t>ISP </a:t>
            </a:r>
            <a:r>
              <a:rPr lang="zh-CN" altLang="en-US" dirty="0">
                <a:effectLst/>
              </a:rPr>
              <a:t>任务中，目标点与实际点的欧氏距离（</a:t>
            </a:r>
            <a:r>
              <a:rPr lang="en-GB" dirty="0">
                <a:effectLst/>
              </a:rPr>
              <a:t>RMSE）。   </a:t>
            </a:r>
          </a:p>
          <a:p>
            <a:pPr>
              <a:lnSpc>
                <a:spcPct val="120000"/>
              </a:lnSpc>
            </a:pPr>
            <a:r>
              <a:rPr lang="zh-CN" altLang="en-US" b="1" dirty="0">
                <a:effectLst/>
              </a:rPr>
              <a:t>现实鸿沟度量（</a:t>
            </a:r>
            <a:r>
              <a:rPr lang="en-GB" b="1" dirty="0">
                <a:effectLst/>
              </a:rPr>
              <a:t>Reality Gap Metrics）</a:t>
            </a:r>
            <a:endParaRPr lang="en-GB" dirty="0">
              <a:effectLst/>
            </a:endParaRPr>
          </a:p>
          <a:p>
            <a:pPr>
              <a:lnSpc>
                <a:spcPct val="120000"/>
              </a:lnSpc>
              <a:buFont typeface="Arial" panose="020B0604020202020204" pitchFamily="34" charset="0"/>
              <a:buChar char="•"/>
            </a:pPr>
            <a:r>
              <a:rPr lang="en-GB" b="1" dirty="0">
                <a:effectLst/>
              </a:rPr>
              <a:t>Fréchet </a:t>
            </a:r>
            <a:r>
              <a:rPr lang="zh-CN" altLang="en-US" b="1" dirty="0">
                <a:effectLst/>
              </a:rPr>
              <a:t>距离</a:t>
            </a:r>
            <a:r>
              <a:rPr lang="zh-CN" altLang="en-US" dirty="0">
                <a:effectLst/>
              </a:rPr>
              <a:t>：用于衡量仿真轨迹与真实轨迹之间的分布差异。</a:t>
            </a:r>
          </a:p>
          <a:p>
            <a:pPr>
              <a:lnSpc>
                <a:spcPct val="120000"/>
              </a:lnSpc>
              <a:buFont typeface="Arial" panose="020B0604020202020204" pitchFamily="34" charset="0"/>
              <a:buChar char="•"/>
            </a:pPr>
            <a:r>
              <a:rPr lang="zh-CN" altLang="en-US" b="1" i="0" dirty="0">
                <a:effectLst/>
                <a:latin typeface="Google Sans Flex"/>
              </a:rPr>
              <a:t>预测误差</a:t>
            </a:r>
            <a:r>
              <a:rPr lang="zh-CN" altLang="en-US" b="0" i="0" dirty="0">
                <a:effectLst/>
                <a:latin typeface="Google Sans Flex"/>
              </a:rPr>
              <a:t>：在给定相同控制输入的情况下，仿真器预测的下一状态与真实系统下一状态之间的差异（</a:t>
            </a:r>
            <a:r>
              <a:rPr lang="en-GB" b="0" i="0" dirty="0">
                <a:effectLst/>
                <a:latin typeface="Google Sans Flex"/>
              </a:rPr>
              <a:t>Sim2Real Predictivity）</a:t>
            </a:r>
            <a:endParaRPr lang="en-GB" dirty="0">
              <a:effectLst/>
            </a:endParaRPr>
          </a:p>
          <a:p>
            <a:pPr>
              <a:lnSpc>
                <a:spcPct val="120000"/>
              </a:lnSpc>
            </a:pPr>
            <a:endParaRPr lang="fr-FR" dirty="0"/>
          </a:p>
        </p:txBody>
      </p:sp>
    </p:spTree>
    <p:extLst>
      <p:ext uri="{BB962C8B-B14F-4D97-AF65-F5344CB8AC3E}">
        <p14:creationId xmlns:p14="http://schemas.microsoft.com/office/powerpoint/2010/main" val="13117814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5BAF8-01C8-03C1-F26A-9FF5D2825584}"/>
              </a:ext>
            </a:extLst>
          </p:cNvPr>
          <p:cNvSpPr>
            <a:spLocks noGrp="1"/>
          </p:cNvSpPr>
          <p:nvPr>
            <p:ph type="title"/>
          </p:nvPr>
        </p:nvSpPr>
        <p:spPr/>
        <p:txBody>
          <a:bodyPr/>
          <a:lstStyle/>
          <a:p>
            <a:endParaRPr lang="fr-FR"/>
          </a:p>
        </p:txBody>
      </p:sp>
      <p:sp>
        <p:nvSpPr>
          <p:cNvPr id="3" name="Content Placeholder 2">
            <a:extLst>
              <a:ext uri="{FF2B5EF4-FFF2-40B4-BE49-F238E27FC236}">
                <a16:creationId xmlns:a16="http://schemas.microsoft.com/office/drawing/2014/main" id="{8783C119-A8AF-3A06-1410-5DC9197BEFCC}"/>
              </a:ext>
            </a:extLst>
          </p:cNvPr>
          <p:cNvSpPr>
            <a:spLocks noGrp="1"/>
          </p:cNvSpPr>
          <p:nvPr>
            <p:ph idx="1"/>
          </p:nvPr>
        </p:nvSpPr>
        <p:spPr/>
        <p:txBody>
          <a:bodyPr/>
          <a:lstStyle/>
          <a:p>
            <a:pPr marL="0" lvl="0" indent="0">
              <a:spcAft>
                <a:spcPts val="500"/>
              </a:spcAft>
              <a:buNone/>
            </a:pPr>
            <a:r>
              <a:rPr lang="fr-FR" altLang="zh-CN" sz="2000" i="0" dirty="0">
                <a:effectLst/>
                <a:latin typeface="Google Sans Flex"/>
              </a:rPr>
              <a:t>-</a:t>
            </a:r>
            <a:r>
              <a:rPr lang="zh-CN" altLang="fr-FR" sz="2000" i="0" dirty="0">
                <a:effectLst/>
                <a:latin typeface="Google Sans Flex"/>
              </a:rPr>
              <a:t>物理</a:t>
            </a:r>
            <a:r>
              <a:rPr lang="zh-CN" altLang="en-US" sz="2000" i="0" dirty="0">
                <a:effectLst/>
                <a:latin typeface="Google Sans Flex"/>
              </a:rPr>
              <a:t>层面（ 精细力学传导的任务，大型拓扑改变）</a:t>
            </a:r>
            <a:endParaRPr lang="en-US" altLang="zh-CN" sz="2000" i="0" dirty="0">
              <a:effectLst/>
              <a:latin typeface="Google Sans Flex"/>
            </a:endParaRPr>
          </a:p>
          <a:p>
            <a:pPr marL="0" lvl="0" indent="0">
              <a:spcAft>
                <a:spcPts val="500"/>
              </a:spcAft>
              <a:buNone/>
            </a:pPr>
            <a:r>
              <a:rPr lang="en-US" altLang="zh-CN" sz="2000" dirty="0">
                <a:latin typeface="Google Sans Flex"/>
              </a:rPr>
              <a:t>-</a:t>
            </a:r>
            <a:r>
              <a:rPr lang="zh-CN" altLang="en-US" sz="2000" dirty="0">
                <a:latin typeface="Google Sans Flex"/>
              </a:rPr>
              <a:t>视觉层面 （域</a:t>
            </a:r>
            <a:r>
              <a:rPr lang="zh-CN" altLang="en-FR" sz="2000" dirty="0">
                <a:latin typeface="Google Sans Flex"/>
              </a:rPr>
              <a:t>随机化</a:t>
            </a:r>
            <a:r>
              <a:rPr lang="zh-CN" altLang="en-US" sz="2000" dirty="0">
                <a:latin typeface="Google Sans Flex"/>
              </a:rPr>
              <a:t>）</a:t>
            </a:r>
            <a:endParaRPr lang="en-US" altLang="zh-CN" sz="2000" dirty="0">
              <a:latin typeface="Google Sans Flex"/>
            </a:endParaRPr>
          </a:p>
          <a:p>
            <a:pPr marL="0" lvl="0" indent="0">
              <a:spcAft>
                <a:spcPts val="500"/>
              </a:spcAft>
              <a:buNone/>
            </a:pPr>
            <a:r>
              <a:rPr lang="en-US" altLang="zh-CN" sz="2000" dirty="0">
                <a:latin typeface="Google Sans Flex"/>
              </a:rPr>
              <a:t>-</a:t>
            </a:r>
            <a:r>
              <a:rPr lang="zh-CN" altLang="en-US" sz="2000" dirty="0">
                <a:latin typeface="Google Sans Flex"/>
              </a:rPr>
              <a:t> 仿真</a:t>
            </a:r>
            <a:r>
              <a:rPr lang="zh-CN" altLang="en-US" sz="2000" i="0" dirty="0">
                <a:effectLst/>
                <a:latin typeface="Google Sans Flex"/>
              </a:rPr>
              <a:t>速度</a:t>
            </a:r>
            <a:endParaRPr lang="en-US" altLang="zh-CN" sz="2000" i="0" dirty="0">
              <a:effectLst/>
              <a:latin typeface="Google Sans Flex"/>
            </a:endParaRPr>
          </a:p>
          <a:p>
            <a:pPr marL="0" lvl="0" indent="0">
              <a:spcAft>
                <a:spcPts val="500"/>
              </a:spcAft>
              <a:buNone/>
            </a:pPr>
            <a:endParaRPr lang="en-US" altLang="zh-CN" sz="2000" dirty="0">
              <a:latin typeface="Google Sans Flex"/>
            </a:endParaRPr>
          </a:p>
          <a:p>
            <a:pPr marL="0" lvl="0" indent="0">
              <a:spcAft>
                <a:spcPts val="500"/>
              </a:spcAft>
              <a:buNone/>
            </a:pPr>
            <a:endParaRPr lang="en-US" altLang="zh-CN" sz="2000" i="0" dirty="0">
              <a:effectLst/>
              <a:latin typeface="Google Sans Flex"/>
            </a:endParaRPr>
          </a:p>
          <a:p>
            <a:pPr marL="0" lvl="0" indent="0">
              <a:spcAft>
                <a:spcPts val="500"/>
              </a:spcAft>
              <a:buNone/>
            </a:pPr>
            <a:endParaRPr lang="fr-FR" altLang="zh-CN" sz="2000" i="0" dirty="0">
              <a:effectLst/>
              <a:latin typeface="Google Sans Flex"/>
            </a:endParaRPr>
          </a:p>
          <a:p>
            <a:pPr marL="342900" lvl="0" indent="-342900">
              <a:spcAft>
                <a:spcPts val="500"/>
              </a:spcAft>
              <a:buFont typeface="Wingdings" pitchFamily="2" charset="2"/>
              <a:buChar char=""/>
            </a:pPr>
            <a:endParaRPr lang="fr-FR" altLang="zh-CN" sz="1200" b="1" dirty="0">
              <a:solidFill>
                <a:srgbClr val="E3E3E3"/>
              </a:solidFill>
              <a:latin typeface="Google Sans Flex"/>
            </a:endParaRPr>
          </a:p>
          <a:p>
            <a:pPr marL="342900" lvl="0" indent="-342900">
              <a:spcAft>
                <a:spcPts val="500"/>
              </a:spcAft>
              <a:buFont typeface="Wingdings" pitchFamily="2" charset="2"/>
              <a:buChar char=""/>
            </a:pPr>
            <a:r>
              <a:rPr lang="zh-CN" altLang="en-US" sz="1200" b="1" i="0" dirty="0">
                <a:solidFill>
                  <a:schemeClr val="bg2">
                    <a:lumMod val="75000"/>
                  </a:schemeClr>
                </a:solidFill>
                <a:effectLst/>
                <a:latin typeface="Google Sans Flex"/>
              </a:rPr>
              <a:t>扩散策略（</a:t>
            </a:r>
            <a:r>
              <a:rPr lang="en-GB" sz="1200" b="1" i="0" dirty="0">
                <a:solidFill>
                  <a:schemeClr val="bg2">
                    <a:lumMod val="75000"/>
                  </a:schemeClr>
                </a:solidFill>
                <a:effectLst/>
                <a:latin typeface="Google Sans Flex"/>
              </a:rPr>
              <a:t>Diffusion Policy）</a:t>
            </a:r>
            <a:r>
              <a:rPr lang="en-GB" sz="1200" b="0" i="0" dirty="0">
                <a:solidFill>
                  <a:schemeClr val="bg2">
                    <a:lumMod val="75000"/>
                  </a:schemeClr>
                </a:solidFill>
                <a:effectLst/>
                <a:latin typeface="Google Sans Flex"/>
              </a:rPr>
              <a:t>：</a:t>
            </a:r>
            <a:r>
              <a:rPr lang="zh-CN" altLang="en-US" sz="1200" b="0" i="0" dirty="0">
                <a:solidFill>
                  <a:schemeClr val="bg2">
                    <a:lumMod val="75000"/>
                  </a:schemeClr>
                </a:solidFill>
                <a:effectLst/>
                <a:latin typeface="Google Sans Flex"/>
              </a:rPr>
              <a:t>最近，基于扩散模型的模仿学习在手术机器人中展现出惊人的鲁棒性。</a:t>
            </a:r>
            <a:r>
              <a:rPr lang="en-GB" sz="1200" b="0" i="0" dirty="0">
                <a:solidFill>
                  <a:schemeClr val="bg2">
                    <a:lumMod val="75000"/>
                  </a:schemeClr>
                </a:solidFill>
                <a:effectLst/>
                <a:latin typeface="Google Sans Flex"/>
              </a:rPr>
              <a:t>DP4AuSu </a:t>
            </a:r>
            <a:r>
              <a:rPr lang="zh-CN" altLang="en-US" sz="1200" b="0" i="0" dirty="0">
                <a:solidFill>
                  <a:schemeClr val="bg2">
                    <a:lumMod val="75000"/>
                  </a:schemeClr>
                </a:solidFill>
                <a:effectLst/>
                <a:latin typeface="Google Sans Flex"/>
              </a:rPr>
              <a:t>框架  和 </a:t>
            </a:r>
            <a:r>
              <a:rPr lang="en-GB" sz="1200" b="0" i="0" dirty="0">
                <a:solidFill>
                  <a:schemeClr val="bg2">
                    <a:lumMod val="75000"/>
                  </a:schemeClr>
                </a:solidFill>
                <a:effectLst/>
                <a:latin typeface="Google Sans Flex"/>
              </a:rPr>
              <a:t>DSP </a:t>
            </a:r>
            <a:r>
              <a:rPr lang="zh-CN" altLang="en-US" sz="1200" b="0" i="0" dirty="0">
                <a:solidFill>
                  <a:schemeClr val="bg2">
                    <a:lumMod val="75000"/>
                  </a:schemeClr>
                </a:solidFill>
                <a:effectLst/>
                <a:latin typeface="Google Sans Flex"/>
              </a:rPr>
              <a:t>策略  利用扩散模型生成动作，不仅能捕捉人类操作的多模态特性（即同一任务有多种解法），还能通过去噪过程平滑轨迹。在 </a:t>
            </a:r>
            <a:r>
              <a:rPr lang="en-GB" sz="1200" b="0" i="0" dirty="0" err="1">
                <a:solidFill>
                  <a:schemeClr val="bg2">
                    <a:lumMod val="75000"/>
                  </a:schemeClr>
                </a:solidFill>
                <a:effectLst/>
                <a:latin typeface="Google Sans Flex"/>
              </a:rPr>
              <a:t>dVRK</a:t>
            </a:r>
            <a:r>
              <a:rPr lang="en-GB" sz="1200" b="0" i="0" dirty="0">
                <a:solidFill>
                  <a:schemeClr val="bg2">
                    <a:lumMod val="75000"/>
                  </a:schemeClr>
                </a:solidFill>
                <a:effectLst/>
                <a:latin typeface="Google Sans Flex"/>
              </a:rPr>
              <a:t> </a:t>
            </a:r>
            <a:r>
              <a:rPr lang="zh-CN" altLang="en-US" sz="1200" b="0" i="0" dirty="0">
                <a:solidFill>
                  <a:schemeClr val="bg2">
                    <a:lumMod val="75000"/>
                  </a:schemeClr>
                </a:solidFill>
                <a:effectLst/>
                <a:latin typeface="Google Sans Flex"/>
              </a:rPr>
              <a:t>的缝合实验中，基于扩散策略的方法实现了 </a:t>
            </a:r>
            <a:r>
              <a:rPr lang="en-US" altLang="zh-CN" sz="1200" b="0" i="0" dirty="0">
                <a:solidFill>
                  <a:schemeClr val="bg2">
                    <a:lumMod val="75000"/>
                  </a:schemeClr>
                </a:solidFill>
                <a:effectLst/>
                <a:latin typeface="Google Sans Flex"/>
              </a:rPr>
              <a:t>85% </a:t>
            </a:r>
            <a:r>
              <a:rPr lang="zh-CN" altLang="en-US" sz="1200" b="0" i="0" dirty="0">
                <a:solidFill>
                  <a:schemeClr val="bg2">
                    <a:lumMod val="75000"/>
                  </a:schemeClr>
                </a:solidFill>
                <a:effectLst/>
                <a:latin typeface="Google Sans Flex"/>
              </a:rPr>
              <a:t>的真机成功率，且在面对扰动时表现出极强的恢复能力</a:t>
            </a:r>
            <a:endParaRPr lang="en-FR" sz="1800" dirty="0">
              <a:solidFill>
                <a:schemeClr val="bg2">
                  <a:lumMod val="75000"/>
                </a:schemeClr>
              </a:solidFill>
              <a:effectLst/>
              <a:latin typeface="Times New Roman" panose="02020603050405020304" pitchFamily="18" charset="0"/>
              <a:ea typeface="Times New Roman" panose="02020603050405020304" pitchFamily="18" charset="0"/>
            </a:endParaRPr>
          </a:p>
          <a:p>
            <a:endParaRPr lang="fr-FR" dirty="0"/>
          </a:p>
        </p:txBody>
      </p:sp>
      <p:pic>
        <p:nvPicPr>
          <p:cNvPr id="5" name="Picture 4">
            <a:extLst>
              <a:ext uri="{FF2B5EF4-FFF2-40B4-BE49-F238E27FC236}">
                <a16:creationId xmlns:a16="http://schemas.microsoft.com/office/drawing/2014/main" id="{699C6A32-67DF-C496-94FF-B53B9D00CB99}"/>
              </a:ext>
            </a:extLst>
          </p:cNvPr>
          <p:cNvPicPr>
            <a:picLocks noChangeAspect="1"/>
          </p:cNvPicPr>
          <p:nvPr/>
        </p:nvPicPr>
        <p:blipFill>
          <a:blip r:embed="rId2"/>
          <a:stretch>
            <a:fillRect/>
          </a:stretch>
        </p:blipFill>
        <p:spPr>
          <a:xfrm>
            <a:off x="1039254" y="3239294"/>
            <a:ext cx="4673600" cy="1524000"/>
          </a:xfrm>
          <a:prstGeom prst="rect">
            <a:avLst/>
          </a:prstGeom>
        </p:spPr>
      </p:pic>
      <p:pic>
        <p:nvPicPr>
          <p:cNvPr id="7" name="Picture 6">
            <a:extLst>
              <a:ext uri="{FF2B5EF4-FFF2-40B4-BE49-F238E27FC236}">
                <a16:creationId xmlns:a16="http://schemas.microsoft.com/office/drawing/2014/main" id="{38F598C3-5CEA-CF8E-3618-D7F67F556EA7}"/>
              </a:ext>
            </a:extLst>
          </p:cNvPr>
          <p:cNvPicPr>
            <a:picLocks noChangeAspect="1"/>
          </p:cNvPicPr>
          <p:nvPr/>
        </p:nvPicPr>
        <p:blipFill>
          <a:blip r:embed="rId3"/>
          <a:stretch>
            <a:fillRect/>
          </a:stretch>
        </p:blipFill>
        <p:spPr>
          <a:xfrm>
            <a:off x="7191598" y="2525157"/>
            <a:ext cx="3961148" cy="2238137"/>
          </a:xfrm>
          <a:prstGeom prst="rect">
            <a:avLst/>
          </a:prstGeom>
        </p:spPr>
      </p:pic>
    </p:spTree>
    <p:extLst>
      <p:ext uri="{BB962C8B-B14F-4D97-AF65-F5344CB8AC3E}">
        <p14:creationId xmlns:p14="http://schemas.microsoft.com/office/powerpoint/2010/main" val="29955770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2727-6D27-AC59-6769-3DDAAF1EE8D9}"/>
              </a:ext>
            </a:extLst>
          </p:cNvPr>
          <p:cNvSpPr>
            <a:spLocks noGrp="1"/>
          </p:cNvSpPr>
          <p:nvPr>
            <p:ph type="title"/>
          </p:nvPr>
        </p:nvSpPr>
        <p:spPr/>
        <p:txBody>
          <a:bodyPr/>
          <a:lstStyle/>
          <a:p>
            <a:endParaRPr lang="fr-FR"/>
          </a:p>
        </p:txBody>
      </p:sp>
      <p:sp>
        <p:nvSpPr>
          <p:cNvPr id="3" name="Content Placeholder 2">
            <a:extLst>
              <a:ext uri="{FF2B5EF4-FFF2-40B4-BE49-F238E27FC236}">
                <a16:creationId xmlns:a16="http://schemas.microsoft.com/office/drawing/2014/main" id="{53AECE68-AA81-6275-0A72-83A1051FE82C}"/>
              </a:ext>
            </a:extLst>
          </p:cNvPr>
          <p:cNvSpPr>
            <a:spLocks noGrp="1"/>
          </p:cNvSpPr>
          <p:nvPr>
            <p:ph idx="1"/>
          </p:nvPr>
        </p:nvSpPr>
        <p:spPr/>
        <p:txBody>
          <a:bodyPr/>
          <a:lstStyle/>
          <a:p>
            <a:r>
              <a:rPr lang="en-GB" b="1" i="0" dirty="0">
                <a:effectLst/>
                <a:latin typeface="Google Sans Flex"/>
              </a:rPr>
              <a:t>ORBIT-Surgical </a:t>
            </a:r>
            <a:r>
              <a:rPr lang="zh-CN" altLang="en-US" b="1" i="0" dirty="0">
                <a:effectLst/>
                <a:latin typeface="Google Sans Flex"/>
              </a:rPr>
              <a:t>仿真框架</a:t>
            </a:r>
            <a:r>
              <a:rPr lang="zh-CN" altLang="en-US" b="0" i="0" dirty="0">
                <a:effectLst/>
                <a:latin typeface="Google Sans Flex"/>
              </a:rPr>
              <a:t> </a:t>
            </a:r>
            <a:endParaRPr lang="en-US" altLang="zh-CN" b="0" i="0" dirty="0">
              <a:effectLst/>
              <a:latin typeface="Google Sans Flex"/>
            </a:endParaRPr>
          </a:p>
          <a:p>
            <a:r>
              <a:rPr lang="zh-CN" altLang="en-US" b="0" i="0" dirty="0">
                <a:effectLst/>
                <a:latin typeface="Google Sans Flex"/>
              </a:rPr>
              <a:t>在 </a:t>
            </a:r>
            <a:r>
              <a:rPr lang="en-GB" b="0" i="0" dirty="0">
                <a:effectLst/>
                <a:latin typeface="Google Sans Flex"/>
              </a:rPr>
              <a:t>ORBIT-Surgical </a:t>
            </a:r>
            <a:r>
              <a:rPr lang="zh-CN" altLang="en-US" b="0" i="0" dirty="0">
                <a:effectLst/>
                <a:latin typeface="Google Sans Flex"/>
              </a:rPr>
              <a:t>中，利用 </a:t>
            </a:r>
            <a:r>
              <a:rPr lang="en-GB" b="0" i="0" dirty="0">
                <a:effectLst/>
                <a:latin typeface="Google Sans Flex"/>
              </a:rPr>
              <a:t>PhysX 5 </a:t>
            </a:r>
            <a:r>
              <a:rPr lang="zh-CN" altLang="en-US" b="0" i="0" dirty="0">
                <a:effectLst/>
                <a:latin typeface="Google Sans Flex"/>
              </a:rPr>
              <a:t>的 </a:t>
            </a:r>
            <a:r>
              <a:rPr lang="en-GB" b="0" i="0" dirty="0">
                <a:effectLst/>
                <a:latin typeface="Google Sans Flex"/>
              </a:rPr>
              <a:t>FEM </a:t>
            </a:r>
            <a:r>
              <a:rPr lang="zh-CN" altLang="en-US" b="0" i="0" dirty="0">
                <a:effectLst/>
                <a:latin typeface="Google Sans Flex"/>
              </a:rPr>
              <a:t>求解器，可以精确模拟组织的体积守恒和应力分布。</a:t>
            </a:r>
            <a:r>
              <a:rPr lang="en-GB" b="0" i="0" dirty="0" err="1">
                <a:effectLst/>
                <a:latin typeface="Google Sans Flex"/>
              </a:rPr>
              <a:t>Ou</a:t>
            </a:r>
            <a:r>
              <a:rPr lang="en-GB" b="0" i="0" dirty="0">
                <a:effectLst/>
                <a:latin typeface="Google Sans Flex"/>
              </a:rPr>
              <a:t> </a:t>
            </a:r>
            <a:r>
              <a:rPr lang="zh-CN" altLang="en-US" b="0" i="0" dirty="0">
                <a:effectLst/>
                <a:latin typeface="Google Sans Flex"/>
              </a:rPr>
              <a:t>等人  的研究展示了基于 </a:t>
            </a:r>
            <a:r>
              <a:rPr lang="en-GB" b="0" i="0" dirty="0">
                <a:effectLst/>
                <a:latin typeface="Google Sans Flex"/>
              </a:rPr>
              <a:t>FEM </a:t>
            </a:r>
            <a:r>
              <a:rPr lang="zh-CN" altLang="en-US" b="0" i="0" dirty="0">
                <a:effectLst/>
                <a:latin typeface="Google Sans Flex"/>
              </a:rPr>
              <a:t>的仿真在组织内部点定位（</a:t>
            </a:r>
            <a:r>
              <a:rPr lang="en-GB" b="0" i="0" dirty="0">
                <a:effectLst/>
                <a:latin typeface="Google Sans Flex"/>
              </a:rPr>
              <a:t>Internal Tissue Point Manipulation）</a:t>
            </a:r>
            <a:r>
              <a:rPr lang="zh-CN" altLang="en-US" b="0" i="0" dirty="0">
                <a:effectLst/>
                <a:latin typeface="Google Sans Flex"/>
              </a:rPr>
              <a:t>任务中的优势：在 </a:t>
            </a:r>
            <a:r>
              <a:rPr lang="en-GB" b="0" i="0" dirty="0">
                <a:effectLst/>
                <a:latin typeface="Google Sans Flex"/>
              </a:rPr>
              <a:t>FEM </a:t>
            </a:r>
            <a:r>
              <a:rPr lang="zh-CN" altLang="en-US" b="0" i="0" dirty="0">
                <a:effectLst/>
                <a:latin typeface="Google Sans Flex"/>
              </a:rPr>
              <a:t>环境中训练的 </a:t>
            </a:r>
            <a:r>
              <a:rPr lang="en-GB" b="0" i="0" dirty="0">
                <a:effectLst/>
                <a:latin typeface="Google Sans Flex"/>
              </a:rPr>
              <a:t>RL </a:t>
            </a:r>
            <a:r>
              <a:rPr lang="zh-CN" altLang="en-US" b="0" i="0" dirty="0">
                <a:effectLst/>
                <a:latin typeface="Google Sans Flex"/>
              </a:rPr>
              <a:t>策略，能够准确预测组织在外部施力下的内部形变场，从而实现高精度的间接定位。</a:t>
            </a:r>
            <a:endParaRPr lang="en-US" altLang="zh-CN" b="0" i="0" dirty="0">
              <a:effectLst/>
              <a:latin typeface="Google Sans Flex"/>
            </a:endParaRPr>
          </a:p>
          <a:p>
            <a:r>
              <a:rPr lang="en-GB" b="1" i="0" dirty="0" err="1">
                <a:effectLst/>
                <a:latin typeface="Google Sans Flex"/>
              </a:rPr>
              <a:t>SurgicAI</a:t>
            </a:r>
            <a:r>
              <a:rPr lang="en-GB" b="1" i="0" dirty="0">
                <a:effectLst/>
                <a:latin typeface="Google Sans Flex"/>
              </a:rPr>
              <a:t> </a:t>
            </a:r>
            <a:r>
              <a:rPr lang="zh-CN" altLang="en-US" b="1" i="0" dirty="0">
                <a:effectLst/>
                <a:latin typeface="Google Sans Flex"/>
              </a:rPr>
              <a:t>平台</a:t>
            </a:r>
            <a:endParaRPr lang="fr-FR" dirty="0"/>
          </a:p>
        </p:txBody>
      </p:sp>
    </p:spTree>
    <p:extLst>
      <p:ext uri="{BB962C8B-B14F-4D97-AF65-F5344CB8AC3E}">
        <p14:creationId xmlns:p14="http://schemas.microsoft.com/office/powerpoint/2010/main" val="1296776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7BB00BD-F288-6DF5-A65E-A605E38A24F8}"/>
              </a:ext>
            </a:extLst>
          </p:cNvPr>
          <p:cNvPicPr>
            <a:picLocks noGrp="1" noChangeAspect="1"/>
          </p:cNvPicPr>
          <p:nvPr>
            <p:ph idx="1"/>
          </p:nvPr>
        </p:nvPicPr>
        <p:blipFill>
          <a:blip r:embed="rId2"/>
          <a:stretch>
            <a:fillRect/>
          </a:stretch>
        </p:blipFill>
        <p:spPr>
          <a:xfrm>
            <a:off x="240317" y="3571007"/>
            <a:ext cx="5855683" cy="1828204"/>
          </a:xfrm>
        </p:spPr>
      </p:pic>
      <p:pic>
        <p:nvPicPr>
          <p:cNvPr id="7" name="Picture 6">
            <a:extLst>
              <a:ext uri="{FF2B5EF4-FFF2-40B4-BE49-F238E27FC236}">
                <a16:creationId xmlns:a16="http://schemas.microsoft.com/office/drawing/2014/main" id="{FCF38D3B-3624-A677-8F88-8141FF529BBA}"/>
              </a:ext>
            </a:extLst>
          </p:cNvPr>
          <p:cNvPicPr>
            <a:picLocks noChangeAspect="1"/>
          </p:cNvPicPr>
          <p:nvPr/>
        </p:nvPicPr>
        <p:blipFill>
          <a:blip r:embed="rId3"/>
          <a:stretch>
            <a:fillRect/>
          </a:stretch>
        </p:blipFill>
        <p:spPr>
          <a:xfrm>
            <a:off x="0" y="1795538"/>
            <a:ext cx="7772400" cy="1775469"/>
          </a:xfrm>
          <a:prstGeom prst="rect">
            <a:avLst/>
          </a:prstGeom>
        </p:spPr>
      </p:pic>
      <p:pic>
        <p:nvPicPr>
          <p:cNvPr id="9" name="Picture 8">
            <a:extLst>
              <a:ext uri="{FF2B5EF4-FFF2-40B4-BE49-F238E27FC236}">
                <a16:creationId xmlns:a16="http://schemas.microsoft.com/office/drawing/2014/main" id="{98BC564A-8261-65C3-4A3A-BD94A7177776}"/>
              </a:ext>
            </a:extLst>
          </p:cNvPr>
          <p:cNvPicPr>
            <a:picLocks noChangeAspect="1"/>
          </p:cNvPicPr>
          <p:nvPr/>
        </p:nvPicPr>
        <p:blipFill>
          <a:blip r:embed="rId4"/>
          <a:stretch>
            <a:fillRect/>
          </a:stretch>
        </p:blipFill>
        <p:spPr>
          <a:xfrm>
            <a:off x="0" y="5399211"/>
            <a:ext cx="7772400" cy="1307804"/>
          </a:xfrm>
          <a:prstGeom prst="rect">
            <a:avLst/>
          </a:prstGeom>
        </p:spPr>
      </p:pic>
      <p:pic>
        <p:nvPicPr>
          <p:cNvPr id="11" name="Picture 10">
            <a:extLst>
              <a:ext uri="{FF2B5EF4-FFF2-40B4-BE49-F238E27FC236}">
                <a16:creationId xmlns:a16="http://schemas.microsoft.com/office/drawing/2014/main" id="{EBF2F76A-D2C4-7E91-F453-7A072B6C581B}"/>
              </a:ext>
            </a:extLst>
          </p:cNvPr>
          <p:cNvPicPr>
            <a:picLocks noChangeAspect="1"/>
          </p:cNvPicPr>
          <p:nvPr/>
        </p:nvPicPr>
        <p:blipFill>
          <a:blip r:embed="rId5"/>
          <a:stretch>
            <a:fillRect/>
          </a:stretch>
        </p:blipFill>
        <p:spPr>
          <a:xfrm>
            <a:off x="451118" y="473368"/>
            <a:ext cx="4889232" cy="1100638"/>
          </a:xfrm>
          <a:prstGeom prst="rect">
            <a:avLst/>
          </a:prstGeom>
        </p:spPr>
      </p:pic>
    </p:spTree>
    <p:extLst>
      <p:ext uri="{BB962C8B-B14F-4D97-AF65-F5344CB8AC3E}">
        <p14:creationId xmlns:p14="http://schemas.microsoft.com/office/powerpoint/2010/main" val="2677664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1119</TotalTime>
  <Words>5127</Words>
  <Application>Microsoft Macintosh PowerPoint</Application>
  <PresentationFormat>Widescreen</PresentationFormat>
  <Paragraphs>209</Paragraphs>
  <Slides>26</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26</vt:i4>
      </vt:variant>
    </vt:vector>
  </HeadingPairs>
  <TitlesOfParts>
    <vt:vector size="40" baseType="lpstr">
      <vt:lpstr>-apple-system</vt:lpstr>
      <vt:lpstr>Arial Unicode MS</vt:lpstr>
      <vt:lpstr>DengXian</vt:lpstr>
      <vt:lpstr>Google Sans Flex</vt:lpstr>
      <vt:lpstr>Google Sans Text</vt:lpstr>
      <vt:lpstr>Arial</vt:lpstr>
      <vt:lpstr>Calibri</vt:lpstr>
      <vt:lpstr>Calibri Light</vt:lpstr>
      <vt:lpstr>Courier New</vt:lpstr>
      <vt:lpstr>Menlo</vt:lpstr>
      <vt:lpstr>Symbol</vt:lpstr>
      <vt:lpstr>Times New Roman</vt:lpstr>
      <vt:lpstr>Wingdings</vt:lpstr>
      <vt:lpstr>Office Theme</vt:lpstr>
      <vt:lpstr>SurRoL: An Open-source Reinforcement Learning Centered and dVRK Compatible Platform for Surgical Robot Learning</vt:lpstr>
      <vt:lpstr>PowerPoint Presentation</vt:lpstr>
      <vt:lpstr>PowerPoint Presentation</vt:lpstr>
      <vt:lpstr>为什么需要强化学习 </vt:lpstr>
      <vt:lpstr>强化学习是什么？ </vt:lpstr>
      <vt:lpstr>1）Assets</vt:lpstr>
      <vt:lpstr>2)Robots </vt:lpstr>
      <vt:lpstr>Arm</vt:lpstr>
      <vt:lpstr>3) Gym 仿真环境搭建</vt:lpstr>
      <vt:lpstr>4) gym/__init__.py (任务注册表) </vt:lpstr>
      <vt:lpstr>5) Tasks</vt:lpstr>
      <vt:lpstr>核心设计：</vt:lpstr>
      <vt:lpstr>数据生成</vt:lpstr>
      <vt:lpstr>PowerPoint Presentation</vt:lpstr>
      <vt:lpstr>6-8）核心：强化学习训练手术机器人 – 赋予智能体自主决策能力 </vt:lpstr>
      <vt:lpstr>PowerPoint Presentation</vt:lpstr>
      <vt:lpstr>PowerPoint Presentation</vt:lpstr>
      <vt:lpstr>PowerPoint Presentation</vt:lpstr>
      <vt:lpstr>PowerPoint Presentation</vt:lpstr>
      <vt:lpstr>9) 构建强化学习环境</vt:lpstr>
      <vt:lpstr>PowerPoint Presentation</vt:lpstr>
      <vt:lpstr>观测</vt:lpstr>
      <vt:lpstr>Sim-to-Real 差距的量化与评估指标</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SurRoL: An Open-source Reinforcement Learning Centered and dVRK Compatible Platform for Surgical Robot Learning</dc:title>
  <dc:creator>Mickaël LI</dc:creator>
  <cp:lastModifiedBy>Mickaël LI</cp:lastModifiedBy>
  <cp:revision>23</cp:revision>
  <dcterms:created xsi:type="dcterms:W3CDTF">2026-02-05T07:35:20Z</dcterms:created>
  <dcterms:modified xsi:type="dcterms:W3CDTF">2026-02-06T03:08:36Z</dcterms:modified>
</cp:coreProperties>
</file>